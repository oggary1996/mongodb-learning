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95" r:id="rId4"/>
    <p:sldId id="397" r:id="rId5"/>
    <p:sldId id="346" r:id="rId6"/>
    <p:sldId id="399" r:id="rId7"/>
    <p:sldId id="356" r:id="rId8"/>
    <p:sldId id="317" r:id="rId9"/>
    <p:sldId id="396" r:id="rId10"/>
    <p:sldId id="400" r:id="rId11"/>
    <p:sldId id="401" r:id="rId12"/>
    <p:sldId id="402" r:id="rId13"/>
    <p:sldId id="348" r:id="rId14"/>
    <p:sldId id="349" r:id="rId15"/>
    <p:sldId id="359" r:id="rId16"/>
    <p:sldId id="362" r:id="rId17"/>
    <p:sldId id="347" r:id="rId18"/>
    <p:sldId id="368" r:id="rId19"/>
    <p:sldId id="369" r:id="rId20"/>
    <p:sldId id="372" r:id="rId21"/>
    <p:sldId id="373" r:id="rId22"/>
    <p:sldId id="374" r:id="rId23"/>
    <p:sldId id="376" r:id="rId24"/>
    <p:sldId id="375" r:id="rId25"/>
    <p:sldId id="371" r:id="rId26"/>
    <p:sldId id="403" r:id="rId27"/>
    <p:sldId id="377" r:id="rId28"/>
    <p:sldId id="378" r:id="rId29"/>
    <p:sldId id="379" r:id="rId30"/>
    <p:sldId id="380" r:id="rId31"/>
    <p:sldId id="29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3521" autoAdjust="0"/>
  </p:normalViewPr>
  <p:slideViewPr>
    <p:cSldViewPr snapToGrid="0">
      <p:cViewPr varScale="1">
        <p:scale>
          <a:sx n="59" d="100"/>
          <a:sy n="59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5730B1-0E0F-4849-A198-3D0133AAE0B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F532904-F5B0-40BB-BC56-B1A5DF6A67E6}">
      <dgm:prSet/>
      <dgm:spPr/>
      <dgm:t>
        <a:bodyPr/>
        <a:lstStyle/>
        <a:p>
          <a:r>
            <a:rPr lang="en-US" dirty="0"/>
            <a:t>MongoDB import and export</a:t>
          </a:r>
        </a:p>
      </dgm:t>
    </dgm:pt>
    <dgm:pt modelId="{5FCF2829-BC06-48A4-8BC1-8D268150E952}" type="parTrans" cxnId="{828B0393-7930-4DB9-93F4-ED5D27B33694}">
      <dgm:prSet/>
      <dgm:spPr/>
      <dgm:t>
        <a:bodyPr/>
        <a:lstStyle/>
        <a:p>
          <a:endParaRPr lang="en-US"/>
        </a:p>
      </dgm:t>
    </dgm:pt>
    <dgm:pt modelId="{F9C4C16A-7EC9-4EF0-9D61-274647F528C8}" type="sibTrans" cxnId="{828B0393-7930-4DB9-93F4-ED5D27B33694}">
      <dgm:prSet/>
      <dgm:spPr/>
      <dgm:t>
        <a:bodyPr/>
        <a:lstStyle/>
        <a:p>
          <a:endParaRPr lang="en-US"/>
        </a:p>
      </dgm:t>
    </dgm:pt>
    <dgm:pt modelId="{45DF7CDB-ED89-44D7-B7CB-4A35B5DF172C}">
      <dgm:prSet/>
      <dgm:spPr/>
      <dgm:t>
        <a:bodyPr/>
        <a:lstStyle/>
        <a:p>
          <a:r>
            <a:rPr lang="en-US" dirty="0"/>
            <a:t>Conditional Queries in MongoDB</a:t>
          </a:r>
        </a:p>
      </dgm:t>
    </dgm:pt>
    <dgm:pt modelId="{D550DCAF-903B-4DFA-BB75-38DAB98B6FFD}" type="parTrans" cxnId="{14B7E541-EC90-4E7A-8038-64326D3639C2}">
      <dgm:prSet/>
      <dgm:spPr/>
      <dgm:t>
        <a:bodyPr/>
        <a:lstStyle/>
        <a:p>
          <a:endParaRPr lang="en-US"/>
        </a:p>
      </dgm:t>
    </dgm:pt>
    <dgm:pt modelId="{2AA5EA4F-6076-447D-841B-2E9756586D42}" type="sibTrans" cxnId="{14B7E541-EC90-4E7A-8038-64326D3639C2}">
      <dgm:prSet/>
      <dgm:spPr/>
      <dgm:t>
        <a:bodyPr/>
        <a:lstStyle/>
        <a:p>
          <a:endParaRPr lang="en-US"/>
        </a:p>
      </dgm:t>
    </dgm:pt>
    <dgm:pt modelId="{24F3BD09-D95C-4012-BC6A-BE066B9B64B7}">
      <dgm:prSet/>
      <dgm:spPr/>
      <dgm:t>
        <a:bodyPr/>
        <a:lstStyle/>
        <a:p>
          <a:r>
            <a:rPr lang="en-US" dirty="0"/>
            <a:t>Updating MongoDB documents</a:t>
          </a:r>
        </a:p>
      </dgm:t>
    </dgm:pt>
    <dgm:pt modelId="{3C72B225-65CC-433D-AF98-58CCE2BFB53D}" type="parTrans" cxnId="{BDFA6114-DC74-4F97-BBDD-9FDBC410E9B3}">
      <dgm:prSet/>
      <dgm:spPr/>
      <dgm:t>
        <a:bodyPr/>
        <a:lstStyle/>
        <a:p>
          <a:endParaRPr lang="en-US"/>
        </a:p>
      </dgm:t>
    </dgm:pt>
    <dgm:pt modelId="{B58D2D20-CEC0-4D2E-9FA7-97D57EC89FC2}" type="sibTrans" cxnId="{BDFA6114-DC74-4F97-BBDD-9FDBC410E9B3}">
      <dgm:prSet/>
      <dgm:spPr/>
      <dgm:t>
        <a:bodyPr/>
        <a:lstStyle/>
        <a:p>
          <a:endParaRPr lang="en-US"/>
        </a:p>
      </dgm:t>
    </dgm:pt>
    <dgm:pt modelId="{39964926-4D3A-46DC-A3B3-D209CBB53880}">
      <dgm:prSet/>
      <dgm:spPr/>
      <dgm:t>
        <a:bodyPr/>
        <a:lstStyle/>
        <a:p>
          <a:r>
            <a:rPr lang="en-US" dirty="0"/>
            <a:t>Practice the learned operations with the imported dataset</a:t>
          </a:r>
        </a:p>
      </dgm:t>
    </dgm:pt>
    <dgm:pt modelId="{E5834343-70D4-4D1B-B408-6082B511ECFA}" type="parTrans" cxnId="{3D5EF595-8968-4FC1-B071-28B877F802D4}">
      <dgm:prSet/>
      <dgm:spPr/>
      <dgm:t>
        <a:bodyPr/>
        <a:lstStyle/>
        <a:p>
          <a:endParaRPr lang="en-US"/>
        </a:p>
      </dgm:t>
    </dgm:pt>
    <dgm:pt modelId="{4839BB32-E639-4816-B45F-F77632F4A4EE}" type="sibTrans" cxnId="{3D5EF595-8968-4FC1-B071-28B877F802D4}">
      <dgm:prSet/>
      <dgm:spPr/>
      <dgm:t>
        <a:bodyPr/>
        <a:lstStyle/>
        <a:p>
          <a:endParaRPr lang="en-US"/>
        </a:p>
      </dgm:t>
    </dgm:pt>
    <dgm:pt modelId="{5E44F53A-464B-4D70-9223-AAE7D275A857}">
      <dgm:prSet/>
      <dgm:spPr/>
      <dgm:t>
        <a:bodyPr/>
        <a:lstStyle/>
        <a:p>
          <a:r>
            <a:rPr lang="en-US" dirty="0"/>
            <a:t>MongoDB Use Cases</a:t>
          </a:r>
        </a:p>
      </dgm:t>
    </dgm:pt>
    <dgm:pt modelId="{19507766-FB82-423D-8833-53AFA1CD53D1}" type="parTrans" cxnId="{FF612CC1-CCAF-45FC-9AAD-565AADE594FD}">
      <dgm:prSet/>
      <dgm:spPr/>
      <dgm:t>
        <a:bodyPr/>
        <a:lstStyle/>
        <a:p>
          <a:endParaRPr lang="en-US"/>
        </a:p>
      </dgm:t>
    </dgm:pt>
    <dgm:pt modelId="{A5075DF5-1678-4563-B06D-47D5D5279074}" type="sibTrans" cxnId="{FF612CC1-CCAF-45FC-9AAD-565AADE594FD}">
      <dgm:prSet/>
      <dgm:spPr/>
      <dgm:t>
        <a:bodyPr/>
        <a:lstStyle/>
        <a:p>
          <a:endParaRPr lang="en-US"/>
        </a:p>
      </dgm:t>
    </dgm:pt>
    <dgm:pt modelId="{1A436EA5-BE41-48C3-BF2A-8242EEF94B2F}" type="pres">
      <dgm:prSet presAssocID="{005730B1-0E0F-4849-A198-3D0133AAE0B3}" presName="linear" presStyleCnt="0">
        <dgm:presLayoutVars>
          <dgm:animLvl val="lvl"/>
          <dgm:resizeHandles val="exact"/>
        </dgm:presLayoutVars>
      </dgm:prSet>
      <dgm:spPr/>
    </dgm:pt>
    <dgm:pt modelId="{AB78763D-5550-4221-8D6F-7855C660CCED}" type="pres">
      <dgm:prSet presAssocID="{5E44F53A-464B-4D70-9223-AAE7D275A8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BB52D8-6DFC-42A7-A9B3-B0DA1AF482EC}" type="pres">
      <dgm:prSet presAssocID="{A5075DF5-1678-4563-B06D-47D5D5279074}" presName="spacer" presStyleCnt="0"/>
      <dgm:spPr/>
    </dgm:pt>
    <dgm:pt modelId="{5C32C885-E74F-4B9E-8FEB-BCDC5F1F9051}" type="pres">
      <dgm:prSet presAssocID="{9F532904-F5B0-40BB-BC56-B1A5DF6A67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FD9C0F6-FA5B-47A8-ADA3-C98CDCCB81E7}" type="pres">
      <dgm:prSet presAssocID="{F9C4C16A-7EC9-4EF0-9D61-274647F528C8}" presName="spacer" presStyleCnt="0"/>
      <dgm:spPr/>
    </dgm:pt>
    <dgm:pt modelId="{9D900A03-4232-46E7-9DAE-2B897B7F5109}" type="pres">
      <dgm:prSet presAssocID="{45DF7CDB-ED89-44D7-B7CB-4A35B5DF17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99B9D30-184E-4DB2-A247-AE409C00BA11}" type="pres">
      <dgm:prSet presAssocID="{2AA5EA4F-6076-447D-841B-2E9756586D42}" presName="spacer" presStyleCnt="0"/>
      <dgm:spPr/>
    </dgm:pt>
    <dgm:pt modelId="{4510DB51-F6C9-49A1-978E-914FBD57625D}" type="pres">
      <dgm:prSet presAssocID="{24F3BD09-D95C-4012-BC6A-BE066B9B64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993847-DA4C-420A-9B5D-C7B8C380349E}" type="pres">
      <dgm:prSet presAssocID="{B58D2D20-CEC0-4D2E-9FA7-97D57EC89FC2}" presName="spacer" presStyleCnt="0"/>
      <dgm:spPr/>
    </dgm:pt>
    <dgm:pt modelId="{0FE965D9-0948-4371-A2A8-D6D6CD6F7C0C}" type="pres">
      <dgm:prSet presAssocID="{39964926-4D3A-46DC-A3B3-D209CBB5388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330160C-1F79-4159-B6D0-0C392DDA92C5}" type="presOf" srcId="{9F532904-F5B0-40BB-BC56-B1A5DF6A67E6}" destId="{5C32C885-E74F-4B9E-8FEB-BCDC5F1F9051}" srcOrd="0" destOrd="0" presId="urn:microsoft.com/office/officeart/2005/8/layout/vList2"/>
    <dgm:cxn modelId="{BDFA6114-DC74-4F97-BBDD-9FDBC410E9B3}" srcId="{005730B1-0E0F-4849-A198-3D0133AAE0B3}" destId="{24F3BD09-D95C-4012-BC6A-BE066B9B64B7}" srcOrd="3" destOrd="0" parTransId="{3C72B225-65CC-433D-AF98-58CCE2BFB53D}" sibTransId="{B58D2D20-CEC0-4D2E-9FA7-97D57EC89FC2}"/>
    <dgm:cxn modelId="{2AD12E1E-AB64-44C2-9C96-C82FE55AB7A8}" type="presOf" srcId="{005730B1-0E0F-4849-A198-3D0133AAE0B3}" destId="{1A436EA5-BE41-48C3-BF2A-8242EEF94B2F}" srcOrd="0" destOrd="0" presId="urn:microsoft.com/office/officeart/2005/8/layout/vList2"/>
    <dgm:cxn modelId="{77B26F22-E75F-4D4A-B9EE-8EE474FEA002}" type="presOf" srcId="{5E44F53A-464B-4D70-9223-AAE7D275A857}" destId="{AB78763D-5550-4221-8D6F-7855C660CCED}" srcOrd="0" destOrd="0" presId="urn:microsoft.com/office/officeart/2005/8/layout/vList2"/>
    <dgm:cxn modelId="{EBF56F2B-1A34-4166-BCE1-0DF7C2A06511}" type="presOf" srcId="{39964926-4D3A-46DC-A3B3-D209CBB53880}" destId="{0FE965D9-0948-4371-A2A8-D6D6CD6F7C0C}" srcOrd="0" destOrd="0" presId="urn:microsoft.com/office/officeart/2005/8/layout/vList2"/>
    <dgm:cxn modelId="{0A0A3935-395D-4A0F-9C45-F72C2C4BF1B2}" type="presOf" srcId="{24F3BD09-D95C-4012-BC6A-BE066B9B64B7}" destId="{4510DB51-F6C9-49A1-978E-914FBD57625D}" srcOrd="0" destOrd="0" presId="urn:microsoft.com/office/officeart/2005/8/layout/vList2"/>
    <dgm:cxn modelId="{14B7E541-EC90-4E7A-8038-64326D3639C2}" srcId="{005730B1-0E0F-4849-A198-3D0133AAE0B3}" destId="{45DF7CDB-ED89-44D7-B7CB-4A35B5DF172C}" srcOrd="2" destOrd="0" parTransId="{D550DCAF-903B-4DFA-BB75-38DAB98B6FFD}" sibTransId="{2AA5EA4F-6076-447D-841B-2E9756586D42}"/>
    <dgm:cxn modelId="{828B0393-7930-4DB9-93F4-ED5D27B33694}" srcId="{005730B1-0E0F-4849-A198-3D0133AAE0B3}" destId="{9F532904-F5B0-40BB-BC56-B1A5DF6A67E6}" srcOrd="1" destOrd="0" parTransId="{5FCF2829-BC06-48A4-8BC1-8D268150E952}" sibTransId="{F9C4C16A-7EC9-4EF0-9D61-274647F528C8}"/>
    <dgm:cxn modelId="{3D5EF595-8968-4FC1-B071-28B877F802D4}" srcId="{005730B1-0E0F-4849-A198-3D0133AAE0B3}" destId="{39964926-4D3A-46DC-A3B3-D209CBB53880}" srcOrd="4" destOrd="0" parTransId="{E5834343-70D4-4D1B-B408-6082B511ECFA}" sibTransId="{4839BB32-E639-4816-B45F-F77632F4A4EE}"/>
    <dgm:cxn modelId="{FF612CC1-CCAF-45FC-9AAD-565AADE594FD}" srcId="{005730B1-0E0F-4849-A198-3D0133AAE0B3}" destId="{5E44F53A-464B-4D70-9223-AAE7D275A857}" srcOrd="0" destOrd="0" parTransId="{19507766-FB82-423D-8833-53AFA1CD53D1}" sibTransId="{A5075DF5-1678-4563-B06D-47D5D5279074}"/>
    <dgm:cxn modelId="{A5C305EB-7E2F-4007-B0F7-217DEF4F7E6D}" type="presOf" srcId="{45DF7CDB-ED89-44D7-B7CB-4A35B5DF172C}" destId="{9D900A03-4232-46E7-9DAE-2B897B7F5109}" srcOrd="0" destOrd="0" presId="urn:microsoft.com/office/officeart/2005/8/layout/vList2"/>
    <dgm:cxn modelId="{1673A089-AD9D-4A55-83B5-8FE67A270900}" type="presParOf" srcId="{1A436EA5-BE41-48C3-BF2A-8242EEF94B2F}" destId="{AB78763D-5550-4221-8D6F-7855C660CCED}" srcOrd="0" destOrd="0" presId="urn:microsoft.com/office/officeart/2005/8/layout/vList2"/>
    <dgm:cxn modelId="{EDA33423-A7C2-4927-85D7-AE4BC2A6C1BF}" type="presParOf" srcId="{1A436EA5-BE41-48C3-BF2A-8242EEF94B2F}" destId="{CEBB52D8-6DFC-42A7-A9B3-B0DA1AF482EC}" srcOrd="1" destOrd="0" presId="urn:microsoft.com/office/officeart/2005/8/layout/vList2"/>
    <dgm:cxn modelId="{EF88189D-07B2-42F8-895A-DB817CEE5725}" type="presParOf" srcId="{1A436EA5-BE41-48C3-BF2A-8242EEF94B2F}" destId="{5C32C885-E74F-4B9E-8FEB-BCDC5F1F9051}" srcOrd="2" destOrd="0" presId="urn:microsoft.com/office/officeart/2005/8/layout/vList2"/>
    <dgm:cxn modelId="{64B4302C-F24D-4B24-997E-2D155042A1DD}" type="presParOf" srcId="{1A436EA5-BE41-48C3-BF2A-8242EEF94B2F}" destId="{5FD9C0F6-FA5B-47A8-ADA3-C98CDCCB81E7}" srcOrd="3" destOrd="0" presId="urn:microsoft.com/office/officeart/2005/8/layout/vList2"/>
    <dgm:cxn modelId="{E9568C04-0DF0-46AD-97CB-81EBE1BD131F}" type="presParOf" srcId="{1A436EA5-BE41-48C3-BF2A-8242EEF94B2F}" destId="{9D900A03-4232-46E7-9DAE-2B897B7F5109}" srcOrd="4" destOrd="0" presId="urn:microsoft.com/office/officeart/2005/8/layout/vList2"/>
    <dgm:cxn modelId="{60402B04-EF4A-4D64-99CB-2642C720CF23}" type="presParOf" srcId="{1A436EA5-BE41-48C3-BF2A-8242EEF94B2F}" destId="{599B9D30-184E-4DB2-A247-AE409C00BA11}" srcOrd="5" destOrd="0" presId="urn:microsoft.com/office/officeart/2005/8/layout/vList2"/>
    <dgm:cxn modelId="{D166C0BB-D255-45CE-BC57-6AA12C97EDA5}" type="presParOf" srcId="{1A436EA5-BE41-48C3-BF2A-8242EEF94B2F}" destId="{4510DB51-F6C9-49A1-978E-914FBD57625D}" srcOrd="6" destOrd="0" presId="urn:microsoft.com/office/officeart/2005/8/layout/vList2"/>
    <dgm:cxn modelId="{515D544F-4CAB-42F6-A627-BE7B5B0A3D23}" type="presParOf" srcId="{1A436EA5-BE41-48C3-BF2A-8242EEF94B2F}" destId="{67993847-DA4C-420A-9B5D-C7B8C380349E}" srcOrd="7" destOrd="0" presId="urn:microsoft.com/office/officeart/2005/8/layout/vList2"/>
    <dgm:cxn modelId="{6F0FF794-D43E-43C3-920C-934C71CBCF3F}" type="presParOf" srcId="{1A436EA5-BE41-48C3-BF2A-8242EEF94B2F}" destId="{0FE965D9-0948-4371-A2A8-D6D6CD6F7C0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8763D-5550-4221-8D6F-7855C660CCED}">
      <dsp:nvSpPr>
        <dsp:cNvPr id="0" name=""/>
        <dsp:cNvSpPr/>
      </dsp:nvSpPr>
      <dsp:spPr>
        <a:xfrm>
          <a:off x="0" y="100137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MongoDB Use Cases</a:t>
          </a:r>
        </a:p>
      </dsp:txBody>
      <dsp:txXfrm>
        <a:off x="48481" y="148618"/>
        <a:ext cx="6569871" cy="896166"/>
      </dsp:txXfrm>
    </dsp:sp>
    <dsp:sp modelId="{5C32C885-E74F-4B9E-8FEB-BCDC5F1F9051}">
      <dsp:nvSpPr>
        <dsp:cNvPr id="0" name=""/>
        <dsp:cNvSpPr/>
      </dsp:nvSpPr>
      <dsp:spPr>
        <a:xfrm>
          <a:off x="0" y="1165266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MongoDB import and export</a:t>
          </a:r>
        </a:p>
      </dsp:txBody>
      <dsp:txXfrm>
        <a:off x="48481" y="1213747"/>
        <a:ext cx="6569871" cy="896166"/>
      </dsp:txXfrm>
    </dsp:sp>
    <dsp:sp modelId="{9D900A03-4232-46E7-9DAE-2B897B7F5109}">
      <dsp:nvSpPr>
        <dsp:cNvPr id="0" name=""/>
        <dsp:cNvSpPr/>
      </dsp:nvSpPr>
      <dsp:spPr>
        <a:xfrm>
          <a:off x="0" y="2230395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Conditional Queries in MongoDB</a:t>
          </a:r>
        </a:p>
      </dsp:txBody>
      <dsp:txXfrm>
        <a:off x="48481" y="2278876"/>
        <a:ext cx="6569871" cy="896166"/>
      </dsp:txXfrm>
    </dsp:sp>
    <dsp:sp modelId="{4510DB51-F6C9-49A1-978E-914FBD57625D}">
      <dsp:nvSpPr>
        <dsp:cNvPr id="0" name=""/>
        <dsp:cNvSpPr/>
      </dsp:nvSpPr>
      <dsp:spPr>
        <a:xfrm>
          <a:off x="0" y="3295524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Updating MongoDB documents</a:t>
          </a:r>
        </a:p>
      </dsp:txBody>
      <dsp:txXfrm>
        <a:off x="48481" y="3344005"/>
        <a:ext cx="6569871" cy="896166"/>
      </dsp:txXfrm>
    </dsp:sp>
    <dsp:sp modelId="{0FE965D9-0948-4371-A2A8-D6D6CD6F7C0C}">
      <dsp:nvSpPr>
        <dsp:cNvPr id="0" name=""/>
        <dsp:cNvSpPr/>
      </dsp:nvSpPr>
      <dsp:spPr>
        <a:xfrm>
          <a:off x="0" y="4360653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Practice the learned operations with the imported dataset</a:t>
          </a:r>
        </a:p>
      </dsp:txBody>
      <dsp:txXfrm>
        <a:off x="48481" y="4409134"/>
        <a:ext cx="6569871" cy="896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CE1B7-8377-40AA-BBB0-A986963DEAD8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4C1A-C5ED-4FC5-9BBC-547DF9813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3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8C4C2"/>
                </a:solidFill>
                <a:effectLst/>
                <a:latin typeface="Euclid Circular A"/>
              </a:rPr>
              <a:t>How can you use MongoDB? From business-wide strategic initiatives to your most important applications, we can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67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regular expression (shortened as regex or </a:t>
            </a:r>
            <a:r>
              <a:rPr lang="en-US" dirty="0" err="1"/>
              <a:t>regexp</a:t>
            </a:r>
            <a:r>
              <a:rPr lang="en-US" dirty="0"/>
              <a:t>;) is a sequence of characters that specifies a search pattern in the text. 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88"/>
                </a:solidFill>
                <a:effectLst/>
              </a:rPr>
              <a:t>typeof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db</a:t>
            </a:r>
            <a:r>
              <a:rPr lang="en-US" dirty="0" err="1">
                <a:solidFill>
                  <a:srgbClr val="666600"/>
                </a:solidFill>
                <a:effectLst/>
              </a:rPr>
              <a:t>.</a:t>
            </a:r>
            <a:r>
              <a:rPr lang="en-US" dirty="0" err="1">
                <a:solidFill>
                  <a:srgbClr val="000000"/>
                </a:solidFill>
                <a:effectLst/>
              </a:rPr>
              <a:t>yourCollectionName</a:t>
            </a:r>
            <a:r>
              <a:rPr lang="en-US" dirty="0" err="1">
                <a:solidFill>
                  <a:srgbClr val="666600"/>
                </a:solidFill>
                <a:effectLst/>
              </a:rPr>
              <a:t>.</a:t>
            </a:r>
            <a:r>
              <a:rPr lang="en-US" dirty="0" err="1">
                <a:solidFill>
                  <a:srgbClr val="000000"/>
                </a:solidFill>
                <a:effectLst/>
              </a:rPr>
              <a:t>findOne</a:t>
            </a:r>
            <a:r>
              <a:rPr lang="en-US" dirty="0">
                <a:solidFill>
                  <a:srgbClr val="666600"/>
                </a:solidFill>
                <a:effectLst/>
              </a:rPr>
              <a:t>().</a:t>
            </a:r>
            <a:r>
              <a:rPr lang="en-US" dirty="0" err="1">
                <a:solidFill>
                  <a:srgbClr val="000000"/>
                </a:solidFill>
                <a:effectLst/>
              </a:rPr>
              <a:t>yourFieldName</a:t>
            </a:r>
            <a:r>
              <a:rPr lang="en-US" dirty="0">
                <a:solidFill>
                  <a:srgbClr val="666600"/>
                </a:solidFill>
                <a:effectLst/>
              </a:rPr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24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JSON object holds key/value pair. Each key is represented as a string in JSON and value can be of any type. The keys and values are separated by colon. Each key/value pair is separated by comma.</a:t>
            </a:r>
          </a:p>
          <a:p>
            <a:pPr algn="just"/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The curly brace </a:t>
            </a:r>
            <a:r>
              <a:rPr lang="en-US" sz="1200" b="1" i="0" dirty="0">
                <a:solidFill>
                  <a:srgbClr val="333333"/>
                </a:solidFill>
                <a:effectLst/>
                <a:latin typeface="inter-bold"/>
              </a:rPr>
              <a:t>{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 represents JSON object.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accent2"/>
                </a:solidFill>
              </a:rPr>
              <a:t>mongoexport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--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uri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"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mongodb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://abu:pass123@localhost:27017/?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authMechanism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=SCRAM-SHA-256&amp;authSource=admin"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0000"/>
                </a:solidFill>
              </a:rPr>
              <a:t>--</a:t>
            </a:r>
            <a:r>
              <a:rPr lang="en-US" sz="1200" dirty="0" err="1">
                <a:solidFill>
                  <a:srgbClr val="FF0000"/>
                </a:solidFill>
              </a:rPr>
              <a:t>db</a:t>
            </a:r>
            <a:r>
              <a:rPr lang="en-US" sz="1200" dirty="0">
                <a:solidFill>
                  <a:srgbClr val="FF0000"/>
                </a:solidFill>
              </a:rPr>
              <a:t>=</a:t>
            </a:r>
            <a:r>
              <a:rPr lang="en-US" sz="1200" dirty="0" err="1">
                <a:solidFill>
                  <a:srgbClr val="FF0000"/>
                </a:solidFill>
              </a:rPr>
              <a:t>mydatabase</a:t>
            </a:r>
            <a:r>
              <a:rPr lang="en-US" sz="1200" dirty="0">
                <a:solidFill>
                  <a:srgbClr val="FF0000"/>
                </a:solidFill>
              </a:rPr>
              <a:t> --collection=employees</a:t>
            </a:r>
            <a:r>
              <a:rPr lang="en-US" sz="1200" dirty="0"/>
              <a:t> –out=‘\users\</a:t>
            </a:r>
            <a:r>
              <a:rPr lang="en-US" sz="1200" dirty="0" err="1"/>
              <a:t>guo</a:t>
            </a:r>
            <a:r>
              <a:rPr lang="en-US" sz="1200" dirty="0"/>
              <a:t>\documents\test1.json’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89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JSON object holds key/value pair. Each key is represented as a string in JSON and value can be of any type. The keys and values are separated by colon. Each key/value pair is separated by comma.</a:t>
            </a:r>
          </a:p>
          <a:p>
            <a:pPr algn="just"/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The curly brace </a:t>
            </a:r>
            <a:r>
              <a:rPr lang="en-US" sz="1200" b="1" i="0" dirty="0">
                <a:solidFill>
                  <a:srgbClr val="333333"/>
                </a:solidFill>
                <a:effectLst/>
                <a:latin typeface="inter-bold"/>
              </a:rPr>
              <a:t>{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inter-regular"/>
              </a:rPr>
              <a:t> represents JSON object.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82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6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8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50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66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75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35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29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01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8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7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14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22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02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61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51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05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24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29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087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79A38-E0FA-6B40-BF6D-63F0BE10BA3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E0AF-114E-E06F-E36E-CF3CE89CC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712F6-5074-8AA0-E657-7E9EC571E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AB86D-C131-2FEE-8CB7-09A6EB4D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9768-CFE0-96B0-603B-A602B02C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947A8-455C-2D44-42C2-ECC22F67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3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EF2B-FDE6-5999-793F-05096C5B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666A-B94C-A4D7-5BBB-43CB65309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91BFC-2F48-3BF0-E046-F0B6F4D2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B7EF-FEC1-B038-A2E7-55EABCC1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865B7-F5B5-0843-46E4-DE4F5966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1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D4C7-451C-875E-7D44-92632E9A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2E75F-2CDE-2DA5-65E6-AF31CAD5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E260C-2312-20DF-DC70-66540C43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ED61B-0628-9F31-4253-2B98BCD8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85FC1-A26E-8E84-A02C-1F5F727A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6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71E5-3560-D7C2-F9F7-6D7CD275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706B-7E13-F6FE-AB33-2D620A7D2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DE184-48BD-1E1F-2057-ACD474C35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5A235-2C78-5E6E-FA54-480D53CA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D54E0-F82E-1C27-49FC-A5BB761D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760AE-0C57-F848-B880-D4057309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8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0887-9304-17DE-5276-91747EC1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F7BC-B234-25EB-4667-71D4E51EF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C7247-ACA8-6DE4-B9F3-3EF79DAB1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D872-F94F-43AC-7F75-9E6EE6C89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071F4-EE28-5BFB-67ED-A7C1DC2AE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F846A-67F2-E645-2905-D66E09BE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4888D-B212-34A9-690C-8D94CEF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DD4B9F-0239-55FB-B7BA-6E874F3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4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E1D1-D819-72B4-3D2E-62FE08E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264AE-2CC6-2FC0-2BD8-376F86A5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074F9-71B3-3F0B-1D8B-74AD7FEA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72149-DE18-ACD2-08DE-5C62F45E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8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4C301-39DB-730D-0F20-F4BC9B7B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BC4E8-12E3-FC42-191B-68E5D10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94BA7-D0DB-D199-220A-05B1E423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7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224C-36BA-D45C-4542-5E2631CA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A4F7-CAFD-5107-762B-C40F38E3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6691B-36DA-99F5-7AB1-F3B155674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31319-5D3C-8E43-4697-7CB38F95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7889-B512-F897-18EE-4DFBFEA63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4E000-B88F-437F-F63F-578E719F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8F87-3C7E-A5F3-CC1F-52DFE2B4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C0CCEA-A223-4200-E0D4-F075542D2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6A74D-11F6-F08B-F448-B89E9DD97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3C436-389D-8C4E-A0FA-FB374961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2A07C-93E0-3719-AEF5-59B94A48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2C634-6512-128C-A9AB-0D23679D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4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A69F-0EE8-EBBD-5FAF-86D7567D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A3FEC-A95B-8F04-CCD2-1EA90EB5C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5DB0B-39D2-07CA-F3DB-306D1982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E0B37-97D6-87AB-3713-409EAE9B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00B2-50D4-BBA6-AC08-BEBB1B5C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42160-771E-BAC8-9DEF-191FE37DC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93716-58F6-E0D0-4ABC-3AF6544A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65363-CF50-E04D-9FE0-8DC352BB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E0EE-D3DC-8FE6-1229-9AFFD566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2B93-63A5-95AA-FD9A-F07D30ED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RCL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D146486-9AE8-F44B-ABFD-DA43CD57D6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3218" y="171450"/>
            <a:ext cx="11495882" cy="830997"/>
          </a:xfrm>
          <a:ln>
            <a:solidFill>
              <a:srgbClr val="F8C302"/>
            </a:solidFill>
          </a:ln>
        </p:spPr>
        <p:txBody>
          <a:bodyPr/>
          <a:lstStyle>
            <a:lvl1pPr marL="0" indent="0">
              <a:buNone/>
              <a:defRPr sz="4050" b="1" i="0">
                <a:solidFill>
                  <a:srgbClr val="00719D"/>
                </a:solidFill>
                <a:latin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1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F013A53-0F5C-904F-87FE-FF524EBDB5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2678" y="1495426"/>
            <a:ext cx="7572026" cy="761747"/>
          </a:xfrm>
        </p:spPr>
        <p:txBody>
          <a:bodyPr/>
          <a:lstStyle>
            <a:lvl1pPr>
              <a:defRPr>
                <a:solidFill>
                  <a:srgbClr val="00719D"/>
                </a:solidFill>
              </a:defRPr>
            </a:lvl1pPr>
            <a:lvl2pPr algn="l">
              <a:defRPr sz="27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Subhead</a:t>
            </a:r>
          </a:p>
          <a:p>
            <a:pPr lvl="2"/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9098EF2-3F3A-4D44-A388-429FA535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77075" y="2057400"/>
            <a:ext cx="7577629" cy="3693319"/>
          </a:xfrm>
        </p:spPr>
        <p:txBody>
          <a:bodyPr/>
          <a:lstStyle>
            <a:lvl1pPr marL="0" indent="0">
              <a:buFontTx/>
              <a:buNone/>
              <a:defRPr sz="3000" b="0">
                <a:solidFill>
                  <a:schemeClr val="tx1"/>
                </a:solidFill>
              </a:defRPr>
            </a:lvl1pPr>
            <a:lvl2pPr algn="l">
              <a:defRPr sz="27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BD65FF5-7812-8B44-B208-0D71BDCB22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3218" y="1257300"/>
            <a:ext cx="3548063" cy="360045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bg object 20">
            <a:extLst>
              <a:ext uri="{FF2B5EF4-FFF2-40B4-BE49-F238E27FC236}">
                <a16:creationId xmlns:a16="http://schemas.microsoft.com/office/drawing/2014/main" id="{704E9FE6-EE91-5645-AF1B-D4A019758495}"/>
              </a:ext>
            </a:extLst>
          </p:cNvPr>
          <p:cNvSpPr/>
          <p:nvPr userDrawn="1"/>
        </p:nvSpPr>
        <p:spPr>
          <a:xfrm>
            <a:off x="342900" y="952500"/>
            <a:ext cx="11506200" cy="0"/>
          </a:xfrm>
          <a:custGeom>
            <a:avLst/>
            <a:gdLst/>
            <a:ahLst/>
            <a:cxnLst/>
            <a:rect l="l" t="t" r="r" b="b"/>
            <a:pathLst>
              <a:path w="15341600">
                <a:moveTo>
                  <a:pt x="0" y="0"/>
                </a:moveTo>
                <a:lnTo>
                  <a:pt x="15341600" y="0"/>
                </a:lnTo>
              </a:path>
            </a:pathLst>
          </a:custGeom>
          <a:ln w="25400">
            <a:solidFill>
              <a:srgbClr val="00719D"/>
            </a:solidFill>
          </a:ln>
        </p:spPr>
        <p:txBody>
          <a:bodyPr wrap="square" lIns="0" tIns="0" rIns="0" bIns="0" rtlCol="0"/>
          <a:lstStyle/>
          <a:p>
            <a:endParaRPr sz="1350" dirty="0">
              <a:highlight>
                <a:srgbClr val="00719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539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E0B3-B3E6-26E9-5FA1-3931FC3B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BB44-0F67-9916-ED9B-B55C3431F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4730-64E1-FC6A-8947-5B2CABFB2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B6344-2996-4DA8-B7C5-7C73FE1FA299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8BFFB-CA03-3F4D-B4FC-D973042CC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1E2E2-0EA6-6C43-6A37-29249F596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6D52-7D40-40BC-BA24-8D09E51A1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4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use-cas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operator/query/regex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BB56D-47FA-AD80-7EDF-60913484D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CDBM603 - Enterprise Data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41C77-F142-AE0D-6ADF-66FA642CC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Week 10 Lecture</a:t>
            </a:r>
          </a:p>
          <a:p>
            <a:pPr algn="l"/>
            <a:r>
              <a:rPr lang="en-US" dirty="0"/>
              <a:t>Instructor: Abu Hena Al Muktadir</a:t>
            </a:r>
          </a:p>
          <a:p>
            <a:pPr algn="l"/>
            <a:r>
              <a:rPr lang="en-US" dirty="0"/>
              <a:t>Date: March 7, 2023</a:t>
            </a:r>
          </a:p>
        </p:txBody>
      </p:sp>
    </p:spTree>
    <p:extLst>
      <p:ext uri="{BB962C8B-B14F-4D97-AF65-F5344CB8AC3E}">
        <p14:creationId xmlns:p14="http://schemas.microsoft.com/office/powerpoint/2010/main" val="313338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D8EAE-42A9-0C06-464C-F6FF8C65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Todays 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628DAD-2B64-4DAC-8A6C-A2F0850D1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5295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988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023" y="171450"/>
            <a:ext cx="11887199" cy="914401"/>
          </a:xfrm>
        </p:spPr>
        <p:txBody>
          <a:bodyPr>
            <a:normAutofit/>
          </a:bodyPr>
          <a:lstStyle/>
          <a:p>
            <a:pPr algn="ctr"/>
            <a:r>
              <a:rPr lang="en-US" sz="3300" dirty="0"/>
              <a:t>MongoDB Use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52E9C-DFC2-9083-034D-381059711E48}"/>
              </a:ext>
            </a:extLst>
          </p:cNvPr>
          <p:cNvSpPr txBox="1"/>
          <p:nvPr/>
        </p:nvSpPr>
        <p:spPr>
          <a:xfrm>
            <a:off x="3262942" y="644162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Image source: https://www.mongodb.com/use-cases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0FE984-7148-A340-9003-56ADEFA07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402" y="1085851"/>
            <a:ext cx="6356440" cy="533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023" y="171450"/>
            <a:ext cx="11887199" cy="914401"/>
          </a:xfrm>
        </p:spPr>
        <p:txBody>
          <a:bodyPr>
            <a:normAutofit/>
          </a:bodyPr>
          <a:lstStyle/>
          <a:p>
            <a:pPr algn="ctr"/>
            <a:r>
              <a:rPr lang="en-US" sz="3300" dirty="0"/>
              <a:t>No </a:t>
            </a:r>
            <a:r>
              <a:rPr lang="en-US" sz="3300" dirty="0" err="1"/>
              <a:t>headerline</a:t>
            </a:r>
            <a:r>
              <a:rPr lang="en-US" sz="3300" dirty="0"/>
              <a:t>, specify data types while importing a CSV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085852"/>
            <a:ext cx="11501486" cy="1976526"/>
          </a:xfrm>
        </p:spPr>
        <p:txBody>
          <a:bodyPr>
            <a:norm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Ensure the first line of CSV contains data, not the column names.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Import the CA_DRU_proj_2010-2060.csv file using MongoDB shell and also using the GUI.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Find out which one is faster. GUI is considerably slower.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7D6FF7-14A8-89BD-0859-03B123DE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32" y="2885492"/>
            <a:ext cx="9435109" cy="309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1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46166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000" dirty="0" err="1"/>
              <a:t>MongoExport</a:t>
            </a:r>
            <a:r>
              <a:rPr lang="en-US" sz="3000" dirty="0"/>
              <a:t>: share data from MongoDB in JSON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314450"/>
            <a:ext cx="11399300" cy="2888581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mongoexport</a:t>
            </a:r>
            <a:r>
              <a:rPr lang="en-US" dirty="0">
                <a:solidFill>
                  <a:srgbClr val="FF0000"/>
                </a:solidFill>
              </a:rPr>
              <a:t> is a command-line tool that produces a JSON or CSV export of data stored in a MongoDB instance.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the field names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a query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In Windows 11, run the command from the Cygwin prompt if you want to include the query option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B326-C4DF-F37F-4296-EC09D2298C77}"/>
              </a:ext>
            </a:extLst>
          </p:cNvPr>
          <p:cNvSpPr txBox="1"/>
          <p:nvPr/>
        </p:nvSpPr>
        <p:spPr>
          <a:xfrm>
            <a:off x="690578" y="4385600"/>
            <a:ext cx="11061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mongoexport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uri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"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://abu:pass123@localhost:27017/?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authMechanism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=SCRAM-SHA-256&amp;authSource=admin" --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=edaw10 --collection=employees -q='{ "salary": { "$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gte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": 75000 } }' --fields=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first_name,last_name,salary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--out=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results.json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0CC4E-86C7-A3E2-E7E1-AFF80937A909}"/>
              </a:ext>
            </a:extLst>
          </p:cNvPr>
          <p:cNvSpPr txBox="1"/>
          <p:nvPr/>
        </p:nvSpPr>
        <p:spPr>
          <a:xfrm>
            <a:off x="978568" y="6125761"/>
            <a:ext cx="768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https://www.mongodb.com/docs/database-tools/mongoexport/</a:t>
            </a:r>
          </a:p>
        </p:txBody>
      </p:sp>
    </p:spTree>
    <p:extLst>
      <p:ext uri="{BB962C8B-B14F-4D97-AF65-F5344CB8AC3E}">
        <p14:creationId xmlns:p14="http://schemas.microsoft.com/office/powerpoint/2010/main" val="137643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46166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000" dirty="0" err="1"/>
              <a:t>MongoExport</a:t>
            </a:r>
            <a:r>
              <a:rPr lang="en-US" sz="3000" dirty="0"/>
              <a:t>: share data from MongoDB in CSV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314450"/>
            <a:ext cx="11399300" cy="35783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mongoexport</a:t>
            </a:r>
            <a:r>
              <a:rPr lang="en-US" dirty="0">
                <a:solidFill>
                  <a:srgbClr val="FF0000"/>
                </a:solidFill>
              </a:rPr>
              <a:t> is a command-line tool that produces a JSON or CSV export of data stored in a MongoDB instance.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the field names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a query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whether you want the header line or not 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Specify output file type is CSV</a:t>
            </a:r>
          </a:p>
          <a:p>
            <a:pPr marL="457200" indent="-45720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In Windows 11, run the command from the Cygwin prompt if you want to include the query option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B326-C4DF-F37F-4296-EC09D2298C77}"/>
              </a:ext>
            </a:extLst>
          </p:cNvPr>
          <p:cNvSpPr txBox="1"/>
          <p:nvPr/>
        </p:nvSpPr>
        <p:spPr>
          <a:xfrm>
            <a:off x="565030" y="5107494"/>
            <a:ext cx="11061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mongoexport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uri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"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://abu:pass123@localhost:27017/?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authMechanism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=SCRAM-SHA-256&amp;authSource=admin" --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=edaw10 --collection=employees -q='{ "salary": { "$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gte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": 75000 } }' --fields=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first_name,last_name,salary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noHeaderLine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--type=csv --out=results.csv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0CC4E-86C7-A3E2-E7E1-AFF80937A909}"/>
              </a:ext>
            </a:extLst>
          </p:cNvPr>
          <p:cNvSpPr txBox="1"/>
          <p:nvPr/>
        </p:nvSpPr>
        <p:spPr>
          <a:xfrm>
            <a:off x="978568" y="6125761"/>
            <a:ext cx="768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https://www.mongodb.com/docs/database-tools/mongoexport/</a:t>
            </a:r>
          </a:p>
        </p:txBody>
      </p:sp>
    </p:spTree>
    <p:extLst>
      <p:ext uri="{BB962C8B-B14F-4D97-AF65-F5344CB8AC3E}">
        <p14:creationId xmlns:p14="http://schemas.microsoft.com/office/powerpoint/2010/main" val="142718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46166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000" dirty="0"/>
              <a:t>Query Criteria: Conditionals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4B8A9-FA91-795E-74F5-D11588498D96}"/>
              </a:ext>
            </a:extLst>
          </p:cNvPr>
          <p:cNvSpPr txBox="1"/>
          <p:nvPr/>
        </p:nvSpPr>
        <p:spPr>
          <a:xfrm>
            <a:off x="581025" y="1195686"/>
            <a:ext cx="110299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"$</a:t>
            </a:r>
            <a:r>
              <a:rPr lang="en-US" sz="3000" dirty="0" err="1">
                <a:solidFill>
                  <a:srgbClr val="FF0000"/>
                </a:solidFill>
              </a:rPr>
              <a:t>lt</a:t>
            </a:r>
            <a:r>
              <a:rPr lang="en-US" sz="3000" dirty="0">
                <a:solidFill>
                  <a:srgbClr val="FF0000"/>
                </a:solidFill>
              </a:rPr>
              <a:t>", "$</a:t>
            </a:r>
            <a:r>
              <a:rPr lang="en-US" sz="3000" dirty="0" err="1">
                <a:solidFill>
                  <a:srgbClr val="FF0000"/>
                </a:solidFill>
              </a:rPr>
              <a:t>lte</a:t>
            </a:r>
            <a:r>
              <a:rPr lang="en-US" sz="3000" dirty="0">
                <a:solidFill>
                  <a:srgbClr val="FF0000"/>
                </a:solidFill>
              </a:rPr>
              <a:t>", "$</a:t>
            </a:r>
            <a:r>
              <a:rPr lang="en-US" sz="3000" dirty="0" err="1">
                <a:solidFill>
                  <a:srgbClr val="FF0000"/>
                </a:solidFill>
              </a:rPr>
              <a:t>gt</a:t>
            </a:r>
            <a:r>
              <a:rPr lang="en-US" sz="3000" dirty="0">
                <a:solidFill>
                  <a:srgbClr val="FF0000"/>
                </a:solidFill>
              </a:rPr>
              <a:t>", and "$</a:t>
            </a:r>
            <a:r>
              <a:rPr lang="en-US" sz="3000" dirty="0" err="1">
                <a:solidFill>
                  <a:srgbClr val="FF0000"/>
                </a:solidFill>
              </a:rPr>
              <a:t>gte</a:t>
            </a:r>
            <a:r>
              <a:rPr lang="en-US" sz="3000" dirty="0">
                <a:solidFill>
                  <a:srgbClr val="FF0000"/>
                </a:solidFill>
              </a:rPr>
              <a:t>" are all comparison operators, corresponding to &lt;, &lt;=, &gt;, and &gt;=, respectively.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000" dirty="0"/>
              <a:t>They can be combined to look for a range of values.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FF0000"/>
                </a:solidFill>
              </a:rPr>
              <a:t>db.employees.find</a:t>
            </a:r>
            <a:r>
              <a:rPr lang="en-US" sz="3000" dirty="0">
                <a:solidFill>
                  <a:srgbClr val="FF0000"/>
                </a:solidFill>
              </a:rPr>
              <a:t>({"age":{"$gte":30,"$lte":40}})</a:t>
            </a:r>
          </a:p>
          <a:p>
            <a:pPr marL="885825" lvl="1" indent="-428625">
              <a:buFont typeface="Arial" panose="020B0604020202020204" pitchFamily="34" charset="0"/>
              <a:buChar char="•"/>
            </a:pPr>
            <a:r>
              <a:rPr lang="en-US" sz="3000" dirty="0"/>
              <a:t>This would find all documents where the "age" field was greater than or equal to 30 AND less than or equal to 40.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000" dirty="0"/>
              <a:t>These types of range queries are often useful for dates. </a:t>
            </a:r>
          </a:p>
          <a:p>
            <a:pPr marL="885825" lvl="1" indent="-428625">
              <a:buFont typeface="Arial" panose="020B0604020202020204" pitchFamily="34" charset="0"/>
              <a:buChar char="•"/>
            </a:pPr>
            <a:r>
              <a:rPr lang="en-US" sz="3000" dirty="0"/>
              <a:t>For example, to find people who registered before January 1, 2007, we can do this:</a:t>
            </a:r>
          </a:p>
          <a:p>
            <a:pPr marL="1343025" lvl="2" indent="-428625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start = new Date("01/01/2007")</a:t>
            </a:r>
          </a:p>
          <a:p>
            <a:pPr marL="1343025" lvl="2" indent="-428625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FF0000"/>
                </a:solidFill>
              </a:rPr>
              <a:t>db.users.find</a:t>
            </a:r>
            <a:r>
              <a:rPr lang="en-US" sz="3000" dirty="0">
                <a:solidFill>
                  <a:srgbClr val="FF0000"/>
                </a:solidFill>
              </a:rPr>
              <a:t>({"registered" : {"$</a:t>
            </a:r>
            <a:r>
              <a:rPr lang="en-US" sz="3000" dirty="0" err="1">
                <a:solidFill>
                  <a:srgbClr val="FF0000"/>
                </a:solidFill>
              </a:rPr>
              <a:t>lt</a:t>
            </a:r>
            <a:r>
              <a:rPr lang="en-US" sz="3000" dirty="0">
                <a:solidFill>
                  <a:srgbClr val="FF0000"/>
                </a:solidFill>
              </a:rPr>
              <a:t>" : start}})</a:t>
            </a:r>
          </a:p>
        </p:txBody>
      </p:sp>
    </p:spTree>
    <p:extLst>
      <p:ext uri="{BB962C8B-B14F-4D97-AF65-F5344CB8AC3E}">
        <p14:creationId xmlns:p14="http://schemas.microsoft.com/office/powerpoint/2010/main" val="151905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“$ne” conditional operator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133966"/>
            <a:ext cx="11229182" cy="4154984"/>
          </a:xfrm>
        </p:spPr>
        <p:txBody>
          <a:bodyPr>
            <a:norm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To query for documents where a key’s value is </a:t>
            </a:r>
            <a:r>
              <a:rPr lang="en-US" b="1" dirty="0"/>
              <a:t>not equal </a:t>
            </a:r>
            <a:r>
              <a:rPr lang="en-US" dirty="0"/>
              <a:t>to a certain value, you must use another conditional operator, </a:t>
            </a:r>
            <a:r>
              <a:rPr lang="en-US" dirty="0">
                <a:solidFill>
                  <a:srgbClr val="FF0000"/>
                </a:solidFill>
              </a:rPr>
              <a:t>"$ne“</a:t>
            </a:r>
            <a:endParaRPr lang="en-US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Find </a:t>
            </a:r>
            <a:r>
              <a:rPr lang="en-US" b="1" dirty="0"/>
              <a:t>all the total number </a:t>
            </a:r>
            <a:r>
              <a:rPr lang="en-US" dirty="0"/>
              <a:t>of users whose age is </a:t>
            </a:r>
            <a:r>
              <a:rPr lang="en-US" b="1" dirty="0"/>
              <a:t>not equal </a:t>
            </a:r>
            <a:r>
              <a:rPr lang="en-US" dirty="0"/>
              <a:t>to 30</a:t>
            </a:r>
          </a:p>
          <a:p>
            <a:pPr marL="1114425" lvl="1" indent="-428625"/>
            <a:r>
              <a:rPr lang="en-US" dirty="0" err="1">
                <a:solidFill>
                  <a:srgbClr val="FF0000"/>
                </a:solidFill>
              </a:rPr>
              <a:t>db.employees.find</a:t>
            </a:r>
            <a:r>
              <a:rPr lang="en-US" dirty="0">
                <a:solidFill>
                  <a:srgbClr val="FF0000"/>
                </a:solidFill>
              </a:rPr>
              <a:t>({"age":{"$ne":30}}).count()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"$ne" can be used with any type.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270ECA9C-29E5-2DB7-959D-95C888CB2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758" y="3784251"/>
            <a:ext cx="65064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5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141256"/>
            <a:ext cx="11495882" cy="5078313"/>
          </a:xfrm>
        </p:spPr>
        <p:txBody>
          <a:bodyPr>
            <a:normAutofit fontScale="85000" lnSpcReduction="10000"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b="1" dirty="0"/>
              <a:t>"$regex" </a:t>
            </a:r>
            <a:r>
              <a:rPr lang="en-US" sz="3200" dirty="0"/>
              <a:t>provides regular expression capabilities for pattern matching strings in queries. </a:t>
            </a:r>
          </a:p>
          <a:p>
            <a:pPr marL="1114425" lvl="1" indent="-428625"/>
            <a:r>
              <a:rPr lang="en-US" sz="2900" dirty="0">
                <a:solidFill>
                  <a:schemeClr val="tx1"/>
                </a:solidFill>
                <a:hlinkClick r:id="rId3"/>
              </a:rPr>
              <a:t>https://www.mongodb.com/docs/manual/reference/operator/query/regex/</a:t>
            </a:r>
            <a:endParaRPr lang="en-US" sz="2900" dirty="0">
              <a:solidFill>
                <a:schemeClr val="tx1"/>
              </a:solidFill>
            </a:endParaRPr>
          </a:p>
          <a:p>
            <a:pPr marL="1114425" lvl="1" indent="-428625"/>
            <a:endParaRPr lang="en-US" sz="2900" dirty="0">
              <a:solidFill>
                <a:schemeClr val="tx1"/>
              </a:solidFill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dirty="0"/>
              <a:t>Regular expressions are useful for flexible string matching. </a:t>
            </a:r>
          </a:p>
          <a:p>
            <a:pPr marL="1114425" lvl="1" indent="-428625"/>
            <a:r>
              <a:rPr lang="en-US" sz="2800" dirty="0">
                <a:solidFill>
                  <a:schemeClr val="tx1"/>
                </a:solidFill>
              </a:rPr>
              <a:t>Count the number of users using a Google email account ending with "@google.com" and "@google.ca“.</a:t>
            </a:r>
          </a:p>
          <a:p>
            <a:pPr marL="428625" indent="-428625"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FF0000"/>
              </a:solidFill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C00000"/>
                </a:solidFill>
              </a:rPr>
              <a:t>db.employees.find</a:t>
            </a:r>
            <a:r>
              <a:rPr lang="en-US" sz="3200" dirty="0">
                <a:solidFill>
                  <a:srgbClr val="C00000"/>
                </a:solidFill>
              </a:rPr>
              <a:t>({ "email": { "$regex": /@google\.(com|ca)$/i } }).count()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00000"/>
              </a:solidFill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dirty="0"/>
              <a:t>MongoDB uses the Perl Compatible Regular Expression (PCRE) library to match regular expressions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28F607-8CE8-20C6-C84D-0238EA236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127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9FBFA"/>
                </a:solidFill>
                <a:effectLst/>
                <a:latin typeface="Arial Unicode MS"/>
              </a:rPr>
              <a:t>db.employees.find({ "email": { "$regex": /@google\.(com|ca)$/i } }).count()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6A35A7-0FE8-E074-98FA-254CCCAB4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1127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9FBFA"/>
                </a:solidFill>
                <a:effectLst/>
                <a:latin typeface="Arial Unicode MS"/>
              </a:rPr>
              <a:t>db.employees.find({ "email": { "$regex": /@google\.(com|ca)$/i } }).count()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04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7C999D-BB62-97C4-C073-3664B3D8D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3684-7580-7909-73F7-B152F58A06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6678" y="1524454"/>
            <a:ext cx="10783152" cy="3918403"/>
          </a:xfrm>
        </p:spPr>
        <p:txBody>
          <a:bodyPr>
            <a:normAutofit fontScale="92500"/>
          </a:bodyPr>
          <a:lstStyle/>
          <a:p>
            <a:r>
              <a:rPr lang="en-CA" dirty="0"/>
              <a:t>{ &lt;field&gt;: { $regex: /pattern/, $options: '&lt;options&gt;' } }</a:t>
            </a:r>
          </a:p>
          <a:p>
            <a:r>
              <a:rPr lang="en-CA" dirty="0"/>
              <a:t>{ &lt;field&gt;: { $regex: 'pattern', $options: '&lt;options&gt;' } }</a:t>
            </a:r>
          </a:p>
          <a:p>
            <a:r>
              <a:rPr lang="en-CA" dirty="0"/>
              <a:t>{ &lt;field&gt;: { $regex: /pattern/&lt;options&gt; } }</a:t>
            </a:r>
          </a:p>
          <a:p>
            <a:endParaRPr lang="en-CA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C00000"/>
                </a:solidFill>
              </a:rPr>
              <a:t>db.employees.find</a:t>
            </a:r>
            <a:r>
              <a:rPr lang="en-US" sz="2800" dirty="0">
                <a:solidFill>
                  <a:srgbClr val="C00000"/>
                </a:solidFill>
              </a:rPr>
              <a:t>({ "email": { "$regex": /@google\.(com|ca)$/i } }).count()</a:t>
            </a:r>
          </a:p>
          <a:p>
            <a:endParaRPr lang="en-US" b="1" i="0" dirty="0">
              <a:solidFill>
                <a:srgbClr val="1C2D38"/>
              </a:solidFill>
              <a:effectLst/>
              <a:latin typeface="Euclid Circular A"/>
            </a:endParaRPr>
          </a:p>
          <a:p>
            <a:r>
              <a:rPr lang="en-US" b="1" i="0" dirty="0">
                <a:solidFill>
                  <a:srgbClr val="1C2D38"/>
                </a:solidFill>
                <a:effectLst/>
                <a:latin typeface="Euclid Circular A"/>
              </a:rPr>
              <a:t>&lt;option&gt; </a:t>
            </a:r>
          </a:p>
          <a:p>
            <a:pPr lvl="1"/>
            <a:r>
              <a:rPr lang="en-US" b="1" i="0" dirty="0">
                <a:solidFill>
                  <a:srgbClr val="1C2D38"/>
                </a:solidFill>
                <a:effectLst/>
                <a:latin typeface="Euclid Circular A"/>
              </a:rPr>
              <a:t>i:  Case insensitivity to match upper and lower cases.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92358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22F15-E2FD-017F-D4E9-2A45E2829D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0732" y="318977"/>
            <a:ext cx="11006467" cy="636890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MongoDB supports the use of regular expressions with the `$regex` operator. Here are some of the common rules and options for using regular expressions in MongoDB:</a:t>
            </a:r>
          </a:p>
          <a:p>
            <a:pPr>
              <a:lnSpc>
                <a:spcPct val="120000"/>
              </a:lnSpc>
            </a:pPr>
            <a:r>
              <a:rPr lang="en-US" dirty="0"/>
              <a:t>1. Basic Regular Expression:</a:t>
            </a:r>
          </a:p>
          <a:p>
            <a:pPr>
              <a:lnSpc>
                <a:spcPct val="120000"/>
              </a:lnSpc>
            </a:pPr>
            <a:r>
              <a:rPr lang="en-US" dirty="0"/>
              <a:t>   - `/pattern/`: You can enclose the regular expression pattern between `/` characters, as shown in `/pattern/`.</a:t>
            </a:r>
          </a:p>
          <a:p>
            <a:pPr>
              <a:lnSpc>
                <a:spcPct val="120000"/>
              </a:lnSpc>
            </a:pPr>
            <a:r>
              <a:rPr lang="en-US" dirty="0"/>
              <a:t>2. Case Insensitivity:</a:t>
            </a:r>
          </a:p>
          <a:p>
            <a:pPr>
              <a:lnSpc>
                <a:spcPct val="120000"/>
              </a:lnSpc>
            </a:pPr>
            <a:r>
              <a:rPr lang="en-US" dirty="0"/>
              <a:t>   - </a:t>
            </a:r>
            <a:r>
              <a:rPr lang="en-US" b="1" dirty="0"/>
              <a:t>`/pattern/</a:t>
            </a:r>
            <a:r>
              <a:rPr lang="en-US" b="1" dirty="0" err="1"/>
              <a:t>i</a:t>
            </a:r>
            <a:r>
              <a:rPr lang="en-US" dirty="0"/>
              <a:t>`: To perform a case-insensitive search, add the `</a:t>
            </a:r>
            <a:r>
              <a:rPr lang="en-US" dirty="0" err="1"/>
              <a:t>i</a:t>
            </a:r>
            <a:r>
              <a:rPr lang="en-US" dirty="0"/>
              <a:t>` flag after the closing `/`.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 For example, </a:t>
            </a:r>
            <a:r>
              <a:rPr lang="en-US" b="1" dirty="0"/>
              <a:t>`/pattern/</a:t>
            </a:r>
            <a:r>
              <a:rPr lang="en-US" b="1" dirty="0" err="1"/>
              <a:t>i</a:t>
            </a:r>
            <a:r>
              <a:rPr lang="en-US" dirty="0"/>
              <a:t>` will match both uppercase and lowercase characters.</a:t>
            </a:r>
          </a:p>
          <a:p>
            <a:pPr>
              <a:lnSpc>
                <a:spcPct val="120000"/>
              </a:lnSpc>
            </a:pPr>
            <a:r>
              <a:rPr lang="en-US" dirty="0"/>
              <a:t>3. Match Any Character:</a:t>
            </a:r>
          </a:p>
          <a:p>
            <a:pPr>
              <a:lnSpc>
                <a:spcPct val="120000"/>
              </a:lnSpc>
            </a:pPr>
            <a:r>
              <a:rPr lang="en-US" dirty="0"/>
              <a:t>   - </a:t>
            </a:r>
            <a:r>
              <a:rPr lang="en-US" b="1" dirty="0"/>
              <a:t>`.`</a:t>
            </a:r>
            <a:r>
              <a:rPr lang="en-US" dirty="0"/>
              <a:t>: The `.` character is used to match </a:t>
            </a:r>
            <a:r>
              <a:rPr lang="en-US" b="1" dirty="0"/>
              <a:t>any single character </a:t>
            </a:r>
            <a:r>
              <a:rPr lang="en-US" dirty="0"/>
              <a:t>except a newline.</a:t>
            </a:r>
          </a:p>
          <a:p>
            <a:r>
              <a:rPr lang="en-US" dirty="0"/>
              <a:t>4. Anchors:</a:t>
            </a:r>
          </a:p>
          <a:p>
            <a:r>
              <a:rPr lang="en-US" dirty="0"/>
              <a:t>   - `^`: The `^` character anchors the pattern to the start of the string.</a:t>
            </a:r>
          </a:p>
          <a:p>
            <a:r>
              <a:rPr lang="en-US" dirty="0"/>
              <a:t>   - `$`: The `$` character anchors the pattern to the end of the string.</a:t>
            </a:r>
          </a:p>
          <a:p>
            <a:endParaRPr lang="en-US" dirty="0"/>
          </a:p>
          <a:p>
            <a:r>
              <a:rPr lang="en-US" dirty="0"/>
              <a:t>5. Character Classes:</a:t>
            </a:r>
          </a:p>
          <a:p>
            <a:r>
              <a:rPr lang="en-US" dirty="0"/>
              <a:t>   - `[</a:t>
            </a:r>
            <a:r>
              <a:rPr lang="en-US" dirty="0" err="1"/>
              <a:t>abc</a:t>
            </a:r>
            <a:r>
              <a:rPr lang="en-US" dirty="0"/>
              <a:t>]`: Matches any character that is one of 'a', 'b', or 'c'.</a:t>
            </a:r>
          </a:p>
          <a:p>
            <a:r>
              <a:rPr lang="en-US" dirty="0"/>
              <a:t>   - `[a-z]`: Matches any lowercase letter.</a:t>
            </a:r>
          </a:p>
          <a:p>
            <a:r>
              <a:rPr lang="en-US" dirty="0"/>
              <a:t>   - `[A-Z]`: Matches any uppercase letter.</a:t>
            </a:r>
          </a:p>
          <a:p>
            <a:r>
              <a:rPr lang="en-US" dirty="0"/>
              <a:t>   - `[0-9]`: Matches any digit.</a:t>
            </a:r>
          </a:p>
        </p:txBody>
      </p:sp>
    </p:spTree>
    <p:extLst>
      <p:ext uri="{BB962C8B-B14F-4D97-AF65-F5344CB8AC3E}">
        <p14:creationId xmlns:p14="http://schemas.microsoft.com/office/powerpoint/2010/main" val="171109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309FF-12D5-06B2-41A2-D3A4EE818E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6055" y="165961"/>
            <a:ext cx="10590028" cy="6856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6. Quantifiers:</a:t>
            </a:r>
          </a:p>
          <a:p>
            <a:pPr marL="0" indent="0">
              <a:buNone/>
            </a:pPr>
            <a:r>
              <a:rPr lang="en-US" dirty="0"/>
              <a:t>   - `*`: Matches zero or more occurrences.</a:t>
            </a:r>
          </a:p>
          <a:p>
            <a:pPr marL="0" indent="0">
              <a:buNone/>
            </a:pPr>
            <a:r>
              <a:rPr lang="en-US" dirty="0"/>
              <a:t>   - `+`: Matches one or more occurrences.</a:t>
            </a:r>
          </a:p>
          <a:p>
            <a:pPr marL="0" indent="0">
              <a:buNone/>
            </a:pPr>
            <a:r>
              <a:rPr lang="en-US" dirty="0"/>
              <a:t>   - `?`: Matches zero or one occurrence.</a:t>
            </a:r>
          </a:p>
          <a:p>
            <a:pPr marL="0" indent="0">
              <a:buNone/>
            </a:pPr>
            <a:r>
              <a:rPr lang="en-US" dirty="0"/>
              <a:t>   - `{n}`: Matches exactly `n` occurrences.</a:t>
            </a:r>
          </a:p>
          <a:p>
            <a:pPr marL="0" indent="0">
              <a:buNone/>
            </a:pPr>
            <a:r>
              <a:rPr lang="en-US" dirty="0"/>
              <a:t>   - `{n,}`: Matches `n` or more occurrences.</a:t>
            </a:r>
          </a:p>
          <a:p>
            <a:pPr marL="0" indent="0">
              <a:buNone/>
            </a:pPr>
            <a:r>
              <a:rPr lang="en-US" dirty="0"/>
              <a:t>   - `{</a:t>
            </a:r>
            <a:r>
              <a:rPr lang="en-US" dirty="0" err="1"/>
              <a:t>n,m</a:t>
            </a:r>
            <a:r>
              <a:rPr lang="en-US" dirty="0"/>
              <a:t>}`: Matches between `n` and `m` occurrences.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Escape Special Characters:</a:t>
            </a:r>
          </a:p>
          <a:p>
            <a:pPr marL="0" indent="0">
              <a:buNone/>
            </a:pPr>
            <a:r>
              <a:rPr lang="en-US" dirty="0"/>
              <a:t>   - To match special characters </a:t>
            </a:r>
            <a:r>
              <a:rPr lang="en-US" b="1" dirty="0"/>
              <a:t>like `.` or `^`, </a:t>
            </a:r>
            <a:r>
              <a:rPr lang="en-US" dirty="0"/>
              <a:t>you need to escape them using a backslash, e.g., </a:t>
            </a:r>
            <a:r>
              <a:rPr lang="en-US" b="1" dirty="0"/>
              <a:t>`\.` or `\^`.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Here are some examples of MongoDB regular expressions: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- `/example/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`: Matches "example" case-insensitively.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- `/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^</a:t>
            </a:r>
            <a:r>
              <a:rPr lang="en-US" dirty="0">
                <a:solidFill>
                  <a:schemeClr val="tx1"/>
                </a:solidFill>
              </a:rPr>
              <a:t>start/`: Matches strings that </a:t>
            </a:r>
            <a:r>
              <a:rPr lang="en-US" b="1" dirty="0">
                <a:solidFill>
                  <a:schemeClr val="tx1"/>
                </a:solidFill>
              </a:rPr>
              <a:t>start with "start."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- `/end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$</a:t>
            </a:r>
            <a:r>
              <a:rPr lang="en-US" dirty="0">
                <a:solidFill>
                  <a:schemeClr val="tx1"/>
                </a:solidFill>
              </a:rPr>
              <a:t>/`: Matches strings that </a:t>
            </a:r>
            <a:r>
              <a:rPr lang="en-US" b="1" dirty="0">
                <a:solidFill>
                  <a:schemeClr val="tx1"/>
                </a:solidFill>
              </a:rPr>
              <a:t>end with "end."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- `/[0-9]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+</a:t>
            </a:r>
            <a:r>
              <a:rPr lang="en-US" dirty="0">
                <a:solidFill>
                  <a:schemeClr val="tx1"/>
                </a:solidFill>
              </a:rPr>
              <a:t>/`: Matches one or more digits.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- `/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\.</a:t>
            </a:r>
            <a:r>
              <a:rPr lang="en-US" dirty="0">
                <a:solidFill>
                  <a:schemeClr val="tx1"/>
                </a:solidFill>
              </a:rPr>
              <a:t>/`: Matches a period (dot) character.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9CC8C47-1109-21B5-8554-469A04EC0695}"/>
              </a:ext>
            </a:extLst>
          </p:cNvPr>
          <p:cNvSpPr txBox="1">
            <a:spLocks/>
          </p:cNvSpPr>
          <p:nvPr/>
        </p:nvSpPr>
        <p:spPr>
          <a:xfrm>
            <a:off x="6720114" y="410512"/>
            <a:ext cx="6226251" cy="7107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563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OR Queries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133966"/>
            <a:ext cx="11495882" cy="3231654"/>
          </a:xfrm>
        </p:spPr>
        <p:txBody>
          <a:bodyPr>
            <a:normAutofit lnSpcReduction="10000"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There are two ways to do an OR query in MongoDB.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"$in" can be used to query a variety of values for </a:t>
            </a:r>
            <a:r>
              <a:rPr lang="en-US" dirty="0">
                <a:solidFill>
                  <a:srgbClr val="FF0000"/>
                </a:solidFill>
              </a:rPr>
              <a:t>a single</a:t>
            </a:r>
            <a:r>
              <a:rPr lang="en-US" dirty="0"/>
              <a:t> key/field using an array of criteria.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"$or" is more general; it can be used to query for any of the given values across </a:t>
            </a:r>
            <a:r>
              <a:rPr lang="en-US" dirty="0">
                <a:solidFill>
                  <a:srgbClr val="FF0000"/>
                </a:solidFill>
              </a:rPr>
              <a:t>multiple keys/fields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9684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OR queries using “$in”: for single key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7525" y="1133967"/>
            <a:ext cx="11495882" cy="555258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Suppose we want to find the record of the employees with a list of specified position titles.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find all the documents, we can construct the following query: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db.employees.find</a:t>
            </a:r>
            <a:r>
              <a:rPr lang="en-US" dirty="0"/>
              <a:t>({“position" : </a:t>
            </a:r>
            <a:r>
              <a:rPr lang="en-US" b="1" dirty="0"/>
              <a:t>{"$in" </a:t>
            </a:r>
            <a:r>
              <a:rPr lang="en-US" dirty="0"/>
              <a:t>: [“Surveyor”, “Manager”]}})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dirty="0">
                <a:highlight>
                  <a:srgbClr val="FFFF00"/>
                </a:highlight>
              </a:rPr>
              <a:t>$in</a:t>
            </a:r>
            <a:r>
              <a:rPr lang="en-US" dirty="0"/>
              <a:t>"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allows specifying criteria of different types and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we are gradually migrating our schema to use usernames instead of user ID numbers, we can query for either by using this:</a:t>
            </a:r>
          </a:p>
          <a:p>
            <a:pPr marL="1028700" lvl="1" indent="-342900"/>
            <a:r>
              <a:rPr lang="en-US" dirty="0" err="1">
                <a:solidFill>
                  <a:schemeClr val="tx1"/>
                </a:solidFill>
              </a:rPr>
              <a:t>db.users.find</a:t>
            </a:r>
            <a:r>
              <a:rPr lang="en-US" dirty="0">
                <a:solidFill>
                  <a:schemeClr val="tx1"/>
                </a:solidFill>
              </a:rPr>
              <a:t>({"</a:t>
            </a:r>
            <a:r>
              <a:rPr lang="en-US" dirty="0" err="1">
                <a:solidFill>
                  <a:schemeClr val="tx1"/>
                </a:solidFill>
              </a:rPr>
              <a:t>user_id</a:t>
            </a:r>
            <a:r>
              <a:rPr lang="en-US" dirty="0">
                <a:solidFill>
                  <a:schemeClr val="tx1"/>
                </a:solidFill>
              </a:rPr>
              <a:t>" : {"$in" : [12345, "joe"]}})</a:t>
            </a:r>
          </a:p>
          <a:p>
            <a:pPr marL="1485900" lvl="2" indent="-342900"/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Söhne Mono"/>
              </a:rPr>
              <a:t>[12345, "joe"]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effectLst/>
                <a:ea typeface="Söhne"/>
              </a:rPr>
              <a:t>: This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is the array of values you are checking against. It contains both a user ID (numeric) and a username (string).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47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OR queries using “$in” and “$</a:t>
            </a:r>
            <a:r>
              <a:rPr lang="en-US" sz="3600" dirty="0" err="1"/>
              <a:t>nin</a:t>
            </a:r>
            <a:r>
              <a:rPr lang="en-US" sz="3600" dirty="0"/>
              <a:t>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133967"/>
            <a:ext cx="11495882" cy="461664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"$in" is given an array with a single value, it behaves the same as directly matching the value. </a:t>
            </a: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For instance, {"position" : {"$in" : ["Manager"]}} matches the same documents as {"position" : "Manager"}.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opposite of </a:t>
            </a:r>
            <a:r>
              <a:rPr lang="en-US" b="1" dirty="0"/>
              <a:t>"$in" is "$</a:t>
            </a:r>
            <a:r>
              <a:rPr lang="en-US" b="1" dirty="0" err="1"/>
              <a:t>nin</a:t>
            </a:r>
            <a:r>
              <a:rPr lang="en-US" b="1" dirty="0"/>
              <a:t>", </a:t>
            </a:r>
            <a:r>
              <a:rPr lang="en-US" dirty="0"/>
              <a:t>which returns documents that </a:t>
            </a:r>
            <a:r>
              <a:rPr lang="en-US" b="1" dirty="0"/>
              <a:t>don’t </a:t>
            </a:r>
            <a:r>
              <a:rPr lang="en-US" dirty="0"/>
              <a:t>match any of the criteria in the array.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we want to return all of the people who are not a Manager or Surveyor, we can query for them with this: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db.employees.find</a:t>
            </a:r>
            <a:r>
              <a:rPr lang="en-US" dirty="0"/>
              <a:t>({"position" : </a:t>
            </a:r>
            <a:r>
              <a:rPr lang="en-US" b="1" dirty="0"/>
              <a:t>{"$</a:t>
            </a:r>
            <a:r>
              <a:rPr lang="en-US" b="1" dirty="0" err="1"/>
              <a:t>nin</a:t>
            </a:r>
            <a:r>
              <a:rPr lang="en-US" b="1" dirty="0"/>
              <a:t>" </a:t>
            </a:r>
            <a:r>
              <a:rPr lang="en-US" dirty="0"/>
              <a:t>: ["Surveyor", "Manager"]}})</a:t>
            </a:r>
          </a:p>
        </p:txBody>
      </p:sp>
    </p:spTree>
    <p:extLst>
      <p:ext uri="{BB962C8B-B14F-4D97-AF65-F5344CB8AC3E}">
        <p14:creationId xmlns:p14="http://schemas.microsoft.com/office/powerpoint/2010/main" val="2509990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OR queries for multiple keys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18" y="1133967"/>
            <a:ext cx="11495882" cy="461664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need to find documents where “salary" is below 72500 or “age" is over 55 or “position” is “Manager”?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this query type, we’ll need to use the </a:t>
            </a:r>
            <a:r>
              <a:rPr lang="en-US" b="1" dirty="0"/>
              <a:t>"$or" </a:t>
            </a:r>
            <a:r>
              <a:rPr lang="en-US" dirty="0"/>
              <a:t>conditional.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028700" lvl="1" indent="-342900"/>
            <a:r>
              <a:rPr lang="en-US" dirty="0" err="1">
                <a:solidFill>
                  <a:srgbClr val="FF0000"/>
                </a:solidFill>
              </a:rPr>
              <a:t>db.employees.find</a:t>
            </a:r>
            <a:r>
              <a:rPr lang="en-US" dirty="0">
                <a:solidFill>
                  <a:srgbClr val="FF0000"/>
                </a:solidFill>
              </a:rPr>
              <a:t>({"$or":[{"salary":{"$lt":72500}}, {"position": "Manager"}, {"age" : {"$gt":55}}]})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"$or" can contain other conditionals.</a:t>
            </a:r>
          </a:p>
        </p:txBody>
      </p:sp>
    </p:spTree>
    <p:extLst>
      <p:ext uri="{BB962C8B-B14F-4D97-AF65-F5344CB8AC3E}">
        <p14:creationId xmlns:p14="http://schemas.microsoft.com/office/powerpoint/2010/main" val="1895969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Queries using “$not”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5B31-6F6A-6882-D864-E96C4BF7D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6065" y="1121625"/>
            <a:ext cx="11483035" cy="5078313"/>
          </a:xfrm>
        </p:spPr>
        <p:txBody>
          <a:bodyPr>
            <a:norm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/>
              <a:t>"$not" is a </a:t>
            </a:r>
            <a:r>
              <a:rPr lang="en-US" dirty="0" err="1"/>
              <a:t>metaconditional</a:t>
            </a:r>
            <a:r>
              <a:rPr lang="en-US" dirty="0"/>
              <a:t>: it can be applied on top of any other criteria.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dirty="0"/>
              <a:t>Count the number of users using an email account </a:t>
            </a:r>
            <a:r>
              <a:rPr lang="en-US" sz="3200" b="1" dirty="0"/>
              <a:t>NOT</a:t>
            </a:r>
            <a:r>
              <a:rPr lang="en-US" sz="3200" dirty="0"/>
              <a:t> ending with "@google.com" and "@google.ca“.</a:t>
            </a:r>
          </a:p>
          <a:p>
            <a:endParaRPr lang="en-US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db.employees.find</a:t>
            </a:r>
            <a:r>
              <a:rPr lang="en-US" dirty="0">
                <a:solidFill>
                  <a:srgbClr val="FF0000"/>
                </a:solidFill>
              </a:rPr>
              <a:t>( {"email" : {"$not": {"$regex" : /@google\.(com|ca)$/i}}}).count()</a:t>
            </a:r>
          </a:p>
        </p:txBody>
      </p:sp>
    </p:spTree>
    <p:extLst>
      <p:ext uri="{BB962C8B-B14F-4D97-AF65-F5344CB8AC3E}">
        <p14:creationId xmlns:p14="http://schemas.microsoft.com/office/powerpoint/2010/main" val="2235148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Updating Documents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1"/>
            <a:ext cx="1159113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Documents can be changed using one following methods: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 err="1"/>
              <a:t>updateOne</a:t>
            </a:r>
            <a:r>
              <a:rPr lang="en-US" sz="3300" dirty="0"/>
              <a:t> and </a:t>
            </a:r>
            <a:r>
              <a:rPr lang="en-US" sz="3300" dirty="0" err="1"/>
              <a:t>updateMany</a:t>
            </a:r>
            <a:r>
              <a:rPr lang="en-US" sz="3300" dirty="0"/>
              <a:t>: </a:t>
            </a:r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/>
              <a:t>each take a filter document as their first parameter and a modifier document, which describes changes to make as the second parameter.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 err="1"/>
              <a:t>replaceOne</a:t>
            </a:r>
            <a:endParaRPr lang="en-US" sz="33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/>
              <a:t>takes a filter as the first parameter, </a:t>
            </a:r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/>
              <a:t>as the second parameter </a:t>
            </a:r>
            <a:r>
              <a:rPr lang="en-US" sz="3000" dirty="0" err="1"/>
              <a:t>replaceOne</a:t>
            </a:r>
            <a:r>
              <a:rPr lang="en-US" sz="3000" dirty="0"/>
              <a:t> expects a document with which it will replace the document matching the filter.</a:t>
            </a:r>
          </a:p>
        </p:txBody>
      </p:sp>
    </p:spTree>
    <p:extLst>
      <p:ext uri="{BB962C8B-B14F-4D97-AF65-F5344CB8AC3E}">
        <p14:creationId xmlns:p14="http://schemas.microsoft.com/office/powerpoint/2010/main" val="1449295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Updating a document is atomic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0"/>
            <a:ext cx="1159113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If two updates happen at the same time, whichever one reaches the server first will be applied, and then the next one will be applied.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Thus, conflicting updates can safely be sent in rapid-fire succession without any documents being corrupted: the last update will “win.”</a:t>
            </a:r>
          </a:p>
        </p:txBody>
      </p:sp>
    </p:spTree>
    <p:extLst>
      <p:ext uri="{BB962C8B-B14F-4D97-AF65-F5344CB8AC3E}">
        <p14:creationId xmlns:p14="http://schemas.microsoft.com/office/powerpoint/2010/main" val="2757992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Replace whole document with </a:t>
            </a:r>
            <a:r>
              <a:rPr lang="en-US" sz="3600" dirty="0" err="1"/>
              <a:t>replaceOne</a:t>
            </a:r>
            <a:r>
              <a:rPr lang="en-US" sz="36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037998"/>
            <a:ext cx="1159113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 err="1"/>
              <a:t>replaceOne</a:t>
            </a:r>
            <a:r>
              <a:rPr lang="en-US" sz="3300" dirty="0"/>
              <a:t> fully replaces a matching document with a new one. This can be useful to do a dramatic schema migration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54144-72EC-47E9-DDB5-0938C194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21" y="2848062"/>
            <a:ext cx="4084249" cy="206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F4195-DF7B-8264-9704-CF4B2D519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152" y="2195223"/>
            <a:ext cx="4549982" cy="449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53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Using Update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0"/>
            <a:ext cx="1159113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Usually only certain portions of a document need to be updated.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We can update specific fields in a document using atomic update operators.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Update operators are special keys that can be used to specify complex update operations, such as altering, adding, or removing keys, and even manipulating arrays and embedded documents</a:t>
            </a:r>
            <a:endParaRPr lang="en-US" sz="3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9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 err="1"/>
              <a:t>updateOne</a:t>
            </a:r>
            <a:r>
              <a:rPr lang="en-US" sz="3600" dirty="0"/>
              <a:t>: getting started with the “$set” modifier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0"/>
            <a:ext cx="1159113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This can be handy for updating schemas or adding user-defined keys.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The </a:t>
            </a:r>
            <a:r>
              <a:rPr lang="en-US" sz="3300" b="1" dirty="0"/>
              <a:t>$set </a:t>
            </a:r>
            <a:r>
              <a:rPr lang="en-US" sz="3300" dirty="0"/>
              <a:t>operator replaces the value of a field with the specified value.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$set operator expression has the following form: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{ $set: { &lt;field1&gt;: &lt;value1&gt;, ... } }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To specify a &lt;field&gt; in an embedded document or in an array, use </a:t>
            </a:r>
            <a:r>
              <a:rPr lang="en-US" sz="3300" b="1" dirty="0"/>
              <a:t>dot notation</a:t>
            </a:r>
            <a:r>
              <a:rPr lang="en-US" sz="3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697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 err="1"/>
              <a:t>updateOne</a:t>
            </a:r>
            <a:r>
              <a:rPr lang="en-US" sz="3600" dirty="0"/>
              <a:t>: getting started with the “$set” modifier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0"/>
            <a:ext cx="1159113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Let’s add a hobby field to the document with {</a:t>
            </a:r>
            <a:r>
              <a:rPr lang="en-US" sz="3300" dirty="0" err="1"/>
              <a:t>first_name</a:t>
            </a:r>
            <a:r>
              <a:rPr lang="en-US" sz="3300" dirty="0"/>
              <a:t>: “</a:t>
            </a:r>
            <a:r>
              <a:rPr lang="en-US" sz="3300" dirty="0" err="1"/>
              <a:t>Margaretha</a:t>
            </a:r>
            <a:r>
              <a:rPr lang="en-US" sz="3300" dirty="0"/>
              <a:t>”} by using the “$set” modifier.</a:t>
            </a:r>
          </a:p>
          <a:p>
            <a:pPr marL="885825" lvl="1" indent="-428625"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FF0000"/>
                </a:solidFill>
              </a:rPr>
              <a:t>db.employees.updateOne</a:t>
            </a:r>
            <a:r>
              <a:rPr lang="en-US" sz="3300" dirty="0">
                <a:solidFill>
                  <a:srgbClr val="FF0000"/>
                </a:solidFill>
              </a:rPr>
              <a:t>({first_name:“</a:t>
            </a:r>
            <a:r>
              <a:rPr lang="en-US" sz="3300" dirty="0" err="1">
                <a:solidFill>
                  <a:srgbClr val="FF0000"/>
                </a:solidFill>
              </a:rPr>
              <a:t>Margaretha</a:t>
            </a:r>
            <a:r>
              <a:rPr lang="en-US" sz="3300" dirty="0">
                <a:solidFill>
                  <a:srgbClr val="FF0000"/>
                </a:solidFill>
              </a:rPr>
              <a:t>"},{"$set" : {"hobby" : "Cycling"}})</a:t>
            </a: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We can update the hobby </a:t>
            </a:r>
            <a:r>
              <a:rPr lang="en-US" sz="3300" dirty="0">
                <a:solidFill>
                  <a:srgbClr val="FF0000"/>
                </a:solidFill>
              </a:rPr>
              <a:t>Cycling -&gt; Cooking</a:t>
            </a:r>
          </a:p>
          <a:p>
            <a:pPr marL="885825" lvl="1" indent="-428625"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FF0000"/>
                </a:solidFill>
              </a:rPr>
              <a:t>db.employees.updateOne</a:t>
            </a:r>
            <a:r>
              <a:rPr lang="en-US" sz="3300" dirty="0">
                <a:solidFill>
                  <a:srgbClr val="FF0000"/>
                </a:solidFill>
              </a:rPr>
              <a:t>({first_name:“</a:t>
            </a:r>
            <a:r>
              <a:rPr lang="en-US" sz="3300" dirty="0" err="1">
                <a:solidFill>
                  <a:srgbClr val="FF0000"/>
                </a:solidFill>
              </a:rPr>
              <a:t>Margaretha</a:t>
            </a:r>
            <a:r>
              <a:rPr lang="en-US" sz="3300" dirty="0">
                <a:solidFill>
                  <a:srgbClr val="FF0000"/>
                </a:solidFill>
              </a:rPr>
              <a:t>"},{"$set" : {"hobby" : "Cooking"}})</a:t>
            </a:r>
            <a:endParaRPr lang="en-US" sz="3300" dirty="0"/>
          </a:p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13522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 err="1"/>
              <a:t>updateOne</a:t>
            </a:r>
            <a:r>
              <a:rPr lang="en-US" sz="3600" dirty="0"/>
              <a:t>: increment the value of a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200150"/>
            <a:ext cx="1159113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3300" dirty="0"/>
              <a:t>The </a:t>
            </a:r>
            <a:r>
              <a:rPr lang="en-US" sz="3300" b="1" dirty="0"/>
              <a:t>$</a:t>
            </a:r>
            <a:r>
              <a:rPr lang="en-US" sz="3300" b="1" dirty="0" err="1"/>
              <a:t>inc</a:t>
            </a:r>
            <a:r>
              <a:rPr lang="en-US" sz="3300" b="1" dirty="0"/>
              <a:t> </a:t>
            </a:r>
            <a:r>
              <a:rPr lang="en-US" sz="3300" dirty="0"/>
              <a:t>operator accepts positive and negative values.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3300" dirty="0"/>
              <a:t>If the field does not exist, $</a:t>
            </a:r>
            <a:r>
              <a:rPr lang="en-US" sz="3300" dirty="0" err="1"/>
              <a:t>inc</a:t>
            </a:r>
            <a:r>
              <a:rPr lang="en-US" sz="3300" dirty="0"/>
              <a:t> creates the field and sets the field to the specified value.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3300" dirty="0"/>
              <a:t>Use of the </a:t>
            </a:r>
            <a:r>
              <a:rPr lang="en-US" sz="3300" b="1" dirty="0"/>
              <a:t>$</a:t>
            </a:r>
            <a:r>
              <a:rPr lang="en-US" sz="3300" b="1" dirty="0" err="1"/>
              <a:t>inc</a:t>
            </a:r>
            <a:r>
              <a:rPr lang="en-US" sz="3300" b="1" dirty="0"/>
              <a:t> </a:t>
            </a:r>
            <a:r>
              <a:rPr lang="en-US" sz="3300" dirty="0"/>
              <a:t>operator on a field with a null value will generate an error.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3300" b="1" dirty="0"/>
              <a:t>$</a:t>
            </a:r>
            <a:r>
              <a:rPr lang="en-US" sz="3300" b="1" dirty="0" err="1"/>
              <a:t>inc</a:t>
            </a:r>
            <a:r>
              <a:rPr lang="en-US" sz="3300" b="1" dirty="0"/>
              <a:t> </a:t>
            </a:r>
            <a:r>
              <a:rPr lang="en-US" sz="3300" dirty="0"/>
              <a:t>is an atomic operation within a single document.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sz="3300" b="1" dirty="0"/>
              <a:t>"$</a:t>
            </a:r>
            <a:r>
              <a:rPr lang="en-US" sz="3300" b="1" dirty="0" err="1"/>
              <a:t>inc</a:t>
            </a:r>
            <a:r>
              <a:rPr lang="en-US" sz="3300" b="1" dirty="0"/>
              <a:t>" </a:t>
            </a:r>
            <a:r>
              <a:rPr lang="en-US" sz="3300" dirty="0"/>
              <a:t>can be used only on values of type </a:t>
            </a:r>
            <a:r>
              <a:rPr lang="en-US" sz="3300" b="1" dirty="0"/>
              <a:t>integer, long, double, or decimal. </a:t>
            </a:r>
            <a:r>
              <a:rPr lang="en-US" sz="3300" dirty="0"/>
              <a:t>If it is used on any other type of value, it will fail.</a:t>
            </a:r>
          </a:p>
        </p:txBody>
      </p:sp>
    </p:spTree>
    <p:extLst>
      <p:ext uri="{BB962C8B-B14F-4D97-AF65-F5344CB8AC3E}">
        <p14:creationId xmlns:p14="http://schemas.microsoft.com/office/powerpoint/2010/main" val="1625526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 err="1"/>
              <a:t>updateOne</a:t>
            </a:r>
            <a:r>
              <a:rPr lang="en-US" sz="3600" dirty="0"/>
              <a:t>: increment the value of a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791076"/>
            <a:ext cx="36964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 err="1"/>
              <a:t>Margaretha</a:t>
            </a:r>
            <a:r>
              <a:rPr lang="en-US" sz="2400" dirty="0"/>
              <a:t> got a promotion and got 2500$ raise. You found her salary is not correct. You have to increment the value.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We can use “$</a:t>
            </a:r>
            <a:r>
              <a:rPr lang="en-US" sz="2400" dirty="0" err="1"/>
              <a:t>inc</a:t>
            </a:r>
            <a:r>
              <a:rPr lang="en-US" sz="2400" dirty="0"/>
              <a:t>” modifier to update the salary.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db.employees.updateOne</a:t>
            </a:r>
            <a:r>
              <a:rPr lang="en-US" sz="2400" dirty="0">
                <a:solidFill>
                  <a:srgbClr val="FF0000"/>
                </a:solidFill>
              </a:rPr>
              <a:t>({</a:t>
            </a:r>
            <a:r>
              <a:rPr lang="en-US" sz="2400" dirty="0" err="1">
                <a:solidFill>
                  <a:srgbClr val="FF0000"/>
                </a:solidFill>
              </a:rPr>
              <a:t>first_name</a:t>
            </a:r>
            <a:r>
              <a:rPr lang="en-US" sz="2400" dirty="0">
                <a:solidFill>
                  <a:srgbClr val="FF0000"/>
                </a:solidFill>
              </a:rPr>
              <a:t>: ‘</a:t>
            </a:r>
            <a:r>
              <a:rPr lang="en-US" sz="2400" dirty="0" err="1">
                <a:solidFill>
                  <a:srgbClr val="FF0000"/>
                </a:solidFill>
              </a:rPr>
              <a:t>Margaretha</a:t>
            </a:r>
            <a:r>
              <a:rPr lang="en-US" sz="2400" dirty="0">
                <a:solidFill>
                  <a:srgbClr val="FF0000"/>
                </a:solidFill>
              </a:rPr>
              <a:t>'}, {"$</a:t>
            </a:r>
            <a:r>
              <a:rPr lang="en-US" sz="2400" dirty="0" err="1">
                <a:solidFill>
                  <a:srgbClr val="FF0000"/>
                </a:solidFill>
              </a:rPr>
              <a:t>inc</a:t>
            </a:r>
            <a:r>
              <a:rPr lang="en-US" sz="2400" dirty="0">
                <a:solidFill>
                  <a:srgbClr val="FF0000"/>
                </a:solidFill>
              </a:rPr>
              <a:t>" : {“salary" : 2500}})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79BF4-53F9-B4EA-7140-687788DA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434" y="983369"/>
            <a:ext cx="7899598" cy="587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45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85A860-859D-7EB6-7DCD-3340CC0A4A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921" y="332513"/>
            <a:ext cx="7756850" cy="830997"/>
          </a:xfrm>
        </p:spPr>
        <p:txBody>
          <a:bodyPr/>
          <a:lstStyle/>
          <a:p>
            <a:r>
              <a:rPr lang="en-CA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Insert if not found</a:t>
            </a:r>
          </a:p>
          <a:p>
            <a:endParaRPr lang="en-C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AC9861-5C25-745B-9E31-7231EAC5130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0921" y="1274340"/>
            <a:ext cx="1023721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you would like to insert the document if it is not found, you can use 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upsert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option.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>
              <a:lnSpc>
                <a:spcPct val="100000"/>
              </a:lnSpc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db.employees.updateOne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({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first_name:"Mary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"},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{$set:{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first_name:"Mary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     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last_name:"Mac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     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email:"mary@gmail.com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gender:"Female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  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salary:90000,  age:23}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},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{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upsert:true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69BD59-B8FA-6E9F-5F49-F577BD959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69" y="4257881"/>
            <a:ext cx="5738293" cy="229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84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Delete a field from a document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300434" y="1200150"/>
            <a:ext cx="1159113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Let’s </a:t>
            </a:r>
            <a:r>
              <a:rPr lang="en-US" sz="3300" b="1" dirty="0"/>
              <a:t>delete</a:t>
            </a:r>
            <a:r>
              <a:rPr lang="en-US" sz="3300" dirty="0"/>
              <a:t> the hobby field, that was added to the document by using the </a:t>
            </a:r>
            <a:r>
              <a:rPr lang="en-US" sz="3300" b="1" dirty="0"/>
              <a:t>“$set” </a:t>
            </a:r>
            <a:r>
              <a:rPr lang="en-US" sz="3300" dirty="0"/>
              <a:t>modifier.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For this purpose, we should use the </a:t>
            </a:r>
            <a:r>
              <a:rPr lang="en-US" sz="3300" b="1" dirty="0"/>
              <a:t>“$unset” </a:t>
            </a:r>
            <a:r>
              <a:rPr lang="en-US" sz="3300" dirty="0"/>
              <a:t>modifier.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>
              <a:solidFill>
                <a:srgbClr val="FF0000"/>
              </a:solidFill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FF0000"/>
                </a:solidFill>
              </a:rPr>
              <a:t>db.employees.updateOne</a:t>
            </a:r>
            <a:r>
              <a:rPr lang="en-US" sz="3200" dirty="0">
                <a:solidFill>
                  <a:srgbClr val="FF0000"/>
                </a:solidFill>
              </a:rPr>
              <a:t>({first_name:"</a:t>
            </a:r>
            <a:r>
              <a:rPr lang="en-US" sz="3200" dirty="0" err="1">
                <a:solidFill>
                  <a:srgbClr val="FF0000"/>
                </a:solidFill>
              </a:rPr>
              <a:t>Margaretha</a:t>
            </a:r>
            <a:r>
              <a:rPr lang="en-US" sz="3200" dirty="0">
                <a:solidFill>
                  <a:srgbClr val="FF0000"/>
                </a:solidFill>
              </a:rPr>
              <a:t>"},{"$unset" : {"hobby" : ""}})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316549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55399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Array fields: Adding elements using $push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959518"/>
            <a:ext cx="1159113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b="1" dirty="0"/>
              <a:t>"$push</a:t>
            </a:r>
            <a:r>
              <a:rPr lang="en-US" sz="2800" dirty="0"/>
              <a:t>" adds elements to the </a:t>
            </a:r>
            <a:r>
              <a:rPr lang="en-US" sz="2800" b="1" dirty="0"/>
              <a:t>end of an array </a:t>
            </a:r>
            <a:r>
              <a:rPr lang="en-US" sz="2800" dirty="0"/>
              <a:t>if the array exists and creates a new array if it does not.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/>
              <a:t>Let’s </a:t>
            </a:r>
            <a:r>
              <a:rPr lang="en-US" sz="2800" b="1" dirty="0"/>
              <a:t>add an array </a:t>
            </a:r>
            <a:r>
              <a:rPr lang="en-US" sz="2800" dirty="0"/>
              <a:t>of </a:t>
            </a:r>
            <a:r>
              <a:rPr lang="en-US" sz="2800" dirty="0" err="1"/>
              <a:t>favourite</a:t>
            </a:r>
            <a:r>
              <a:rPr lang="en-US" sz="2800" dirty="0"/>
              <a:t> fruits field to a document.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db.employees.updateOne</a:t>
            </a:r>
            <a:r>
              <a:rPr lang="en-US" sz="2800" dirty="0">
                <a:solidFill>
                  <a:srgbClr val="FF0000"/>
                </a:solidFill>
              </a:rPr>
              <a:t>({first_name:"</a:t>
            </a:r>
            <a:r>
              <a:rPr lang="en-US" sz="2800" dirty="0" err="1">
                <a:solidFill>
                  <a:srgbClr val="FF0000"/>
                </a:solidFill>
              </a:rPr>
              <a:t>Margaretha</a:t>
            </a:r>
            <a:r>
              <a:rPr lang="en-US" sz="2800" dirty="0">
                <a:solidFill>
                  <a:srgbClr val="FF0000"/>
                </a:solidFill>
              </a:rPr>
              <a:t>"},{"$push" :{"fruit": "mango"}})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/>
              <a:t>Add Strawberry to the fruit array where the 1</a:t>
            </a:r>
            <a:r>
              <a:rPr lang="en-US" sz="2800" baseline="30000" dirty="0"/>
              <a:t>st</a:t>
            </a:r>
            <a:r>
              <a:rPr lang="en-US" sz="2800" dirty="0"/>
              <a:t> element is mango,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db.employees.updateOne</a:t>
            </a:r>
            <a:r>
              <a:rPr lang="en-US" sz="2800" dirty="0">
                <a:solidFill>
                  <a:srgbClr val="FF0000"/>
                </a:solidFill>
              </a:rPr>
              <a:t>({"fruit.0":"mango"},{"$push" :{"fruit": "strawberry"}})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800" dirty="0"/>
              <a:t>Let’s add a comment to the document. </a:t>
            </a:r>
            <a:r>
              <a:rPr lang="en-US" sz="2800" dirty="0" err="1">
                <a:solidFill>
                  <a:srgbClr val="FF0000"/>
                </a:solidFill>
              </a:rPr>
              <a:t>db.employees.updateOne</a:t>
            </a:r>
            <a:r>
              <a:rPr lang="en-US" sz="2800" dirty="0">
                <a:solidFill>
                  <a:srgbClr val="FF0000"/>
                </a:solidFill>
              </a:rPr>
              <a:t>({"first_name":"</a:t>
            </a:r>
            <a:r>
              <a:rPr lang="en-US" sz="2800" dirty="0" err="1">
                <a:solidFill>
                  <a:srgbClr val="FF0000"/>
                </a:solidFill>
              </a:rPr>
              <a:t>Margaretha</a:t>
            </a:r>
            <a:r>
              <a:rPr lang="en-US" sz="2800" dirty="0">
                <a:solidFill>
                  <a:srgbClr val="FF0000"/>
                </a:solidFill>
              </a:rPr>
              <a:t>"}, {"$push":{"comments": {"</a:t>
            </a:r>
            <a:r>
              <a:rPr lang="en-US" sz="2800" dirty="0" err="1">
                <a:solidFill>
                  <a:srgbClr val="FF0000"/>
                </a:solidFill>
              </a:rPr>
              <a:t>referee_name</a:t>
            </a:r>
            <a:r>
              <a:rPr lang="en-US" sz="2800" dirty="0">
                <a:solidFill>
                  <a:srgbClr val="FF0000"/>
                </a:solidFill>
              </a:rPr>
              <a:t>" : "Abu", "</a:t>
            </a:r>
            <a:r>
              <a:rPr lang="en-US" sz="2800" dirty="0" err="1">
                <a:solidFill>
                  <a:srgbClr val="FF0000"/>
                </a:solidFill>
              </a:rPr>
              <a:t>referee_email</a:t>
            </a:r>
            <a:r>
              <a:rPr lang="en-US" sz="2800" dirty="0">
                <a:solidFill>
                  <a:srgbClr val="FF0000"/>
                </a:solidFill>
              </a:rPr>
              <a:t>" : "abu@example.com", "content" : "</a:t>
            </a:r>
            <a:r>
              <a:rPr lang="en-US" sz="2800" dirty="0" err="1">
                <a:solidFill>
                  <a:srgbClr val="FF0000"/>
                </a:solidFill>
              </a:rPr>
              <a:t>Margaretha</a:t>
            </a:r>
            <a:r>
              <a:rPr lang="en-US" sz="2800" dirty="0">
                <a:solidFill>
                  <a:srgbClr val="FF0000"/>
                </a:solidFill>
              </a:rPr>
              <a:t> is one of the best employees."}}})</a:t>
            </a:r>
          </a:p>
        </p:txBody>
      </p:sp>
    </p:spTree>
    <p:extLst>
      <p:ext uri="{BB962C8B-B14F-4D97-AF65-F5344CB8AC3E}">
        <p14:creationId xmlns:p14="http://schemas.microsoft.com/office/powerpoint/2010/main" val="1280300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46166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000" dirty="0"/>
              <a:t>Array fields: Avoid Adding existing elements using $</a:t>
            </a:r>
            <a:r>
              <a:rPr lang="en-US" sz="3000" dirty="0" err="1"/>
              <a:t>addToSet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348059" y="1100429"/>
            <a:ext cx="114958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You might want </a:t>
            </a:r>
            <a:r>
              <a:rPr lang="en-US" sz="2400" b="1" dirty="0"/>
              <a:t>to treat an array as a set</a:t>
            </a:r>
            <a:r>
              <a:rPr lang="en-US" sz="2400" dirty="0"/>
              <a:t>, only adding values if they are absent.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Mango and strawberry already exist.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We can avoid adding the same item by using </a:t>
            </a:r>
            <a:r>
              <a:rPr lang="en-US" sz="2400" b="1" dirty="0"/>
              <a:t>$</a:t>
            </a:r>
            <a:r>
              <a:rPr lang="en-US" sz="2400" b="1" dirty="0" err="1"/>
              <a:t>addToSet</a:t>
            </a:r>
            <a:r>
              <a:rPr lang="en-US" sz="2400" dirty="0"/>
              <a:t>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/>
              <a:t>We attempt to add mango again to the </a:t>
            </a:r>
            <a:r>
              <a:rPr lang="en-US" sz="2400" dirty="0" err="1"/>
              <a:t>Margaretha’s</a:t>
            </a:r>
            <a:r>
              <a:rPr lang="en-US" sz="2400" dirty="0"/>
              <a:t> document, which is not successful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db.employee.updateOne</a:t>
            </a:r>
            <a:r>
              <a:rPr lang="en-US" sz="2400" dirty="0">
                <a:solidFill>
                  <a:srgbClr val="FF0000"/>
                </a:solidFill>
              </a:rPr>
              <a:t>({"fruit.1":"strawberry"},{"$</a:t>
            </a:r>
            <a:r>
              <a:rPr lang="en-US" sz="2400" dirty="0" err="1">
                <a:solidFill>
                  <a:srgbClr val="FF0000"/>
                </a:solidFill>
              </a:rPr>
              <a:t>addToSet</a:t>
            </a:r>
            <a:r>
              <a:rPr lang="en-US" sz="2400" dirty="0">
                <a:solidFill>
                  <a:srgbClr val="FF0000"/>
                </a:solidFill>
              </a:rPr>
              <a:t>" :{"fruit": "mango"}})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2640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40C07-EEB4-B605-81EC-6120ACC85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46166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000" dirty="0"/>
              <a:t>Array fields: Dropping an element using $pop and </a:t>
            </a:r>
            <a:r>
              <a:rPr lang="en-US" sz="3000"/>
              <a:t>$pull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DD9F9-D781-E76E-8C45-6611DC2EE638}"/>
              </a:ext>
            </a:extLst>
          </p:cNvPr>
          <p:cNvSpPr txBox="1"/>
          <p:nvPr/>
        </p:nvSpPr>
        <p:spPr>
          <a:xfrm>
            <a:off x="257968" y="1031156"/>
            <a:ext cx="1159113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b="1" dirty="0"/>
              <a:t>"$pop", </a:t>
            </a:r>
            <a:r>
              <a:rPr lang="en-US" sz="3300" dirty="0"/>
              <a:t>which can remove elements from </a:t>
            </a:r>
            <a:r>
              <a:rPr lang="en-US" sz="3300" b="1" dirty="0"/>
              <a:t>either end</a:t>
            </a:r>
            <a:r>
              <a:rPr lang="en-US" sz="3300" dirty="0"/>
              <a:t>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{"$pop" : {"key" : 1}} removes an element from the end of the array. {"$pop" : {"key" : -1}} removes it from the beginning.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Let’s remove the extra mango the “$push” modifier adds.</a:t>
            </a:r>
            <a:endParaRPr lang="en-US" sz="3300" dirty="0">
              <a:solidFill>
                <a:srgbClr val="FF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FF0000"/>
                </a:solidFill>
              </a:rPr>
              <a:t>db.employees.updateOne</a:t>
            </a:r>
            <a:r>
              <a:rPr lang="en-US" sz="3300" dirty="0">
                <a:solidFill>
                  <a:srgbClr val="FF0000"/>
                </a:solidFill>
              </a:rPr>
              <a:t>({"fruit.0":"mango"},{"$pop" :{"fruit": 1}})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/>
              <a:t>We attempt to remove apple from all the documents.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FF0000"/>
                </a:solidFill>
              </a:rPr>
              <a:t>db.food.updateMany</a:t>
            </a:r>
            <a:r>
              <a:rPr lang="en-US" sz="3300" dirty="0">
                <a:solidFill>
                  <a:srgbClr val="FF0000"/>
                </a:solidFill>
              </a:rPr>
              <a:t>({},{"$pull" :{"fruit": "apple"}})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058773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13DA90-0F4D-CB41-86BF-F81D8D3B1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218" y="171450"/>
            <a:ext cx="11495882" cy="62324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References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B1B14A-2887-9641-A05C-93AC63DCB4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8823" y="1200150"/>
            <a:ext cx="11495882" cy="4154984"/>
          </a:xfrm>
        </p:spPr>
        <p:txBody>
          <a:bodyPr>
            <a:normAutofit/>
          </a:bodyPr>
          <a:lstStyle/>
          <a:p>
            <a:pPr marL="557213" indent="-557213">
              <a:buFont typeface="+mj-lt"/>
              <a:buAutoNum type="arabicPeriod"/>
            </a:pPr>
            <a:r>
              <a:rPr lang="en-US" sz="2700" dirty="0"/>
              <a:t>MongoDB book, chapters 2, 3, 4</a:t>
            </a:r>
          </a:p>
          <a:p>
            <a:r>
              <a:rPr lang="en-US" sz="2700" dirty="0">
                <a:hlinkClick r:id="" action="ppaction://noaction"/>
              </a:rPr>
              <a:t>   https://learning.oreilly.com/library/view/mongodb-the-definitive/9781491954454/</a:t>
            </a:r>
          </a:p>
          <a:p>
            <a:pPr marL="557213" indent="-557213">
              <a:buFont typeface="+mj-lt"/>
              <a:buAutoNum type="arabicPeriod"/>
            </a:pPr>
            <a:endParaRPr lang="en-US" sz="2700" dirty="0">
              <a:hlinkClick r:id="" action="ppaction://noaction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700" dirty="0"/>
              <a:t>Check </a:t>
            </a:r>
            <a:r>
              <a:rPr lang="en-US" sz="2700" dirty="0" err="1"/>
              <a:t>mongoDB</a:t>
            </a:r>
            <a:r>
              <a:rPr lang="en-US" sz="2700" dirty="0"/>
              <a:t> official documentation for each function or keyword.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800" dirty="0"/>
              <a:t>https://docs.google.com/document/d/1J9rE_nQR7IQXiHp6QLtEh_HzuVdgFQfGUiO40sK9R88/edit?usp=sharing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93629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6339</TotalTime>
  <Words>3067</Words>
  <Application>Microsoft Office PowerPoint</Application>
  <PresentationFormat>Widescreen</PresentationFormat>
  <Paragraphs>261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 Unicode MS</vt:lpstr>
      <vt:lpstr>Euclid Circular A</vt:lpstr>
      <vt:lpstr>inter-bold</vt:lpstr>
      <vt:lpstr>inter-regular</vt:lpstr>
      <vt:lpstr>Arial</vt:lpstr>
      <vt:lpstr>Calibri</vt:lpstr>
      <vt:lpstr>Calibri Light</vt:lpstr>
      <vt:lpstr>Cambria</vt:lpstr>
      <vt:lpstr>Consolas</vt:lpstr>
      <vt:lpstr>Segoe UI</vt:lpstr>
      <vt:lpstr>Verdana</vt:lpstr>
      <vt:lpstr>Wingdings</vt:lpstr>
      <vt:lpstr>Office Theme</vt:lpstr>
      <vt:lpstr>CDBM603 - Enterprise Data Architecture</vt:lpstr>
      <vt:lpstr>Todays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CDBM603 - Enterprise Data Architecture</dc:title>
  <dc:creator>Muktadir, Abu Hena Al</dc:creator>
  <cp:lastModifiedBy>Guo, Hongyu</cp:lastModifiedBy>
  <cp:revision>35</cp:revision>
  <dcterms:created xsi:type="dcterms:W3CDTF">2023-02-28T16:32:18Z</dcterms:created>
  <dcterms:modified xsi:type="dcterms:W3CDTF">2023-11-01T17:11:31Z</dcterms:modified>
</cp:coreProperties>
</file>