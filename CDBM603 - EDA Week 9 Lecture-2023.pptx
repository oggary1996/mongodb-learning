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346" r:id="rId4"/>
    <p:sldId id="347" r:id="rId5"/>
    <p:sldId id="348" r:id="rId6"/>
    <p:sldId id="349" r:id="rId7"/>
    <p:sldId id="350" r:id="rId8"/>
    <p:sldId id="352" r:id="rId9"/>
    <p:sldId id="363" r:id="rId10"/>
    <p:sldId id="396" r:id="rId11"/>
    <p:sldId id="389" r:id="rId12"/>
    <p:sldId id="390" r:id="rId13"/>
    <p:sldId id="391" r:id="rId14"/>
    <p:sldId id="399" r:id="rId15"/>
    <p:sldId id="397" r:id="rId16"/>
    <p:sldId id="392" r:id="rId17"/>
    <p:sldId id="398" r:id="rId18"/>
    <p:sldId id="361" r:id="rId19"/>
    <p:sldId id="362" r:id="rId20"/>
    <p:sldId id="374" r:id="rId21"/>
    <p:sldId id="386" r:id="rId22"/>
    <p:sldId id="385" r:id="rId23"/>
    <p:sldId id="387" r:id="rId24"/>
    <p:sldId id="401" r:id="rId25"/>
    <p:sldId id="388" r:id="rId26"/>
    <p:sldId id="354" r:id="rId27"/>
    <p:sldId id="400" r:id="rId28"/>
    <p:sldId id="393" r:id="rId29"/>
    <p:sldId id="394" r:id="rId30"/>
    <p:sldId id="355" r:id="rId31"/>
    <p:sldId id="292" r:id="rId32"/>
    <p:sldId id="39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70746" autoAdjust="0"/>
  </p:normalViewPr>
  <p:slideViewPr>
    <p:cSldViewPr snapToGrid="0">
      <p:cViewPr>
        <p:scale>
          <a:sx n="60" d="100"/>
          <a:sy n="60" d="100"/>
        </p:scale>
        <p:origin x="28" y="32"/>
      </p:cViewPr>
      <p:guideLst/>
    </p:cSldViewPr>
  </p:slideViewPr>
  <p:notesTextViewPr>
    <p:cViewPr>
      <p:scale>
        <a:sx n="1" d="1"/>
        <a:sy n="1" d="1"/>
      </p:scale>
      <p:origin x="0" y="0"/>
    </p:cViewPr>
  </p:notesTextViewPr>
  <p:sorterViewPr>
    <p:cViewPr>
      <p:scale>
        <a:sx n="150" d="100"/>
        <a:sy n="150" d="100"/>
      </p:scale>
      <p:origin x="0" y="-9437"/>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5730B1-0E0F-4849-A198-3D0133AAE0B3}"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9F532904-F5B0-40BB-BC56-B1A5DF6A67E6}">
      <dgm:prSet/>
      <dgm:spPr/>
      <dgm:t>
        <a:bodyPr/>
        <a:lstStyle/>
        <a:p>
          <a:r>
            <a:rPr lang="en-US"/>
            <a:t>Review of the last class</a:t>
          </a:r>
        </a:p>
      </dgm:t>
    </dgm:pt>
    <dgm:pt modelId="{5FCF2829-BC06-48A4-8BC1-8D268150E952}" type="parTrans" cxnId="{828B0393-7930-4DB9-93F4-ED5D27B33694}">
      <dgm:prSet/>
      <dgm:spPr/>
      <dgm:t>
        <a:bodyPr/>
        <a:lstStyle/>
        <a:p>
          <a:endParaRPr lang="en-US"/>
        </a:p>
      </dgm:t>
    </dgm:pt>
    <dgm:pt modelId="{F9C4C16A-7EC9-4EF0-9D61-274647F528C8}" type="sibTrans" cxnId="{828B0393-7930-4DB9-93F4-ED5D27B33694}">
      <dgm:prSet/>
      <dgm:spPr/>
      <dgm:t>
        <a:bodyPr/>
        <a:lstStyle/>
        <a:p>
          <a:endParaRPr lang="en-US"/>
        </a:p>
      </dgm:t>
    </dgm:pt>
    <dgm:pt modelId="{45DF7CDB-ED89-44D7-B7CB-4A35B5DF172C}">
      <dgm:prSet/>
      <dgm:spPr/>
      <dgm:t>
        <a:bodyPr/>
        <a:lstStyle/>
        <a:p>
          <a:r>
            <a:rPr lang="en-US"/>
            <a:t>MongoDB data types</a:t>
          </a:r>
        </a:p>
      </dgm:t>
    </dgm:pt>
    <dgm:pt modelId="{D550DCAF-903B-4DFA-BB75-38DAB98B6FFD}" type="parTrans" cxnId="{14B7E541-EC90-4E7A-8038-64326D3639C2}">
      <dgm:prSet/>
      <dgm:spPr/>
      <dgm:t>
        <a:bodyPr/>
        <a:lstStyle/>
        <a:p>
          <a:endParaRPr lang="en-US"/>
        </a:p>
      </dgm:t>
    </dgm:pt>
    <dgm:pt modelId="{2AA5EA4F-6076-447D-841B-2E9756586D42}" type="sibTrans" cxnId="{14B7E541-EC90-4E7A-8038-64326D3639C2}">
      <dgm:prSet/>
      <dgm:spPr/>
      <dgm:t>
        <a:bodyPr/>
        <a:lstStyle/>
        <a:p>
          <a:endParaRPr lang="en-US"/>
        </a:p>
      </dgm:t>
    </dgm:pt>
    <dgm:pt modelId="{59AFDD6D-1570-44C7-AD0C-294AFBDB5148}">
      <dgm:prSet/>
      <dgm:spPr/>
      <dgm:t>
        <a:bodyPr/>
        <a:lstStyle/>
        <a:p>
          <a:r>
            <a:rPr lang="en-US" dirty="0"/>
            <a:t>Use MongoDB shell</a:t>
          </a:r>
        </a:p>
      </dgm:t>
    </dgm:pt>
    <dgm:pt modelId="{75EAFF05-8F9D-4620-8D50-AF5138F610B9}" type="parTrans" cxnId="{67ADD7BC-242D-4E89-8001-ACD7A3F25810}">
      <dgm:prSet/>
      <dgm:spPr/>
      <dgm:t>
        <a:bodyPr/>
        <a:lstStyle/>
        <a:p>
          <a:endParaRPr lang="en-US"/>
        </a:p>
      </dgm:t>
    </dgm:pt>
    <dgm:pt modelId="{EC3823E8-33D5-45A0-AD07-8F92DA601303}" type="sibTrans" cxnId="{67ADD7BC-242D-4E89-8001-ACD7A3F25810}">
      <dgm:prSet/>
      <dgm:spPr/>
      <dgm:t>
        <a:bodyPr/>
        <a:lstStyle/>
        <a:p>
          <a:endParaRPr lang="en-US"/>
        </a:p>
      </dgm:t>
    </dgm:pt>
    <dgm:pt modelId="{24F3BD09-D95C-4012-BC6A-BE066B9B64B7}">
      <dgm:prSet/>
      <dgm:spPr/>
      <dgm:t>
        <a:bodyPr/>
        <a:lstStyle/>
        <a:p>
          <a:r>
            <a:rPr lang="en-US" dirty="0"/>
            <a:t>Learn the command to import a CSV file into MongoDB</a:t>
          </a:r>
        </a:p>
      </dgm:t>
    </dgm:pt>
    <dgm:pt modelId="{3C72B225-65CC-433D-AF98-58CCE2BFB53D}" type="parTrans" cxnId="{BDFA6114-DC74-4F97-BBDD-9FDBC410E9B3}">
      <dgm:prSet/>
      <dgm:spPr/>
      <dgm:t>
        <a:bodyPr/>
        <a:lstStyle/>
        <a:p>
          <a:endParaRPr lang="en-US"/>
        </a:p>
      </dgm:t>
    </dgm:pt>
    <dgm:pt modelId="{B58D2D20-CEC0-4D2E-9FA7-97D57EC89FC2}" type="sibTrans" cxnId="{BDFA6114-DC74-4F97-BBDD-9FDBC410E9B3}">
      <dgm:prSet/>
      <dgm:spPr/>
      <dgm:t>
        <a:bodyPr/>
        <a:lstStyle/>
        <a:p>
          <a:endParaRPr lang="en-US"/>
        </a:p>
      </dgm:t>
    </dgm:pt>
    <dgm:pt modelId="{39964926-4D3A-46DC-A3B3-D209CBB53880}">
      <dgm:prSet/>
      <dgm:spPr/>
      <dgm:t>
        <a:bodyPr/>
        <a:lstStyle/>
        <a:p>
          <a:r>
            <a:rPr lang="en-US" dirty="0"/>
            <a:t>Practice the CRUD operations with the imported dataset</a:t>
          </a:r>
        </a:p>
      </dgm:t>
    </dgm:pt>
    <dgm:pt modelId="{E5834343-70D4-4D1B-B408-6082B511ECFA}" type="parTrans" cxnId="{3D5EF595-8968-4FC1-B071-28B877F802D4}">
      <dgm:prSet/>
      <dgm:spPr/>
      <dgm:t>
        <a:bodyPr/>
        <a:lstStyle/>
        <a:p>
          <a:endParaRPr lang="en-US"/>
        </a:p>
      </dgm:t>
    </dgm:pt>
    <dgm:pt modelId="{4839BB32-E639-4816-B45F-F77632F4A4EE}" type="sibTrans" cxnId="{3D5EF595-8968-4FC1-B071-28B877F802D4}">
      <dgm:prSet/>
      <dgm:spPr/>
      <dgm:t>
        <a:bodyPr/>
        <a:lstStyle/>
        <a:p>
          <a:endParaRPr lang="en-US"/>
        </a:p>
      </dgm:t>
    </dgm:pt>
    <dgm:pt modelId="{6F6205E1-5745-4F1D-A484-3CECF70145AA}">
      <dgm:prSet/>
      <dgm:spPr/>
      <dgm:t>
        <a:bodyPr/>
        <a:lstStyle/>
        <a:p>
          <a:r>
            <a:rPr lang="en-US" dirty="0"/>
            <a:t>Schema Validation</a:t>
          </a:r>
        </a:p>
      </dgm:t>
    </dgm:pt>
    <dgm:pt modelId="{E763C969-8238-46A9-A5F1-D27542DAB2EE}" type="parTrans" cxnId="{9A52B464-5438-414E-B1B5-05E8B8D95166}">
      <dgm:prSet/>
      <dgm:spPr/>
      <dgm:t>
        <a:bodyPr/>
        <a:lstStyle/>
        <a:p>
          <a:endParaRPr lang="en-US"/>
        </a:p>
      </dgm:t>
    </dgm:pt>
    <dgm:pt modelId="{A5984869-D007-4FB7-AA5B-F8FA1FD0EC39}" type="sibTrans" cxnId="{9A52B464-5438-414E-B1B5-05E8B8D95166}">
      <dgm:prSet/>
      <dgm:spPr/>
      <dgm:t>
        <a:bodyPr/>
        <a:lstStyle/>
        <a:p>
          <a:endParaRPr lang="en-US"/>
        </a:p>
      </dgm:t>
    </dgm:pt>
    <dgm:pt modelId="{1A436EA5-BE41-48C3-BF2A-8242EEF94B2F}" type="pres">
      <dgm:prSet presAssocID="{005730B1-0E0F-4849-A198-3D0133AAE0B3}" presName="linear" presStyleCnt="0">
        <dgm:presLayoutVars>
          <dgm:animLvl val="lvl"/>
          <dgm:resizeHandles val="exact"/>
        </dgm:presLayoutVars>
      </dgm:prSet>
      <dgm:spPr/>
    </dgm:pt>
    <dgm:pt modelId="{5C32C885-E74F-4B9E-8FEB-BCDC5F1F9051}" type="pres">
      <dgm:prSet presAssocID="{9F532904-F5B0-40BB-BC56-B1A5DF6A67E6}" presName="parentText" presStyleLbl="node1" presStyleIdx="0" presStyleCnt="6">
        <dgm:presLayoutVars>
          <dgm:chMax val="0"/>
          <dgm:bulletEnabled val="1"/>
        </dgm:presLayoutVars>
      </dgm:prSet>
      <dgm:spPr/>
    </dgm:pt>
    <dgm:pt modelId="{5FD9C0F6-FA5B-47A8-ADA3-C98CDCCB81E7}" type="pres">
      <dgm:prSet presAssocID="{F9C4C16A-7EC9-4EF0-9D61-274647F528C8}" presName="spacer" presStyleCnt="0"/>
      <dgm:spPr/>
    </dgm:pt>
    <dgm:pt modelId="{9D900A03-4232-46E7-9DAE-2B897B7F5109}" type="pres">
      <dgm:prSet presAssocID="{45DF7CDB-ED89-44D7-B7CB-4A35B5DF172C}" presName="parentText" presStyleLbl="node1" presStyleIdx="1" presStyleCnt="6">
        <dgm:presLayoutVars>
          <dgm:chMax val="0"/>
          <dgm:bulletEnabled val="1"/>
        </dgm:presLayoutVars>
      </dgm:prSet>
      <dgm:spPr/>
    </dgm:pt>
    <dgm:pt modelId="{599B9D30-184E-4DB2-A247-AE409C00BA11}" type="pres">
      <dgm:prSet presAssocID="{2AA5EA4F-6076-447D-841B-2E9756586D42}" presName="spacer" presStyleCnt="0"/>
      <dgm:spPr/>
    </dgm:pt>
    <dgm:pt modelId="{0D812D68-865D-4CB5-A31A-C16975643C5A}" type="pres">
      <dgm:prSet presAssocID="{59AFDD6D-1570-44C7-AD0C-294AFBDB5148}" presName="parentText" presStyleLbl="node1" presStyleIdx="2" presStyleCnt="6">
        <dgm:presLayoutVars>
          <dgm:chMax val="0"/>
          <dgm:bulletEnabled val="1"/>
        </dgm:presLayoutVars>
      </dgm:prSet>
      <dgm:spPr/>
    </dgm:pt>
    <dgm:pt modelId="{7F81215D-2701-4DE8-9BE8-56461CBDD3CB}" type="pres">
      <dgm:prSet presAssocID="{EC3823E8-33D5-45A0-AD07-8F92DA601303}" presName="spacer" presStyleCnt="0"/>
      <dgm:spPr/>
    </dgm:pt>
    <dgm:pt modelId="{0137D1F8-212C-4247-A094-BD4D3EA8C916}" type="pres">
      <dgm:prSet presAssocID="{6F6205E1-5745-4F1D-A484-3CECF70145AA}" presName="parentText" presStyleLbl="node1" presStyleIdx="3" presStyleCnt="6">
        <dgm:presLayoutVars>
          <dgm:chMax val="0"/>
          <dgm:bulletEnabled val="1"/>
        </dgm:presLayoutVars>
      </dgm:prSet>
      <dgm:spPr/>
    </dgm:pt>
    <dgm:pt modelId="{86C471DA-680D-458D-9467-A48A340C8450}" type="pres">
      <dgm:prSet presAssocID="{A5984869-D007-4FB7-AA5B-F8FA1FD0EC39}" presName="spacer" presStyleCnt="0"/>
      <dgm:spPr/>
    </dgm:pt>
    <dgm:pt modelId="{4510DB51-F6C9-49A1-978E-914FBD57625D}" type="pres">
      <dgm:prSet presAssocID="{24F3BD09-D95C-4012-BC6A-BE066B9B64B7}" presName="parentText" presStyleLbl="node1" presStyleIdx="4" presStyleCnt="6">
        <dgm:presLayoutVars>
          <dgm:chMax val="0"/>
          <dgm:bulletEnabled val="1"/>
        </dgm:presLayoutVars>
      </dgm:prSet>
      <dgm:spPr/>
    </dgm:pt>
    <dgm:pt modelId="{67993847-DA4C-420A-9B5D-C7B8C380349E}" type="pres">
      <dgm:prSet presAssocID="{B58D2D20-CEC0-4D2E-9FA7-97D57EC89FC2}" presName="spacer" presStyleCnt="0"/>
      <dgm:spPr/>
    </dgm:pt>
    <dgm:pt modelId="{0FE965D9-0948-4371-A2A8-D6D6CD6F7C0C}" type="pres">
      <dgm:prSet presAssocID="{39964926-4D3A-46DC-A3B3-D209CBB53880}" presName="parentText" presStyleLbl="node1" presStyleIdx="5" presStyleCnt="6">
        <dgm:presLayoutVars>
          <dgm:chMax val="0"/>
          <dgm:bulletEnabled val="1"/>
        </dgm:presLayoutVars>
      </dgm:prSet>
      <dgm:spPr/>
    </dgm:pt>
  </dgm:ptLst>
  <dgm:cxnLst>
    <dgm:cxn modelId="{A330160C-1F79-4159-B6D0-0C392DDA92C5}" type="presOf" srcId="{9F532904-F5B0-40BB-BC56-B1A5DF6A67E6}" destId="{5C32C885-E74F-4B9E-8FEB-BCDC5F1F9051}" srcOrd="0" destOrd="0" presId="urn:microsoft.com/office/officeart/2005/8/layout/vList2"/>
    <dgm:cxn modelId="{BDFA6114-DC74-4F97-BBDD-9FDBC410E9B3}" srcId="{005730B1-0E0F-4849-A198-3D0133AAE0B3}" destId="{24F3BD09-D95C-4012-BC6A-BE066B9B64B7}" srcOrd="4" destOrd="0" parTransId="{3C72B225-65CC-433D-AF98-58CCE2BFB53D}" sibTransId="{B58D2D20-CEC0-4D2E-9FA7-97D57EC89FC2}"/>
    <dgm:cxn modelId="{2AD12E1E-AB64-44C2-9C96-C82FE55AB7A8}" type="presOf" srcId="{005730B1-0E0F-4849-A198-3D0133AAE0B3}" destId="{1A436EA5-BE41-48C3-BF2A-8242EEF94B2F}" srcOrd="0" destOrd="0" presId="urn:microsoft.com/office/officeart/2005/8/layout/vList2"/>
    <dgm:cxn modelId="{EBF56F2B-1A34-4166-BCE1-0DF7C2A06511}" type="presOf" srcId="{39964926-4D3A-46DC-A3B3-D209CBB53880}" destId="{0FE965D9-0948-4371-A2A8-D6D6CD6F7C0C}" srcOrd="0" destOrd="0" presId="urn:microsoft.com/office/officeart/2005/8/layout/vList2"/>
    <dgm:cxn modelId="{0A0A3935-395D-4A0F-9C45-F72C2C4BF1B2}" type="presOf" srcId="{24F3BD09-D95C-4012-BC6A-BE066B9B64B7}" destId="{4510DB51-F6C9-49A1-978E-914FBD57625D}" srcOrd="0" destOrd="0" presId="urn:microsoft.com/office/officeart/2005/8/layout/vList2"/>
    <dgm:cxn modelId="{14B7E541-EC90-4E7A-8038-64326D3639C2}" srcId="{005730B1-0E0F-4849-A198-3D0133AAE0B3}" destId="{45DF7CDB-ED89-44D7-B7CB-4A35B5DF172C}" srcOrd="1" destOrd="0" parTransId="{D550DCAF-903B-4DFA-BB75-38DAB98B6FFD}" sibTransId="{2AA5EA4F-6076-447D-841B-2E9756586D42}"/>
    <dgm:cxn modelId="{9A52B464-5438-414E-B1B5-05E8B8D95166}" srcId="{005730B1-0E0F-4849-A198-3D0133AAE0B3}" destId="{6F6205E1-5745-4F1D-A484-3CECF70145AA}" srcOrd="3" destOrd="0" parTransId="{E763C969-8238-46A9-A5F1-D27542DAB2EE}" sibTransId="{A5984869-D007-4FB7-AA5B-F8FA1FD0EC39}"/>
    <dgm:cxn modelId="{828B0393-7930-4DB9-93F4-ED5D27B33694}" srcId="{005730B1-0E0F-4849-A198-3D0133AAE0B3}" destId="{9F532904-F5B0-40BB-BC56-B1A5DF6A67E6}" srcOrd="0" destOrd="0" parTransId="{5FCF2829-BC06-48A4-8BC1-8D268150E952}" sibTransId="{F9C4C16A-7EC9-4EF0-9D61-274647F528C8}"/>
    <dgm:cxn modelId="{3D5EF595-8968-4FC1-B071-28B877F802D4}" srcId="{005730B1-0E0F-4849-A198-3D0133AAE0B3}" destId="{39964926-4D3A-46DC-A3B3-D209CBB53880}" srcOrd="5" destOrd="0" parTransId="{E5834343-70D4-4D1B-B408-6082B511ECFA}" sibTransId="{4839BB32-E639-4816-B45F-F77632F4A4EE}"/>
    <dgm:cxn modelId="{57F28B96-7C42-4D2A-B4CB-908BEC6838B7}" type="presOf" srcId="{6F6205E1-5745-4F1D-A484-3CECF70145AA}" destId="{0137D1F8-212C-4247-A094-BD4D3EA8C916}" srcOrd="0" destOrd="0" presId="urn:microsoft.com/office/officeart/2005/8/layout/vList2"/>
    <dgm:cxn modelId="{67ADD7BC-242D-4E89-8001-ACD7A3F25810}" srcId="{005730B1-0E0F-4849-A198-3D0133AAE0B3}" destId="{59AFDD6D-1570-44C7-AD0C-294AFBDB5148}" srcOrd="2" destOrd="0" parTransId="{75EAFF05-8F9D-4620-8D50-AF5138F610B9}" sibTransId="{EC3823E8-33D5-45A0-AD07-8F92DA601303}"/>
    <dgm:cxn modelId="{8911A2E4-1042-4A92-9A6D-7B45E0C31F86}" type="presOf" srcId="{59AFDD6D-1570-44C7-AD0C-294AFBDB5148}" destId="{0D812D68-865D-4CB5-A31A-C16975643C5A}" srcOrd="0" destOrd="0" presId="urn:microsoft.com/office/officeart/2005/8/layout/vList2"/>
    <dgm:cxn modelId="{A5C305EB-7E2F-4007-B0F7-217DEF4F7E6D}" type="presOf" srcId="{45DF7CDB-ED89-44D7-B7CB-4A35B5DF172C}" destId="{9D900A03-4232-46E7-9DAE-2B897B7F5109}" srcOrd="0" destOrd="0" presId="urn:microsoft.com/office/officeart/2005/8/layout/vList2"/>
    <dgm:cxn modelId="{EF88189D-07B2-42F8-895A-DB817CEE5725}" type="presParOf" srcId="{1A436EA5-BE41-48C3-BF2A-8242EEF94B2F}" destId="{5C32C885-E74F-4B9E-8FEB-BCDC5F1F9051}" srcOrd="0" destOrd="0" presId="urn:microsoft.com/office/officeart/2005/8/layout/vList2"/>
    <dgm:cxn modelId="{64B4302C-F24D-4B24-997E-2D155042A1DD}" type="presParOf" srcId="{1A436EA5-BE41-48C3-BF2A-8242EEF94B2F}" destId="{5FD9C0F6-FA5B-47A8-ADA3-C98CDCCB81E7}" srcOrd="1" destOrd="0" presId="urn:microsoft.com/office/officeart/2005/8/layout/vList2"/>
    <dgm:cxn modelId="{E9568C04-0DF0-46AD-97CB-81EBE1BD131F}" type="presParOf" srcId="{1A436EA5-BE41-48C3-BF2A-8242EEF94B2F}" destId="{9D900A03-4232-46E7-9DAE-2B897B7F5109}" srcOrd="2" destOrd="0" presId="urn:microsoft.com/office/officeart/2005/8/layout/vList2"/>
    <dgm:cxn modelId="{60402B04-EF4A-4D64-99CB-2642C720CF23}" type="presParOf" srcId="{1A436EA5-BE41-48C3-BF2A-8242EEF94B2F}" destId="{599B9D30-184E-4DB2-A247-AE409C00BA11}" srcOrd="3" destOrd="0" presId="urn:microsoft.com/office/officeart/2005/8/layout/vList2"/>
    <dgm:cxn modelId="{886D0A4A-8200-4452-AC6D-63A12427FEA2}" type="presParOf" srcId="{1A436EA5-BE41-48C3-BF2A-8242EEF94B2F}" destId="{0D812D68-865D-4CB5-A31A-C16975643C5A}" srcOrd="4" destOrd="0" presId="urn:microsoft.com/office/officeart/2005/8/layout/vList2"/>
    <dgm:cxn modelId="{0DD2BBCA-D1A5-4043-A365-66388791DFD1}" type="presParOf" srcId="{1A436EA5-BE41-48C3-BF2A-8242EEF94B2F}" destId="{7F81215D-2701-4DE8-9BE8-56461CBDD3CB}" srcOrd="5" destOrd="0" presId="urn:microsoft.com/office/officeart/2005/8/layout/vList2"/>
    <dgm:cxn modelId="{413C1687-56EC-4197-B0C9-E71AE954A83C}" type="presParOf" srcId="{1A436EA5-BE41-48C3-BF2A-8242EEF94B2F}" destId="{0137D1F8-212C-4247-A094-BD4D3EA8C916}" srcOrd="6" destOrd="0" presId="urn:microsoft.com/office/officeart/2005/8/layout/vList2"/>
    <dgm:cxn modelId="{785ACF04-F4FA-43F8-9623-9BDD550D0649}" type="presParOf" srcId="{1A436EA5-BE41-48C3-BF2A-8242EEF94B2F}" destId="{86C471DA-680D-458D-9467-A48A340C8450}" srcOrd="7" destOrd="0" presId="urn:microsoft.com/office/officeart/2005/8/layout/vList2"/>
    <dgm:cxn modelId="{D166C0BB-D255-45CE-BC57-6AA12C97EDA5}" type="presParOf" srcId="{1A436EA5-BE41-48C3-BF2A-8242EEF94B2F}" destId="{4510DB51-F6C9-49A1-978E-914FBD57625D}" srcOrd="8" destOrd="0" presId="urn:microsoft.com/office/officeart/2005/8/layout/vList2"/>
    <dgm:cxn modelId="{515D544F-4CAB-42F6-A627-BE7B5B0A3D23}" type="presParOf" srcId="{1A436EA5-BE41-48C3-BF2A-8242EEF94B2F}" destId="{67993847-DA4C-420A-9B5D-C7B8C380349E}" srcOrd="9" destOrd="0" presId="urn:microsoft.com/office/officeart/2005/8/layout/vList2"/>
    <dgm:cxn modelId="{6F0FF794-D43E-43C3-920C-934C71CBCF3F}" type="presParOf" srcId="{1A436EA5-BE41-48C3-BF2A-8242EEF94B2F}" destId="{0FE965D9-0948-4371-A2A8-D6D6CD6F7C0C}"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32C885-E74F-4B9E-8FEB-BCDC5F1F9051}">
      <dsp:nvSpPr>
        <dsp:cNvPr id="0" name=""/>
        <dsp:cNvSpPr/>
      </dsp:nvSpPr>
      <dsp:spPr>
        <a:xfrm>
          <a:off x="0" y="985549"/>
          <a:ext cx="6666833" cy="52767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Review of the last class</a:t>
          </a:r>
        </a:p>
      </dsp:txBody>
      <dsp:txXfrm>
        <a:off x="25759" y="1011308"/>
        <a:ext cx="6615315" cy="476152"/>
      </dsp:txXfrm>
    </dsp:sp>
    <dsp:sp modelId="{9D900A03-4232-46E7-9DAE-2B897B7F5109}">
      <dsp:nvSpPr>
        <dsp:cNvPr id="0" name=""/>
        <dsp:cNvSpPr/>
      </dsp:nvSpPr>
      <dsp:spPr>
        <a:xfrm>
          <a:off x="0" y="1576579"/>
          <a:ext cx="6666833" cy="527670"/>
        </a:xfrm>
        <a:prstGeom prst="roundRect">
          <a:avLst/>
        </a:prstGeom>
        <a:gradFill rotWithShape="0">
          <a:gsLst>
            <a:gs pos="0">
              <a:schemeClr val="accent5">
                <a:hueOff val="-1351709"/>
                <a:satOff val="-3484"/>
                <a:lumOff val="-2353"/>
                <a:alphaOff val="0"/>
                <a:satMod val="103000"/>
                <a:lumMod val="102000"/>
                <a:tint val="94000"/>
              </a:schemeClr>
            </a:gs>
            <a:gs pos="50000">
              <a:schemeClr val="accent5">
                <a:hueOff val="-1351709"/>
                <a:satOff val="-3484"/>
                <a:lumOff val="-2353"/>
                <a:alphaOff val="0"/>
                <a:satMod val="110000"/>
                <a:lumMod val="100000"/>
                <a:shade val="100000"/>
              </a:schemeClr>
            </a:gs>
            <a:gs pos="100000">
              <a:schemeClr val="accent5">
                <a:hueOff val="-1351709"/>
                <a:satOff val="-3484"/>
                <a:lumOff val="-235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MongoDB data types</a:t>
          </a:r>
        </a:p>
      </dsp:txBody>
      <dsp:txXfrm>
        <a:off x="25759" y="1602338"/>
        <a:ext cx="6615315" cy="476152"/>
      </dsp:txXfrm>
    </dsp:sp>
    <dsp:sp modelId="{0D812D68-865D-4CB5-A31A-C16975643C5A}">
      <dsp:nvSpPr>
        <dsp:cNvPr id="0" name=""/>
        <dsp:cNvSpPr/>
      </dsp:nvSpPr>
      <dsp:spPr>
        <a:xfrm>
          <a:off x="0" y="2167610"/>
          <a:ext cx="6666833" cy="527670"/>
        </a:xfrm>
        <a:prstGeom prst="roundRect">
          <a:avLst/>
        </a:prstGeom>
        <a:gradFill rotWithShape="0">
          <a:gsLst>
            <a:gs pos="0">
              <a:schemeClr val="accent5">
                <a:hueOff val="-2703417"/>
                <a:satOff val="-6968"/>
                <a:lumOff val="-4706"/>
                <a:alphaOff val="0"/>
                <a:satMod val="103000"/>
                <a:lumMod val="102000"/>
                <a:tint val="94000"/>
              </a:schemeClr>
            </a:gs>
            <a:gs pos="50000">
              <a:schemeClr val="accent5">
                <a:hueOff val="-2703417"/>
                <a:satOff val="-6968"/>
                <a:lumOff val="-4706"/>
                <a:alphaOff val="0"/>
                <a:satMod val="110000"/>
                <a:lumMod val="100000"/>
                <a:shade val="100000"/>
              </a:schemeClr>
            </a:gs>
            <a:gs pos="100000">
              <a:schemeClr val="accent5">
                <a:hueOff val="-2703417"/>
                <a:satOff val="-6968"/>
                <a:lumOff val="-470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Use MongoDB shell</a:t>
          </a:r>
        </a:p>
      </dsp:txBody>
      <dsp:txXfrm>
        <a:off x="25759" y="2193369"/>
        <a:ext cx="6615315" cy="476152"/>
      </dsp:txXfrm>
    </dsp:sp>
    <dsp:sp modelId="{0137D1F8-212C-4247-A094-BD4D3EA8C916}">
      <dsp:nvSpPr>
        <dsp:cNvPr id="0" name=""/>
        <dsp:cNvSpPr/>
      </dsp:nvSpPr>
      <dsp:spPr>
        <a:xfrm>
          <a:off x="0" y="2758640"/>
          <a:ext cx="6666833" cy="527670"/>
        </a:xfrm>
        <a:prstGeom prst="roundRect">
          <a:avLst/>
        </a:prstGeom>
        <a:gradFill rotWithShape="0">
          <a:gsLst>
            <a:gs pos="0">
              <a:schemeClr val="accent5">
                <a:hueOff val="-4055126"/>
                <a:satOff val="-10451"/>
                <a:lumOff val="-7059"/>
                <a:alphaOff val="0"/>
                <a:satMod val="103000"/>
                <a:lumMod val="102000"/>
                <a:tint val="94000"/>
              </a:schemeClr>
            </a:gs>
            <a:gs pos="50000">
              <a:schemeClr val="accent5">
                <a:hueOff val="-4055126"/>
                <a:satOff val="-10451"/>
                <a:lumOff val="-7059"/>
                <a:alphaOff val="0"/>
                <a:satMod val="110000"/>
                <a:lumMod val="100000"/>
                <a:shade val="100000"/>
              </a:schemeClr>
            </a:gs>
            <a:gs pos="100000">
              <a:schemeClr val="accent5">
                <a:hueOff val="-4055126"/>
                <a:satOff val="-10451"/>
                <a:lumOff val="-705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Schema Validation</a:t>
          </a:r>
        </a:p>
      </dsp:txBody>
      <dsp:txXfrm>
        <a:off x="25759" y="2784399"/>
        <a:ext cx="6615315" cy="476152"/>
      </dsp:txXfrm>
    </dsp:sp>
    <dsp:sp modelId="{4510DB51-F6C9-49A1-978E-914FBD57625D}">
      <dsp:nvSpPr>
        <dsp:cNvPr id="0" name=""/>
        <dsp:cNvSpPr/>
      </dsp:nvSpPr>
      <dsp:spPr>
        <a:xfrm>
          <a:off x="0" y="3349670"/>
          <a:ext cx="6666833" cy="527670"/>
        </a:xfrm>
        <a:prstGeom prst="roundRect">
          <a:avLst/>
        </a:prstGeom>
        <a:gradFill rotWithShape="0">
          <a:gsLst>
            <a:gs pos="0">
              <a:schemeClr val="accent5">
                <a:hueOff val="-5406834"/>
                <a:satOff val="-13935"/>
                <a:lumOff val="-9412"/>
                <a:alphaOff val="0"/>
                <a:satMod val="103000"/>
                <a:lumMod val="102000"/>
                <a:tint val="94000"/>
              </a:schemeClr>
            </a:gs>
            <a:gs pos="50000">
              <a:schemeClr val="accent5">
                <a:hueOff val="-5406834"/>
                <a:satOff val="-13935"/>
                <a:lumOff val="-9412"/>
                <a:alphaOff val="0"/>
                <a:satMod val="110000"/>
                <a:lumMod val="100000"/>
                <a:shade val="100000"/>
              </a:schemeClr>
            </a:gs>
            <a:gs pos="100000">
              <a:schemeClr val="accent5">
                <a:hueOff val="-5406834"/>
                <a:satOff val="-13935"/>
                <a:lumOff val="-941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Learn the command to import a CSV file into MongoDB</a:t>
          </a:r>
        </a:p>
      </dsp:txBody>
      <dsp:txXfrm>
        <a:off x="25759" y="3375429"/>
        <a:ext cx="6615315" cy="476152"/>
      </dsp:txXfrm>
    </dsp:sp>
    <dsp:sp modelId="{0FE965D9-0948-4371-A2A8-D6D6CD6F7C0C}">
      <dsp:nvSpPr>
        <dsp:cNvPr id="0" name=""/>
        <dsp:cNvSpPr/>
      </dsp:nvSpPr>
      <dsp:spPr>
        <a:xfrm>
          <a:off x="0" y="3940700"/>
          <a:ext cx="6666833" cy="527670"/>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Practice the CRUD operations with the imported dataset</a:t>
          </a:r>
        </a:p>
      </dsp:txBody>
      <dsp:txXfrm>
        <a:off x="25759" y="3966459"/>
        <a:ext cx="6615315" cy="47615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ACE1B7-8377-40AA-BBB0-A986963DEAD8}" type="datetimeFigureOut">
              <a:rPr lang="en-US" smtClean="0"/>
              <a:t>10/23/2023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954C1A-C5ED-4FC5-9BBC-547DF9813CD0}" type="slidenum">
              <a:rPr lang="en-US" smtClean="0"/>
              <a:t>‹#›</a:t>
            </a:fld>
            <a:endParaRPr lang="en-US"/>
          </a:p>
        </p:txBody>
      </p:sp>
    </p:spTree>
    <p:extLst>
      <p:ext uri="{BB962C8B-B14F-4D97-AF65-F5344CB8AC3E}">
        <p14:creationId xmlns:p14="http://schemas.microsoft.com/office/powerpoint/2010/main" val="800034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3954C1A-C5ED-4FC5-9BBC-547DF9813CD0}" type="slidenum">
              <a:rPr lang="en-US" smtClean="0"/>
              <a:t>1</a:t>
            </a:fld>
            <a:endParaRPr lang="en-US"/>
          </a:p>
        </p:txBody>
      </p:sp>
    </p:spTree>
    <p:extLst>
      <p:ext uri="{BB962C8B-B14F-4D97-AF65-F5344CB8AC3E}">
        <p14:creationId xmlns:p14="http://schemas.microsoft.com/office/powerpoint/2010/main" val="1189467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3954C1A-C5ED-4FC5-9BBC-547DF9813CD0}" type="slidenum">
              <a:rPr lang="en-US" smtClean="0"/>
              <a:t>2</a:t>
            </a:fld>
            <a:endParaRPr lang="en-US"/>
          </a:p>
        </p:txBody>
      </p:sp>
    </p:spTree>
    <p:extLst>
      <p:ext uri="{BB962C8B-B14F-4D97-AF65-F5344CB8AC3E}">
        <p14:creationId xmlns:p14="http://schemas.microsoft.com/office/powerpoint/2010/main" val="1224760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b="0" i="0" dirty="0">
                <a:solidFill>
                  <a:srgbClr val="333333"/>
                </a:solidFill>
                <a:effectLst/>
                <a:latin typeface="inter-regular"/>
              </a:rPr>
              <a:t>JSON object holds key/value pair. Each key is represented as a string in JSON and value can be of any type. The keys and values are separated by colon. Each key/value pair is separated by comma.</a:t>
            </a:r>
          </a:p>
          <a:p>
            <a:pPr algn="just"/>
            <a:r>
              <a:rPr lang="en-US" sz="1200" b="0" i="0" dirty="0">
                <a:solidFill>
                  <a:srgbClr val="333333"/>
                </a:solidFill>
                <a:effectLst/>
                <a:latin typeface="inter-regular"/>
              </a:rPr>
              <a:t>The curly brace </a:t>
            </a:r>
            <a:r>
              <a:rPr lang="en-US" sz="1200" b="1" i="0" dirty="0">
                <a:solidFill>
                  <a:srgbClr val="333333"/>
                </a:solidFill>
                <a:effectLst/>
                <a:latin typeface="inter-bold"/>
              </a:rPr>
              <a:t>{</a:t>
            </a:r>
            <a:r>
              <a:rPr lang="en-US" sz="1200" b="0" i="0" dirty="0">
                <a:solidFill>
                  <a:srgbClr val="333333"/>
                </a:solidFill>
                <a:effectLst/>
                <a:latin typeface="inter-regular"/>
              </a:rPr>
              <a:t> represents JSON object.</a:t>
            </a:r>
          </a:p>
          <a:p>
            <a:endParaRPr lang="en-US" dirty="0"/>
          </a:p>
        </p:txBody>
      </p:sp>
      <p:sp>
        <p:nvSpPr>
          <p:cNvPr id="4" name="Slide Number Placeholder 3"/>
          <p:cNvSpPr>
            <a:spLocks noGrp="1"/>
          </p:cNvSpPr>
          <p:nvPr>
            <p:ph type="sldNum" sz="quarter" idx="5"/>
          </p:nvPr>
        </p:nvSpPr>
        <p:spPr/>
        <p:txBody>
          <a:bodyPr/>
          <a:lstStyle/>
          <a:p>
            <a:fld id="{3C079A38-E0FA-6B40-BF6D-63F0BE10BA3D}" type="slidenum">
              <a:rPr lang="en-US" smtClean="0"/>
              <a:t>3</a:t>
            </a:fld>
            <a:endParaRPr lang="en-US"/>
          </a:p>
        </p:txBody>
      </p:sp>
    </p:spTree>
    <p:extLst>
      <p:ext uri="{BB962C8B-B14F-4D97-AF65-F5344CB8AC3E}">
        <p14:creationId xmlns:p14="http://schemas.microsoft.com/office/powerpoint/2010/main" val="1272389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079A38-E0FA-6B40-BF6D-63F0BE10BA3D}" type="slidenum">
              <a:rPr lang="en-US" smtClean="0"/>
              <a:t>4</a:t>
            </a:fld>
            <a:endParaRPr lang="en-US"/>
          </a:p>
        </p:txBody>
      </p:sp>
    </p:spTree>
    <p:extLst>
      <p:ext uri="{BB962C8B-B14F-4D97-AF65-F5344CB8AC3E}">
        <p14:creationId xmlns:p14="http://schemas.microsoft.com/office/powerpoint/2010/main" val="1805727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regular expression (shortened as regex or </a:t>
            </a:r>
            <a:r>
              <a:rPr lang="en-US" dirty="0" err="1"/>
              <a:t>regexp</a:t>
            </a:r>
            <a:r>
              <a:rPr lang="en-US" dirty="0"/>
              <a:t>;) is a sequence of characters that specifies a search pattern in the text. </a:t>
            </a:r>
          </a:p>
        </p:txBody>
      </p:sp>
      <p:sp>
        <p:nvSpPr>
          <p:cNvPr id="4" name="Slide Number Placeholder 3"/>
          <p:cNvSpPr>
            <a:spLocks noGrp="1"/>
          </p:cNvSpPr>
          <p:nvPr>
            <p:ph type="sldNum" sz="quarter" idx="5"/>
          </p:nvPr>
        </p:nvSpPr>
        <p:spPr/>
        <p:txBody>
          <a:bodyPr/>
          <a:lstStyle/>
          <a:p>
            <a:fld id="{3C079A38-E0FA-6B40-BF6D-63F0BE10BA3D}" type="slidenum">
              <a:rPr lang="en-US" smtClean="0"/>
              <a:t>7</a:t>
            </a:fld>
            <a:endParaRPr lang="en-US"/>
          </a:p>
        </p:txBody>
      </p:sp>
    </p:spTree>
    <p:extLst>
      <p:ext uri="{BB962C8B-B14F-4D97-AF65-F5344CB8AC3E}">
        <p14:creationId xmlns:p14="http://schemas.microsoft.com/office/powerpoint/2010/main" val="467428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In MongoDB, </a:t>
            </a:r>
            <a:r>
              <a:rPr lang="en-US" dirty="0" err="1"/>
              <a:t>ObjectId</a:t>
            </a:r>
            <a:r>
              <a:rPr lang="en-US" b="0" i="0" dirty="0">
                <a:solidFill>
                  <a:srgbClr val="374151"/>
                </a:solidFill>
                <a:effectLst/>
                <a:latin typeface="Söhne"/>
              </a:rPr>
              <a:t> is a 12-byte identifier that is typically used as the default value for the </a:t>
            </a:r>
            <a:r>
              <a:rPr lang="en-US" dirty="0"/>
              <a:t>_id</a:t>
            </a:r>
            <a:r>
              <a:rPr lang="en-US" b="0" i="0" dirty="0">
                <a:solidFill>
                  <a:srgbClr val="374151"/>
                </a:solidFill>
                <a:effectLst/>
                <a:latin typeface="Söhne"/>
              </a:rPr>
              <a:t> field in a document. It is a unique identifier for each document in a collection and is generated by the MongoDB server when a new document is inserted into the database. The </a:t>
            </a:r>
            <a:r>
              <a:rPr lang="en-US" dirty="0" err="1"/>
              <a:t>ObjectId</a:t>
            </a:r>
            <a:r>
              <a:rPr lang="en-US" b="0" i="0" dirty="0">
                <a:solidFill>
                  <a:srgbClr val="374151"/>
                </a:solidFill>
                <a:effectLst/>
                <a:latin typeface="Söhne"/>
              </a:rPr>
              <a:t> is designed to be globally unique across different machines and databases, making it suitable for distributed systems like MongoDB.</a:t>
            </a:r>
          </a:p>
          <a:p>
            <a:endParaRPr lang="en-US" b="0" i="0" dirty="0">
              <a:solidFill>
                <a:srgbClr val="374151"/>
              </a:solidFill>
              <a:effectLst/>
              <a:latin typeface="Söhne"/>
            </a:endParaRPr>
          </a:p>
          <a:p>
            <a:pPr algn="l"/>
            <a:r>
              <a:rPr lang="en-US" b="0" i="0" dirty="0">
                <a:solidFill>
                  <a:srgbClr val="374151"/>
                </a:solidFill>
                <a:effectLst/>
                <a:latin typeface="Söhne"/>
              </a:rPr>
              <a:t>The combination of these components ensures that each </a:t>
            </a:r>
            <a:r>
              <a:rPr lang="en-US" b="0" i="0" dirty="0" err="1">
                <a:solidFill>
                  <a:srgbClr val="374151"/>
                </a:solidFill>
                <a:effectLst/>
                <a:latin typeface="Söhne"/>
              </a:rPr>
              <a:t>ObjectId</a:t>
            </a:r>
            <a:r>
              <a:rPr lang="en-US" b="0" i="0" dirty="0">
                <a:solidFill>
                  <a:srgbClr val="374151"/>
                </a:solidFill>
                <a:effectLst/>
                <a:latin typeface="Söhne"/>
              </a:rPr>
              <a:t> is unique within a given collection and across different databases and machines.</a:t>
            </a:r>
          </a:p>
          <a:p>
            <a:pPr algn="l"/>
            <a:r>
              <a:rPr lang="en-US" b="0" i="0" dirty="0" err="1">
                <a:solidFill>
                  <a:srgbClr val="374151"/>
                </a:solidFill>
                <a:effectLst/>
                <a:latin typeface="Söhne"/>
              </a:rPr>
              <a:t>ObjectIds</a:t>
            </a:r>
            <a:r>
              <a:rPr lang="en-US" b="0" i="0" dirty="0">
                <a:solidFill>
                  <a:srgbClr val="374151"/>
                </a:solidFill>
                <a:effectLst/>
                <a:latin typeface="Söhne"/>
              </a:rPr>
              <a:t> are often used as the primary key or unique identifier for documents in a MongoDB collection, and they are automatically indexed by MongoDB for efficient querying. Additionally, they can be generated and parsed in most MongoDB client libraries, making them convenient for use in application code.</a:t>
            </a:r>
          </a:p>
          <a:p>
            <a:endParaRPr lang="en-US" dirty="0"/>
          </a:p>
        </p:txBody>
      </p:sp>
      <p:sp>
        <p:nvSpPr>
          <p:cNvPr id="4" name="Slide Number Placeholder 3"/>
          <p:cNvSpPr>
            <a:spLocks noGrp="1"/>
          </p:cNvSpPr>
          <p:nvPr>
            <p:ph type="sldNum" sz="quarter" idx="5"/>
          </p:nvPr>
        </p:nvSpPr>
        <p:spPr/>
        <p:txBody>
          <a:bodyPr/>
          <a:lstStyle/>
          <a:p>
            <a:fld id="{3C079A38-E0FA-6B40-BF6D-63F0BE10BA3D}" type="slidenum">
              <a:rPr lang="en-US" smtClean="0"/>
              <a:t>8</a:t>
            </a:fld>
            <a:endParaRPr lang="en-US"/>
          </a:p>
        </p:txBody>
      </p:sp>
    </p:spTree>
    <p:extLst>
      <p:ext uri="{BB962C8B-B14F-4D97-AF65-F5344CB8AC3E}">
        <p14:creationId xmlns:p14="http://schemas.microsoft.com/office/powerpoint/2010/main" val="3250451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Projection: describes which fields to include in the results.</a:t>
            </a:r>
          </a:p>
          <a:p>
            <a:r>
              <a:rPr lang="en-CA" dirty="0"/>
              <a:t>This parameter is optional. If omitted, all fields will be included in the results. </a:t>
            </a:r>
          </a:p>
          <a:p>
            <a:endParaRPr lang="en-CA" dirty="0"/>
          </a:p>
          <a:p>
            <a:r>
              <a:rPr lang="en-US" dirty="0" err="1"/>
              <a:t>db</a:t>
            </a:r>
            <a:r>
              <a:rPr lang="en-US" dirty="0" err="1">
                <a:solidFill>
                  <a:srgbClr val="999999"/>
                </a:solidFill>
                <a:effectLst/>
              </a:rPr>
              <a:t>.</a:t>
            </a:r>
            <a:r>
              <a:rPr lang="en-US" dirty="0" err="1"/>
              <a:t>posts</a:t>
            </a:r>
            <a:r>
              <a:rPr lang="en-US" dirty="0" err="1">
                <a:solidFill>
                  <a:srgbClr val="999999"/>
                </a:solidFill>
                <a:effectLst/>
              </a:rPr>
              <a:t>.</a:t>
            </a:r>
            <a:r>
              <a:rPr lang="en-US" dirty="0" err="1">
                <a:solidFill>
                  <a:srgbClr val="DD4A68"/>
                </a:solidFill>
                <a:effectLst/>
              </a:rPr>
              <a:t>find</a:t>
            </a:r>
            <a:r>
              <a:rPr lang="en-US" dirty="0">
                <a:solidFill>
                  <a:srgbClr val="999999"/>
                </a:solidFill>
                <a:effectLst/>
              </a:rPr>
              <a:t>({},</a:t>
            </a:r>
            <a:r>
              <a:rPr lang="en-US" dirty="0"/>
              <a:t> </a:t>
            </a:r>
            <a:r>
              <a:rPr lang="en-US" dirty="0">
                <a:solidFill>
                  <a:srgbClr val="999999"/>
                </a:solidFill>
                <a:effectLst/>
              </a:rPr>
              <a:t>{</a:t>
            </a:r>
            <a:r>
              <a:rPr lang="en-US" dirty="0">
                <a:solidFill>
                  <a:srgbClr val="990055"/>
                </a:solidFill>
                <a:effectLst/>
              </a:rPr>
              <a:t>title</a:t>
            </a:r>
            <a:r>
              <a:rPr lang="en-US" dirty="0">
                <a:solidFill>
                  <a:srgbClr val="9A6E3A"/>
                </a:solidFill>
                <a:effectLst/>
              </a:rPr>
              <a:t>:</a:t>
            </a:r>
            <a:r>
              <a:rPr lang="en-US" dirty="0"/>
              <a:t> </a:t>
            </a:r>
            <a:r>
              <a:rPr lang="en-US" dirty="0">
                <a:solidFill>
                  <a:srgbClr val="990055"/>
                </a:solidFill>
                <a:effectLst/>
              </a:rPr>
              <a:t>1</a:t>
            </a:r>
            <a:r>
              <a:rPr lang="en-US" dirty="0">
                <a:solidFill>
                  <a:srgbClr val="999999"/>
                </a:solidFill>
                <a:effectLst/>
              </a:rPr>
              <a:t>,</a:t>
            </a:r>
            <a:r>
              <a:rPr lang="en-US" dirty="0"/>
              <a:t> </a:t>
            </a:r>
            <a:r>
              <a:rPr lang="en-US" dirty="0">
                <a:solidFill>
                  <a:srgbClr val="990055"/>
                </a:solidFill>
                <a:effectLst/>
              </a:rPr>
              <a:t>date</a:t>
            </a:r>
            <a:r>
              <a:rPr lang="en-US" dirty="0">
                <a:solidFill>
                  <a:srgbClr val="9A6E3A"/>
                </a:solidFill>
                <a:effectLst/>
              </a:rPr>
              <a:t>:</a:t>
            </a:r>
            <a:r>
              <a:rPr lang="en-US" dirty="0"/>
              <a:t> </a:t>
            </a:r>
            <a:r>
              <a:rPr lang="en-US" dirty="0">
                <a:solidFill>
                  <a:srgbClr val="990055"/>
                </a:solidFill>
                <a:effectLst/>
              </a:rPr>
              <a:t>1</a:t>
            </a:r>
            <a:r>
              <a:rPr lang="en-US" dirty="0">
                <a:solidFill>
                  <a:srgbClr val="999999"/>
                </a:solidFill>
                <a:effectLst/>
              </a:rPr>
              <a:t>})</a:t>
            </a:r>
          </a:p>
          <a:p>
            <a:r>
              <a:rPr lang="en-US" b="0" i="0" dirty="0">
                <a:solidFill>
                  <a:srgbClr val="000000"/>
                </a:solidFill>
                <a:effectLst/>
                <a:latin typeface="Verdana" panose="020B0604030504040204" pitchFamily="34" charset="0"/>
              </a:rPr>
              <a:t>Notice that the </a:t>
            </a:r>
            <a:r>
              <a:rPr lang="en-US" dirty="0"/>
              <a:t>_id</a:t>
            </a:r>
            <a:r>
              <a:rPr lang="en-US" b="0" i="0" dirty="0">
                <a:solidFill>
                  <a:srgbClr val="000000"/>
                </a:solidFill>
                <a:effectLst/>
                <a:latin typeface="Verdana" panose="020B0604030504040204" pitchFamily="34" charset="0"/>
              </a:rPr>
              <a:t> field is also included. This field is always included unless specifically excluded.</a:t>
            </a:r>
          </a:p>
          <a:p>
            <a:r>
              <a:rPr lang="en-US" b="0" i="0" dirty="0">
                <a:solidFill>
                  <a:srgbClr val="000000"/>
                </a:solidFill>
                <a:effectLst/>
                <a:latin typeface="Verdana" panose="020B0604030504040204" pitchFamily="34" charset="0"/>
              </a:rPr>
              <a:t>We use a </a:t>
            </a:r>
            <a:r>
              <a:rPr lang="en-US" dirty="0"/>
              <a:t>1</a:t>
            </a:r>
            <a:r>
              <a:rPr lang="en-US" b="0" i="0" dirty="0">
                <a:solidFill>
                  <a:srgbClr val="000000"/>
                </a:solidFill>
                <a:effectLst/>
                <a:latin typeface="Verdana" panose="020B0604030504040204" pitchFamily="34" charset="0"/>
              </a:rPr>
              <a:t> to include a field and </a:t>
            </a:r>
            <a:r>
              <a:rPr lang="en-US" dirty="0"/>
              <a:t>0</a:t>
            </a:r>
            <a:r>
              <a:rPr lang="en-US" b="0" i="0" dirty="0">
                <a:solidFill>
                  <a:srgbClr val="000000"/>
                </a:solidFill>
                <a:effectLst/>
                <a:latin typeface="Verdana" panose="020B0604030504040204" pitchFamily="34" charset="0"/>
              </a:rPr>
              <a:t> to exclude a field.</a:t>
            </a:r>
          </a:p>
          <a:p>
            <a:endParaRPr lang="en-US" b="0" i="0" dirty="0">
              <a:solidFill>
                <a:srgbClr val="000000"/>
              </a:solidFill>
              <a:effectLst/>
              <a:latin typeface="Verdana" panose="020B0604030504040204" pitchFamily="34" charset="0"/>
            </a:endParaRPr>
          </a:p>
          <a:p>
            <a:r>
              <a:rPr lang="en-US" b="1" i="0" dirty="0">
                <a:solidFill>
                  <a:srgbClr val="000000"/>
                </a:solidFill>
                <a:effectLst/>
                <a:latin typeface="Verdana" panose="020B0604030504040204" pitchFamily="34" charset="0"/>
              </a:rPr>
              <a:t>Note:</a:t>
            </a:r>
            <a:r>
              <a:rPr lang="en-US" b="0" i="0" dirty="0">
                <a:solidFill>
                  <a:srgbClr val="000000"/>
                </a:solidFill>
                <a:effectLst/>
                <a:latin typeface="Verdana" panose="020B0604030504040204" pitchFamily="34" charset="0"/>
              </a:rPr>
              <a:t> You cannot use both 0 and 1 in the same object. The only exception is the </a:t>
            </a:r>
            <a:r>
              <a:rPr lang="en-US" dirty="0"/>
              <a:t>_id</a:t>
            </a:r>
            <a:r>
              <a:rPr lang="en-US" b="0" i="0" dirty="0">
                <a:solidFill>
                  <a:srgbClr val="000000"/>
                </a:solidFill>
                <a:effectLst/>
                <a:latin typeface="Verdana" panose="020B0604030504040204" pitchFamily="34" charset="0"/>
              </a:rPr>
              <a:t> field. You should either specify the fields you would like to include or the fields you would like to exclude.</a:t>
            </a:r>
          </a:p>
          <a:p>
            <a:endParaRPr lang="en-US" b="0" i="0" dirty="0">
              <a:solidFill>
                <a:srgbClr val="000000"/>
              </a:solidFill>
              <a:effectLst/>
              <a:latin typeface="Verdana" panose="020B0604030504040204" pitchFamily="34" charset="0"/>
            </a:endParaRPr>
          </a:p>
          <a:p>
            <a:r>
              <a:rPr lang="en-US" dirty="0" err="1"/>
              <a:t>db</a:t>
            </a:r>
            <a:r>
              <a:rPr lang="en-US" dirty="0" err="1">
                <a:solidFill>
                  <a:srgbClr val="999999"/>
                </a:solidFill>
                <a:effectLst/>
              </a:rPr>
              <a:t>.</a:t>
            </a:r>
            <a:r>
              <a:rPr lang="en-US" dirty="0" err="1"/>
              <a:t>posts</a:t>
            </a:r>
            <a:r>
              <a:rPr lang="en-US" dirty="0" err="1">
                <a:solidFill>
                  <a:srgbClr val="999999"/>
                </a:solidFill>
                <a:effectLst/>
              </a:rPr>
              <a:t>.</a:t>
            </a:r>
            <a:r>
              <a:rPr lang="en-US" dirty="0" err="1">
                <a:solidFill>
                  <a:srgbClr val="DD4A68"/>
                </a:solidFill>
                <a:effectLst/>
              </a:rPr>
              <a:t>find</a:t>
            </a:r>
            <a:r>
              <a:rPr lang="en-US" dirty="0">
                <a:solidFill>
                  <a:srgbClr val="999999"/>
                </a:solidFill>
                <a:effectLst/>
              </a:rPr>
              <a:t>({},</a:t>
            </a:r>
            <a:r>
              <a:rPr lang="en-US" dirty="0"/>
              <a:t> </a:t>
            </a:r>
            <a:r>
              <a:rPr lang="en-US" dirty="0">
                <a:solidFill>
                  <a:srgbClr val="999999"/>
                </a:solidFill>
                <a:effectLst/>
              </a:rPr>
              <a:t>{</a:t>
            </a:r>
            <a:r>
              <a:rPr lang="en-US" dirty="0">
                <a:solidFill>
                  <a:srgbClr val="990055"/>
                </a:solidFill>
                <a:effectLst/>
              </a:rPr>
              <a:t>_id</a:t>
            </a:r>
            <a:r>
              <a:rPr lang="en-US" dirty="0">
                <a:solidFill>
                  <a:srgbClr val="9A6E3A"/>
                </a:solidFill>
                <a:effectLst/>
              </a:rPr>
              <a:t>:</a:t>
            </a:r>
            <a:r>
              <a:rPr lang="en-US" dirty="0"/>
              <a:t> </a:t>
            </a:r>
            <a:r>
              <a:rPr lang="en-US" dirty="0">
                <a:solidFill>
                  <a:srgbClr val="990055"/>
                </a:solidFill>
                <a:effectLst/>
              </a:rPr>
              <a:t>0</a:t>
            </a:r>
            <a:r>
              <a:rPr lang="en-US" dirty="0">
                <a:solidFill>
                  <a:srgbClr val="999999"/>
                </a:solidFill>
                <a:effectLst/>
              </a:rPr>
              <a:t>,</a:t>
            </a:r>
            <a:r>
              <a:rPr lang="en-US" dirty="0"/>
              <a:t> </a:t>
            </a:r>
            <a:r>
              <a:rPr lang="en-US" dirty="0">
                <a:solidFill>
                  <a:srgbClr val="990055"/>
                </a:solidFill>
                <a:effectLst/>
              </a:rPr>
              <a:t>title</a:t>
            </a:r>
            <a:r>
              <a:rPr lang="en-US" dirty="0">
                <a:solidFill>
                  <a:srgbClr val="9A6E3A"/>
                </a:solidFill>
                <a:effectLst/>
              </a:rPr>
              <a:t>:</a:t>
            </a:r>
            <a:r>
              <a:rPr lang="en-US" dirty="0"/>
              <a:t> </a:t>
            </a:r>
            <a:r>
              <a:rPr lang="en-US" dirty="0">
                <a:solidFill>
                  <a:srgbClr val="990055"/>
                </a:solidFill>
                <a:effectLst/>
              </a:rPr>
              <a:t>1</a:t>
            </a:r>
            <a:r>
              <a:rPr lang="en-US" dirty="0">
                <a:solidFill>
                  <a:srgbClr val="999999"/>
                </a:solidFill>
                <a:effectLst/>
              </a:rPr>
              <a:t>,</a:t>
            </a:r>
            <a:r>
              <a:rPr lang="en-US" dirty="0"/>
              <a:t> </a:t>
            </a:r>
            <a:r>
              <a:rPr lang="en-US" dirty="0">
                <a:solidFill>
                  <a:srgbClr val="990055"/>
                </a:solidFill>
                <a:effectLst/>
              </a:rPr>
              <a:t>date</a:t>
            </a:r>
            <a:r>
              <a:rPr lang="en-US" dirty="0">
                <a:solidFill>
                  <a:srgbClr val="9A6E3A"/>
                </a:solidFill>
                <a:effectLst/>
              </a:rPr>
              <a:t>:</a:t>
            </a:r>
            <a:r>
              <a:rPr lang="en-US" dirty="0"/>
              <a:t> </a:t>
            </a:r>
            <a:r>
              <a:rPr lang="en-US" dirty="0">
                <a:solidFill>
                  <a:srgbClr val="990055"/>
                </a:solidFill>
                <a:effectLst/>
              </a:rPr>
              <a:t>1</a:t>
            </a:r>
            <a:r>
              <a:rPr lang="en-US" dirty="0">
                <a:solidFill>
                  <a:srgbClr val="999999"/>
                </a:solidFill>
                <a:effectLst/>
              </a:rPr>
              <a:t>})</a:t>
            </a:r>
          </a:p>
          <a:p>
            <a:endParaRPr lang="en-US" dirty="0">
              <a:solidFill>
                <a:srgbClr val="999999"/>
              </a:solidFill>
              <a:effectLst/>
            </a:endParaRPr>
          </a:p>
          <a:p>
            <a:r>
              <a:rPr lang="en-US" b="0" i="0" dirty="0">
                <a:solidFill>
                  <a:srgbClr val="000000"/>
                </a:solidFill>
                <a:effectLst/>
                <a:latin typeface="Verdana" panose="020B0604030504040204" pitchFamily="34" charset="0"/>
              </a:rPr>
              <a:t>We will get an error if we try to specify both 0 and 1 in the same object.</a:t>
            </a:r>
            <a:endParaRPr lang="en-US" b="0" i="0" dirty="0">
              <a:solidFill>
                <a:srgbClr val="999999"/>
              </a:solidFill>
              <a:effectLst/>
              <a:latin typeface="Verdana" panose="020B0604030504040204" pitchFamily="34" charset="0"/>
            </a:endParaRPr>
          </a:p>
          <a:p>
            <a:r>
              <a:rPr lang="en-US" dirty="0" err="1"/>
              <a:t>db</a:t>
            </a:r>
            <a:r>
              <a:rPr lang="en-US" dirty="0" err="1">
                <a:solidFill>
                  <a:srgbClr val="999999"/>
                </a:solidFill>
                <a:effectLst/>
              </a:rPr>
              <a:t>.</a:t>
            </a:r>
            <a:r>
              <a:rPr lang="en-US" dirty="0" err="1"/>
              <a:t>posts</a:t>
            </a:r>
            <a:r>
              <a:rPr lang="en-US" dirty="0" err="1">
                <a:solidFill>
                  <a:srgbClr val="999999"/>
                </a:solidFill>
                <a:effectLst/>
              </a:rPr>
              <a:t>.</a:t>
            </a:r>
            <a:r>
              <a:rPr lang="en-US" dirty="0" err="1">
                <a:solidFill>
                  <a:srgbClr val="DD4A68"/>
                </a:solidFill>
                <a:effectLst/>
              </a:rPr>
              <a:t>find</a:t>
            </a:r>
            <a:r>
              <a:rPr lang="en-US" dirty="0">
                <a:solidFill>
                  <a:srgbClr val="999999"/>
                </a:solidFill>
                <a:effectLst/>
              </a:rPr>
              <a:t>({},</a:t>
            </a:r>
            <a:r>
              <a:rPr lang="en-US" dirty="0"/>
              <a:t> </a:t>
            </a:r>
            <a:r>
              <a:rPr lang="en-US" dirty="0">
                <a:solidFill>
                  <a:srgbClr val="999999"/>
                </a:solidFill>
                <a:effectLst/>
              </a:rPr>
              <a:t>{</a:t>
            </a:r>
            <a:r>
              <a:rPr lang="en-US" dirty="0">
                <a:solidFill>
                  <a:srgbClr val="990055"/>
                </a:solidFill>
                <a:effectLst/>
              </a:rPr>
              <a:t>title</a:t>
            </a:r>
            <a:r>
              <a:rPr lang="en-US" dirty="0">
                <a:solidFill>
                  <a:srgbClr val="9A6E3A"/>
                </a:solidFill>
                <a:effectLst/>
              </a:rPr>
              <a:t>:</a:t>
            </a:r>
            <a:r>
              <a:rPr lang="en-US" dirty="0"/>
              <a:t> </a:t>
            </a:r>
            <a:r>
              <a:rPr lang="en-US" dirty="0">
                <a:solidFill>
                  <a:srgbClr val="990055"/>
                </a:solidFill>
                <a:effectLst/>
              </a:rPr>
              <a:t>1</a:t>
            </a:r>
            <a:r>
              <a:rPr lang="en-US" dirty="0">
                <a:solidFill>
                  <a:srgbClr val="999999"/>
                </a:solidFill>
                <a:effectLst/>
              </a:rPr>
              <a:t>,</a:t>
            </a:r>
            <a:r>
              <a:rPr lang="en-US" dirty="0"/>
              <a:t> </a:t>
            </a:r>
            <a:r>
              <a:rPr lang="en-US" dirty="0">
                <a:solidFill>
                  <a:srgbClr val="990055"/>
                </a:solidFill>
                <a:effectLst/>
              </a:rPr>
              <a:t>date</a:t>
            </a:r>
            <a:r>
              <a:rPr lang="en-US" dirty="0">
                <a:solidFill>
                  <a:srgbClr val="9A6E3A"/>
                </a:solidFill>
                <a:effectLst/>
              </a:rPr>
              <a:t>:</a:t>
            </a:r>
            <a:r>
              <a:rPr lang="en-US" dirty="0"/>
              <a:t> </a:t>
            </a:r>
            <a:r>
              <a:rPr lang="en-US" dirty="0">
                <a:solidFill>
                  <a:srgbClr val="990055"/>
                </a:solidFill>
                <a:effectLst/>
              </a:rPr>
              <a:t>0</a:t>
            </a:r>
            <a:r>
              <a:rPr lang="en-US" dirty="0">
                <a:solidFill>
                  <a:srgbClr val="999999"/>
                </a:solidFill>
                <a:effectLst/>
              </a:rPr>
              <a:t>})</a:t>
            </a:r>
          </a:p>
          <a:p>
            <a:r>
              <a:rPr lang="en-CA" dirty="0" err="1"/>
              <a:t>db.posts.find</a:t>
            </a:r>
            <a:r>
              <a:rPr lang="en-CA" dirty="0"/>
              <a:t>({}, {category: 0})</a:t>
            </a:r>
          </a:p>
        </p:txBody>
      </p:sp>
      <p:sp>
        <p:nvSpPr>
          <p:cNvPr id="4" name="Slide Number Placeholder 3"/>
          <p:cNvSpPr>
            <a:spLocks noGrp="1"/>
          </p:cNvSpPr>
          <p:nvPr>
            <p:ph type="sldNum" sz="quarter" idx="5"/>
          </p:nvPr>
        </p:nvSpPr>
        <p:spPr/>
        <p:txBody>
          <a:bodyPr/>
          <a:lstStyle/>
          <a:p>
            <a:fld id="{43954C1A-C5ED-4FC5-9BBC-547DF9813CD0}" type="slidenum">
              <a:rPr lang="en-US" smtClean="0"/>
              <a:t>12</a:t>
            </a:fld>
            <a:endParaRPr lang="en-US"/>
          </a:p>
        </p:txBody>
      </p:sp>
    </p:spTree>
    <p:extLst>
      <p:ext uri="{BB962C8B-B14F-4D97-AF65-F5344CB8AC3E}">
        <p14:creationId xmlns:p14="http://schemas.microsoft.com/office/powerpoint/2010/main" val="3570163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Verdana" panose="020B0604030504040204" pitchFamily="34" charset="0"/>
              </a:rPr>
              <a:t>we need to use the </a:t>
            </a:r>
            <a:r>
              <a:rPr lang="en-US" dirty="0"/>
              <a:t>$set</a:t>
            </a:r>
            <a:r>
              <a:rPr lang="en-US" b="0" i="0" dirty="0">
                <a:solidFill>
                  <a:srgbClr val="000000"/>
                </a:solidFill>
                <a:effectLst/>
                <a:latin typeface="Verdana" panose="020B0604030504040204" pitchFamily="34" charset="0"/>
              </a:rPr>
              <a:t> operator.</a:t>
            </a:r>
            <a:endParaRPr lang="en-CA" dirty="0"/>
          </a:p>
        </p:txBody>
      </p:sp>
      <p:sp>
        <p:nvSpPr>
          <p:cNvPr id="4" name="Slide Number Placeholder 3"/>
          <p:cNvSpPr>
            <a:spLocks noGrp="1"/>
          </p:cNvSpPr>
          <p:nvPr>
            <p:ph type="sldNum" sz="quarter" idx="5"/>
          </p:nvPr>
        </p:nvSpPr>
        <p:spPr/>
        <p:txBody>
          <a:bodyPr/>
          <a:lstStyle/>
          <a:p>
            <a:fld id="{43954C1A-C5ED-4FC5-9BBC-547DF9813CD0}" type="slidenum">
              <a:rPr lang="en-US" smtClean="0"/>
              <a:t>13</a:t>
            </a:fld>
            <a:endParaRPr lang="en-US"/>
          </a:p>
        </p:txBody>
      </p:sp>
    </p:spTree>
    <p:extLst>
      <p:ext uri="{BB962C8B-B14F-4D97-AF65-F5344CB8AC3E}">
        <p14:creationId xmlns:p14="http://schemas.microsoft.com/office/powerpoint/2010/main" val="3556999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00000"/>
                </a:solidFill>
                <a:effectLst/>
                <a:latin typeface="Verdana" panose="020B0604030504040204" pitchFamily="34" charset="0"/>
              </a:rPr>
              <a:t>The </a:t>
            </a:r>
            <a:r>
              <a:rPr lang="en-US" b="0" i="0" dirty="0" err="1">
                <a:solidFill>
                  <a:srgbClr val="000000"/>
                </a:solidFill>
                <a:effectLst/>
                <a:latin typeface="Verdana" panose="020B0604030504040204" pitchFamily="34" charset="0"/>
              </a:rPr>
              <a:t>deleteMany</a:t>
            </a:r>
            <a:r>
              <a:rPr lang="en-US" b="0" i="0" dirty="0">
                <a:solidFill>
                  <a:srgbClr val="000000"/>
                </a:solidFill>
                <a:effectLst/>
                <a:latin typeface="Verdana" panose="020B0604030504040204" pitchFamily="34" charset="0"/>
              </a:rPr>
              <a:t>() method will delete all documents that match the query provided.</a:t>
            </a:r>
          </a:p>
          <a:p>
            <a:pPr algn="l"/>
            <a:r>
              <a:rPr lang="en-US" b="0" i="0" dirty="0">
                <a:solidFill>
                  <a:srgbClr val="000000"/>
                </a:solidFill>
                <a:effectLst/>
                <a:latin typeface="Segoe UI" panose="020B0502040204020203" pitchFamily="34" charset="0"/>
              </a:rPr>
              <a:t>Example</a:t>
            </a:r>
          </a:p>
          <a:p>
            <a:r>
              <a:rPr lang="en-US" dirty="0" err="1"/>
              <a:t>db</a:t>
            </a:r>
            <a:r>
              <a:rPr lang="en-US" dirty="0" err="1">
                <a:solidFill>
                  <a:srgbClr val="999999"/>
                </a:solidFill>
                <a:effectLst/>
              </a:rPr>
              <a:t>.</a:t>
            </a:r>
            <a:r>
              <a:rPr lang="en-US" dirty="0" err="1"/>
              <a:t>posts</a:t>
            </a:r>
            <a:r>
              <a:rPr lang="en-US" dirty="0" err="1">
                <a:solidFill>
                  <a:srgbClr val="999999"/>
                </a:solidFill>
                <a:effectLst/>
              </a:rPr>
              <a:t>.</a:t>
            </a:r>
            <a:r>
              <a:rPr lang="en-US" dirty="0" err="1">
                <a:solidFill>
                  <a:srgbClr val="DD4A68"/>
                </a:solidFill>
                <a:effectLst/>
              </a:rPr>
              <a:t>deleteMany</a:t>
            </a:r>
            <a:r>
              <a:rPr lang="en-US" dirty="0">
                <a:solidFill>
                  <a:srgbClr val="999999"/>
                </a:solidFill>
                <a:effectLst/>
              </a:rPr>
              <a:t>({</a:t>
            </a:r>
            <a:r>
              <a:rPr lang="en-US" dirty="0"/>
              <a:t> </a:t>
            </a:r>
            <a:r>
              <a:rPr lang="en-US" dirty="0">
                <a:solidFill>
                  <a:srgbClr val="990055"/>
                </a:solidFill>
                <a:effectLst/>
              </a:rPr>
              <a:t>category</a:t>
            </a:r>
            <a:r>
              <a:rPr lang="en-US" dirty="0">
                <a:solidFill>
                  <a:srgbClr val="9A6E3A"/>
                </a:solidFill>
                <a:effectLst/>
              </a:rPr>
              <a:t>:</a:t>
            </a:r>
            <a:r>
              <a:rPr lang="en-US" dirty="0"/>
              <a:t> </a:t>
            </a:r>
            <a:r>
              <a:rPr lang="en-US" dirty="0">
                <a:solidFill>
                  <a:srgbClr val="669900"/>
                </a:solidFill>
                <a:effectLst/>
              </a:rPr>
              <a:t>"Technology"</a:t>
            </a:r>
            <a:r>
              <a:rPr lang="en-US" dirty="0"/>
              <a:t> </a:t>
            </a:r>
            <a:r>
              <a:rPr lang="en-US" dirty="0">
                <a:solidFill>
                  <a:srgbClr val="999999"/>
                </a:solidFill>
                <a:effectLst/>
              </a:rPr>
              <a:t>})</a:t>
            </a:r>
            <a:endParaRPr lang="en-CA" dirty="0"/>
          </a:p>
        </p:txBody>
      </p:sp>
      <p:sp>
        <p:nvSpPr>
          <p:cNvPr id="4" name="Slide Number Placeholder 3"/>
          <p:cNvSpPr>
            <a:spLocks noGrp="1"/>
          </p:cNvSpPr>
          <p:nvPr>
            <p:ph type="sldNum" sz="quarter" idx="5"/>
          </p:nvPr>
        </p:nvSpPr>
        <p:spPr/>
        <p:txBody>
          <a:bodyPr/>
          <a:lstStyle/>
          <a:p>
            <a:fld id="{43954C1A-C5ED-4FC5-9BBC-547DF9813CD0}" type="slidenum">
              <a:rPr lang="en-US" smtClean="0"/>
              <a:t>16</a:t>
            </a:fld>
            <a:endParaRPr lang="en-US"/>
          </a:p>
        </p:txBody>
      </p:sp>
    </p:spTree>
    <p:extLst>
      <p:ext uri="{BB962C8B-B14F-4D97-AF65-F5344CB8AC3E}">
        <p14:creationId xmlns:p14="http://schemas.microsoft.com/office/powerpoint/2010/main" val="880100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079A38-E0FA-6B40-BF6D-63F0BE10BA3D}" type="slidenum">
              <a:rPr lang="en-US" smtClean="0"/>
              <a:t>18</a:t>
            </a:fld>
            <a:endParaRPr lang="en-US"/>
          </a:p>
        </p:txBody>
      </p:sp>
    </p:spTree>
    <p:extLst>
      <p:ext uri="{BB962C8B-B14F-4D97-AF65-F5344CB8AC3E}">
        <p14:creationId xmlns:p14="http://schemas.microsoft.com/office/powerpoint/2010/main" val="3586784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079A38-E0FA-6B40-BF6D-63F0BE10BA3D}" type="slidenum">
              <a:rPr lang="en-US" smtClean="0"/>
              <a:t>19</a:t>
            </a:fld>
            <a:endParaRPr lang="en-US"/>
          </a:p>
        </p:txBody>
      </p:sp>
    </p:spTree>
    <p:extLst>
      <p:ext uri="{BB962C8B-B14F-4D97-AF65-F5344CB8AC3E}">
        <p14:creationId xmlns:p14="http://schemas.microsoft.com/office/powerpoint/2010/main" val="1766498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Verdana" panose="020B0604030504040204" pitchFamily="34" charset="0"/>
              </a:rPr>
              <a:t>Schema validation rules can be created in order to ensure that all documents a collection share a similar structure.</a:t>
            </a:r>
            <a:endParaRPr lang="en-US" dirty="0"/>
          </a:p>
        </p:txBody>
      </p:sp>
      <p:sp>
        <p:nvSpPr>
          <p:cNvPr id="4" name="Slide Number Placeholder 3"/>
          <p:cNvSpPr>
            <a:spLocks noGrp="1"/>
          </p:cNvSpPr>
          <p:nvPr>
            <p:ph type="sldNum" sz="quarter" idx="5"/>
          </p:nvPr>
        </p:nvSpPr>
        <p:spPr/>
        <p:txBody>
          <a:bodyPr/>
          <a:lstStyle/>
          <a:p>
            <a:fld id="{3C079A38-E0FA-6B40-BF6D-63F0BE10BA3D}" type="slidenum">
              <a:rPr lang="en-US" smtClean="0"/>
              <a:t>20</a:t>
            </a:fld>
            <a:endParaRPr lang="en-US"/>
          </a:p>
        </p:txBody>
      </p:sp>
    </p:spTree>
    <p:extLst>
      <p:ext uri="{BB962C8B-B14F-4D97-AF65-F5344CB8AC3E}">
        <p14:creationId xmlns:p14="http://schemas.microsoft.com/office/powerpoint/2010/main" val="6270028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079A38-E0FA-6B40-BF6D-63F0BE10BA3D}" type="slidenum">
              <a:rPr lang="en-US" smtClean="0"/>
              <a:t>21</a:t>
            </a:fld>
            <a:endParaRPr lang="en-US"/>
          </a:p>
        </p:txBody>
      </p:sp>
    </p:spTree>
    <p:extLst>
      <p:ext uri="{BB962C8B-B14F-4D97-AF65-F5344CB8AC3E}">
        <p14:creationId xmlns:p14="http://schemas.microsoft.com/office/powerpoint/2010/main" val="12524925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079A38-E0FA-6B40-BF6D-63F0BE10BA3D}" type="slidenum">
              <a:rPr lang="en-US" smtClean="0"/>
              <a:t>22</a:t>
            </a:fld>
            <a:endParaRPr lang="en-US"/>
          </a:p>
        </p:txBody>
      </p:sp>
    </p:spTree>
    <p:extLst>
      <p:ext uri="{BB962C8B-B14F-4D97-AF65-F5344CB8AC3E}">
        <p14:creationId xmlns:p14="http://schemas.microsoft.com/office/powerpoint/2010/main" val="40775389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079A38-E0FA-6B40-BF6D-63F0BE10BA3D}" type="slidenum">
              <a:rPr lang="en-US" smtClean="0"/>
              <a:t>23</a:t>
            </a:fld>
            <a:endParaRPr lang="en-US"/>
          </a:p>
        </p:txBody>
      </p:sp>
    </p:spTree>
    <p:extLst>
      <p:ext uri="{BB962C8B-B14F-4D97-AF65-F5344CB8AC3E}">
        <p14:creationId xmlns:p14="http://schemas.microsoft.com/office/powerpoint/2010/main" val="7440392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mongosh</a:t>
            </a:r>
            <a:r>
              <a:rPr lang="en-US" dirty="0"/>
              <a:t> mongodb://hyguo:myAdminPassword@localhost:27017/?authMechanism=SCRAM-SHA-256&amp;authSource=admin</a:t>
            </a:r>
            <a:endParaRPr lang="en-CA" dirty="0"/>
          </a:p>
        </p:txBody>
      </p:sp>
      <p:sp>
        <p:nvSpPr>
          <p:cNvPr id="4" name="Slide Number Placeholder 3"/>
          <p:cNvSpPr>
            <a:spLocks noGrp="1"/>
          </p:cNvSpPr>
          <p:nvPr>
            <p:ph type="sldNum" sz="quarter" idx="5"/>
          </p:nvPr>
        </p:nvSpPr>
        <p:spPr/>
        <p:txBody>
          <a:bodyPr/>
          <a:lstStyle/>
          <a:p>
            <a:fld id="{43954C1A-C5ED-4FC5-9BBC-547DF9813CD0}" type="slidenum">
              <a:rPr lang="en-US" smtClean="0"/>
              <a:t>25</a:t>
            </a:fld>
            <a:endParaRPr lang="en-US"/>
          </a:p>
        </p:txBody>
      </p:sp>
    </p:spTree>
    <p:extLst>
      <p:ext uri="{BB962C8B-B14F-4D97-AF65-F5344CB8AC3E}">
        <p14:creationId xmlns:p14="http://schemas.microsoft.com/office/powerpoint/2010/main" val="26322143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regular expression (shortened as regex or </a:t>
            </a:r>
            <a:r>
              <a:rPr lang="en-US" dirty="0" err="1"/>
              <a:t>regexp</a:t>
            </a:r>
            <a:r>
              <a:rPr lang="en-US" dirty="0"/>
              <a:t>;) is a sequence of characters that specifies a search pattern in the text. </a:t>
            </a:r>
          </a:p>
        </p:txBody>
      </p:sp>
      <p:sp>
        <p:nvSpPr>
          <p:cNvPr id="4" name="Slide Number Placeholder 3"/>
          <p:cNvSpPr>
            <a:spLocks noGrp="1"/>
          </p:cNvSpPr>
          <p:nvPr>
            <p:ph type="sldNum" sz="quarter" idx="5"/>
          </p:nvPr>
        </p:nvSpPr>
        <p:spPr/>
        <p:txBody>
          <a:bodyPr/>
          <a:lstStyle/>
          <a:p>
            <a:fld id="{3C079A38-E0FA-6B40-BF6D-63F0BE10BA3D}" type="slidenum">
              <a:rPr lang="en-US" smtClean="0"/>
              <a:t>26</a:t>
            </a:fld>
            <a:endParaRPr lang="en-US"/>
          </a:p>
        </p:txBody>
      </p:sp>
    </p:spTree>
    <p:extLst>
      <p:ext uri="{BB962C8B-B14F-4D97-AF65-F5344CB8AC3E}">
        <p14:creationId xmlns:p14="http://schemas.microsoft.com/office/powerpoint/2010/main" val="23383562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mongoimport</a:t>
            </a:r>
            <a:r>
              <a:rPr lang="en-US" dirty="0"/>
              <a:t> --</a:t>
            </a:r>
            <a:r>
              <a:rPr lang="en-US" dirty="0" err="1"/>
              <a:t>uri</a:t>
            </a:r>
            <a:r>
              <a:rPr lang="en-US" dirty="0"/>
              <a:t> "</a:t>
            </a:r>
            <a:r>
              <a:rPr lang="en-US" dirty="0" err="1"/>
              <a:t>mongodb</a:t>
            </a:r>
            <a:r>
              <a:rPr lang="en-US" dirty="0"/>
              <a:t>://hyguo:myAdminPassword@localhost:27017/?</a:t>
            </a:r>
            <a:r>
              <a:rPr lang="en-US" dirty="0" err="1"/>
              <a:t>authMechanism</a:t>
            </a:r>
            <a:r>
              <a:rPr lang="en-US" dirty="0"/>
              <a:t>=SCRAM-SHA-256&amp;authSource=admin" --</a:t>
            </a:r>
            <a:r>
              <a:rPr lang="en-US" dirty="0" err="1"/>
              <a:t>db</a:t>
            </a:r>
            <a:r>
              <a:rPr lang="en-US" dirty="0"/>
              <a:t>=</a:t>
            </a:r>
            <a:r>
              <a:rPr lang="en-US" dirty="0" err="1"/>
              <a:t>mydatabase</a:t>
            </a:r>
            <a:r>
              <a:rPr lang="en-US" dirty="0"/>
              <a:t> --collection=employees --file=Employee_DATA.csv --type=csv –</a:t>
            </a:r>
            <a:r>
              <a:rPr lang="en-US" dirty="0" err="1"/>
              <a:t>headerline</a:t>
            </a:r>
            <a:endParaRPr lang="en-US" dirty="0"/>
          </a:p>
          <a:p>
            <a:endParaRPr lang="en-US" dirty="0"/>
          </a:p>
          <a:p>
            <a:endParaRPr lang="en-US" dirty="0"/>
          </a:p>
          <a:p>
            <a:r>
              <a:rPr lang="en-CA" sz="1800" dirty="0" err="1">
                <a:solidFill>
                  <a:srgbClr val="ABB2BF"/>
                </a:solidFill>
                <a:effectLst/>
                <a:latin typeface="var(--font-family-code)"/>
              </a:rPr>
              <a:t>mongoimport</a:t>
            </a:r>
            <a:r>
              <a:rPr lang="en-CA" sz="1800" dirty="0">
                <a:solidFill>
                  <a:srgbClr val="ABB2BF"/>
                </a:solidFill>
                <a:effectLst/>
                <a:latin typeface="var(--font-family-code)"/>
              </a:rPr>
              <a:t> c:\data\books.json -d </a:t>
            </a:r>
            <a:r>
              <a:rPr lang="en-CA" sz="1800" dirty="0" err="1">
                <a:solidFill>
                  <a:srgbClr val="ABB2BF"/>
                </a:solidFill>
                <a:effectLst/>
                <a:latin typeface="var(--font-family-code)"/>
              </a:rPr>
              <a:t>bookdb</a:t>
            </a:r>
            <a:r>
              <a:rPr lang="en-CA" sz="1800" dirty="0">
                <a:solidFill>
                  <a:srgbClr val="ABB2BF"/>
                </a:solidFill>
                <a:effectLst/>
                <a:latin typeface="var(--font-family-code)"/>
              </a:rPr>
              <a:t> -c books --drop</a:t>
            </a:r>
            <a:endParaRPr lang="en-US" dirty="0"/>
          </a:p>
          <a:p>
            <a:endParaRPr lang="en-US" dirty="0"/>
          </a:p>
          <a:p>
            <a:endParaRPr lang="en-US" dirty="0"/>
          </a:p>
          <a:p>
            <a:endParaRPr lang="en-US" dirty="0"/>
          </a:p>
          <a:p>
            <a:r>
              <a:rPr lang="en-US" dirty="0"/>
              <a:t>A regular expression (shortened as regex or </a:t>
            </a:r>
            <a:r>
              <a:rPr lang="en-US" dirty="0" err="1"/>
              <a:t>regexp</a:t>
            </a:r>
            <a:r>
              <a:rPr lang="en-US" dirty="0"/>
              <a:t>;) is a sequence of characters that specifies a search pattern in the text. </a:t>
            </a:r>
          </a:p>
        </p:txBody>
      </p:sp>
      <p:sp>
        <p:nvSpPr>
          <p:cNvPr id="4" name="Slide Number Placeholder 3"/>
          <p:cNvSpPr>
            <a:spLocks noGrp="1"/>
          </p:cNvSpPr>
          <p:nvPr>
            <p:ph type="sldNum" sz="quarter" idx="5"/>
          </p:nvPr>
        </p:nvSpPr>
        <p:spPr/>
        <p:txBody>
          <a:bodyPr/>
          <a:lstStyle/>
          <a:p>
            <a:fld id="{3C079A38-E0FA-6B40-BF6D-63F0BE10BA3D}" type="slidenum">
              <a:rPr lang="en-US" smtClean="0"/>
              <a:t>28</a:t>
            </a:fld>
            <a:endParaRPr lang="en-US"/>
          </a:p>
        </p:txBody>
      </p:sp>
    </p:spTree>
    <p:extLst>
      <p:ext uri="{BB962C8B-B14F-4D97-AF65-F5344CB8AC3E}">
        <p14:creationId xmlns:p14="http://schemas.microsoft.com/office/powerpoint/2010/main" val="40130628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regular expression (shortened as regex or </a:t>
            </a:r>
            <a:r>
              <a:rPr lang="en-US" dirty="0" err="1"/>
              <a:t>regexp</a:t>
            </a:r>
            <a:r>
              <a:rPr lang="en-US" dirty="0"/>
              <a:t>;) is a sequence of characters that specifies a search pattern in the text. </a:t>
            </a:r>
          </a:p>
          <a:p>
            <a:endParaRPr lang="en-US" dirty="0"/>
          </a:p>
          <a:p>
            <a:r>
              <a:rPr lang="en-US" dirty="0" err="1">
                <a:solidFill>
                  <a:srgbClr val="000088"/>
                </a:solidFill>
                <a:effectLst/>
              </a:rPr>
              <a:t>typeof</a:t>
            </a:r>
            <a:r>
              <a:rPr lang="en-US" dirty="0">
                <a:solidFill>
                  <a:srgbClr val="000000"/>
                </a:solidFill>
                <a:effectLst/>
              </a:rPr>
              <a:t> </a:t>
            </a:r>
            <a:r>
              <a:rPr lang="en-US" dirty="0" err="1">
                <a:solidFill>
                  <a:srgbClr val="000000"/>
                </a:solidFill>
                <a:effectLst/>
              </a:rPr>
              <a:t>db</a:t>
            </a:r>
            <a:r>
              <a:rPr lang="en-US" dirty="0" err="1">
                <a:solidFill>
                  <a:srgbClr val="666600"/>
                </a:solidFill>
                <a:effectLst/>
              </a:rPr>
              <a:t>.</a:t>
            </a:r>
            <a:r>
              <a:rPr lang="en-US" dirty="0" err="1">
                <a:solidFill>
                  <a:srgbClr val="000000"/>
                </a:solidFill>
                <a:effectLst/>
              </a:rPr>
              <a:t>yourCollectionName</a:t>
            </a:r>
            <a:r>
              <a:rPr lang="en-US" dirty="0" err="1">
                <a:solidFill>
                  <a:srgbClr val="666600"/>
                </a:solidFill>
                <a:effectLst/>
              </a:rPr>
              <a:t>.</a:t>
            </a:r>
            <a:r>
              <a:rPr lang="en-US" dirty="0" err="1">
                <a:solidFill>
                  <a:srgbClr val="000000"/>
                </a:solidFill>
                <a:effectLst/>
              </a:rPr>
              <a:t>findOne</a:t>
            </a:r>
            <a:r>
              <a:rPr lang="en-US" dirty="0">
                <a:solidFill>
                  <a:srgbClr val="666600"/>
                </a:solidFill>
                <a:effectLst/>
              </a:rPr>
              <a:t>().</a:t>
            </a:r>
            <a:r>
              <a:rPr lang="en-US" dirty="0" err="1">
                <a:solidFill>
                  <a:srgbClr val="000000"/>
                </a:solidFill>
                <a:effectLst/>
              </a:rPr>
              <a:t>yourFieldName</a:t>
            </a:r>
            <a:r>
              <a:rPr lang="en-US" dirty="0">
                <a:solidFill>
                  <a:srgbClr val="666600"/>
                </a:solidFill>
                <a:effectLst/>
              </a:rPr>
              <a:t>;</a:t>
            </a:r>
            <a:endParaRPr lang="en-US" dirty="0"/>
          </a:p>
        </p:txBody>
      </p:sp>
      <p:sp>
        <p:nvSpPr>
          <p:cNvPr id="4" name="Slide Number Placeholder 3"/>
          <p:cNvSpPr>
            <a:spLocks noGrp="1"/>
          </p:cNvSpPr>
          <p:nvPr>
            <p:ph type="sldNum" sz="quarter" idx="5"/>
          </p:nvPr>
        </p:nvSpPr>
        <p:spPr/>
        <p:txBody>
          <a:bodyPr/>
          <a:lstStyle/>
          <a:p>
            <a:fld id="{3C079A38-E0FA-6B40-BF6D-63F0BE10BA3D}" type="slidenum">
              <a:rPr lang="en-US" smtClean="0"/>
              <a:t>29</a:t>
            </a:fld>
            <a:endParaRPr lang="en-US"/>
          </a:p>
        </p:txBody>
      </p:sp>
    </p:spTree>
    <p:extLst>
      <p:ext uri="{BB962C8B-B14F-4D97-AF65-F5344CB8AC3E}">
        <p14:creationId xmlns:p14="http://schemas.microsoft.com/office/powerpoint/2010/main" val="3109163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regular expression (shortened as regex or </a:t>
            </a:r>
            <a:r>
              <a:rPr lang="en-US" dirty="0" err="1"/>
              <a:t>regexp</a:t>
            </a:r>
            <a:r>
              <a:rPr lang="en-US" dirty="0"/>
              <a:t>;) is a sequence of characters that specifies a search pattern in the text. </a:t>
            </a:r>
          </a:p>
          <a:p>
            <a:endParaRPr lang="en-US" dirty="0"/>
          </a:p>
          <a:p>
            <a:r>
              <a:rPr lang="en-US" dirty="0" err="1">
                <a:solidFill>
                  <a:srgbClr val="000088"/>
                </a:solidFill>
                <a:effectLst/>
              </a:rPr>
              <a:t>typeof</a:t>
            </a:r>
            <a:r>
              <a:rPr lang="en-US" dirty="0">
                <a:solidFill>
                  <a:srgbClr val="000000"/>
                </a:solidFill>
                <a:effectLst/>
              </a:rPr>
              <a:t> </a:t>
            </a:r>
            <a:r>
              <a:rPr lang="en-US" dirty="0" err="1">
                <a:solidFill>
                  <a:srgbClr val="000000"/>
                </a:solidFill>
                <a:effectLst/>
              </a:rPr>
              <a:t>db</a:t>
            </a:r>
            <a:r>
              <a:rPr lang="en-US" dirty="0" err="1">
                <a:solidFill>
                  <a:srgbClr val="666600"/>
                </a:solidFill>
                <a:effectLst/>
              </a:rPr>
              <a:t>.</a:t>
            </a:r>
            <a:r>
              <a:rPr lang="en-US" dirty="0" err="1">
                <a:solidFill>
                  <a:srgbClr val="000000"/>
                </a:solidFill>
                <a:effectLst/>
              </a:rPr>
              <a:t>yourCollectionName</a:t>
            </a:r>
            <a:r>
              <a:rPr lang="en-US" dirty="0" err="1">
                <a:solidFill>
                  <a:srgbClr val="666600"/>
                </a:solidFill>
                <a:effectLst/>
              </a:rPr>
              <a:t>.</a:t>
            </a:r>
            <a:r>
              <a:rPr lang="en-US" dirty="0" err="1">
                <a:solidFill>
                  <a:srgbClr val="000000"/>
                </a:solidFill>
                <a:effectLst/>
              </a:rPr>
              <a:t>findOne</a:t>
            </a:r>
            <a:r>
              <a:rPr lang="en-US" dirty="0">
                <a:solidFill>
                  <a:srgbClr val="666600"/>
                </a:solidFill>
                <a:effectLst/>
              </a:rPr>
              <a:t>().</a:t>
            </a:r>
            <a:r>
              <a:rPr lang="en-US" dirty="0" err="1">
                <a:solidFill>
                  <a:srgbClr val="000000"/>
                </a:solidFill>
                <a:effectLst/>
              </a:rPr>
              <a:t>yourFieldName</a:t>
            </a:r>
            <a:r>
              <a:rPr lang="en-US" dirty="0">
                <a:solidFill>
                  <a:srgbClr val="666600"/>
                </a:solidFill>
                <a:effectLst/>
              </a:rPr>
              <a:t>;</a:t>
            </a:r>
            <a:endParaRPr lang="en-US" dirty="0"/>
          </a:p>
        </p:txBody>
      </p:sp>
      <p:sp>
        <p:nvSpPr>
          <p:cNvPr id="4" name="Slide Number Placeholder 3"/>
          <p:cNvSpPr>
            <a:spLocks noGrp="1"/>
          </p:cNvSpPr>
          <p:nvPr>
            <p:ph type="sldNum" sz="quarter" idx="5"/>
          </p:nvPr>
        </p:nvSpPr>
        <p:spPr/>
        <p:txBody>
          <a:bodyPr/>
          <a:lstStyle/>
          <a:p>
            <a:fld id="{3C079A38-E0FA-6B40-BF6D-63F0BE10BA3D}" type="slidenum">
              <a:rPr lang="en-US" smtClean="0"/>
              <a:t>30</a:t>
            </a:fld>
            <a:endParaRPr lang="en-US"/>
          </a:p>
        </p:txBody>
      </p:sp>
    </p:spTree>
    <p:extLst>
      <p:ext uri="{BB962C8B-B14F-4D97-AF65-F5344CB8AC3E}">
        <p14:creationId xmlns:p14="http://schemas.microsoft.com/office/powerpoint/2010/main" val="1223995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FE0AF-114E-E06F-E36E-CF3CE89CCB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D712F6-5074-8AA0-E657-7E9EC571E3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8AB86D-C131-2FEE-8CB7-09A6EB4D6579}"/>
              </a:ext>
            </a:extLst>
          </p:cNvPr>
          <p:cNvSpPr>
            <a:spLocks noGrp="1"/>
          </p:cNvSpPr>
          <p:nvPr>
            <p:ph type="dt" sz="half" idx="10"/>
          </p:nvPr>
        </p:nvSpPr>
        <p:spPr/>
        <p:txBody>
          <a:bodyPr/>
          <a:lstStyle/>
          <a:p>
            <a:fld id="{7A4B6344-2996-4DA8-B7C5-7C73FE1FA299}" type="datetimeFigureOut">
              <a:rPr lang="en-US" smtClean="0"/>
              <a:t>10/23/2023</a:t>
            </a:fld>
            <a:endParaRPr lang="en-US"/>
          </a:p>
        </p:txBody>
      </p:sp>
      <p:sp>
        <p:nvSpPr>
          <p:cNvPr id="5" name="Footer Placeholder 4">
            <a:extLst>
              <a:ext uri="{FF2B5EF4-FFF2-40B4-BE49-F238E27FC236}">
                <a16:creationId xmlns:a16="http://schemas.microsoft.com/office/drawing/2014/main" id="{099D9768-CFE0-96B0-603B-A602B02C81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947A8-455C-2D44-42C2-ECC22F675B51}"/>
              </a:ext>
            </a:extLst>
          </p:cNvPr>
          <p:cNvSpPr>
            <a:spLocks noGrp="1"/>
          </p:cNvSpPr>
          <p:nvPr>
            <p:ph type="sldNum" sz="quarter" idx="12"/>
          </p:nvPr>
        </p:nvSpPr>
        <p:spPr/>
        <p:txBody>
          <a:bodyPr/>
          <a:lstStyle/>
          <a:p>
            <a:fld id="{39596D52-7D40-40BC-BA24-8D09E51A1A01}" type="slidenum">
              <a:rPr lang="en-US" smtClean="0"/>
              <a:t>‹#›</a:t>
            </a:fld>
            <a:endParaRPr lang="en-US"/>
          </a:p>
        </p:txBody>
      </p:sp>
    </p:spTree>
    <p:extLst>
      <p:ext uri="{BB962C8B-B14F-4D97-AF65-F5344CB8AC3E}">
        <p14:creationId xmlns:p14="http://schemas.microsoft.com/office/powerpoint/2010/main" val="1503531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4EF2B-FDE6-5999-793F-05096C5B3B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1B666A-B94C-A4D7-5BBB-43CB65309A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091BFC-2F48-3BF0-E046-F0B6F4D234DE}"/>
              </a:ext>
            </a:extLst>
          </p:cNvPr>
          <p:cNvSpPr>
            <a:spLocks noGrp="1"/>
          </p:cNvSpPr>
          <p:nvPr>
            <p:ph type="dt" sz="half" idx="10"/>
          </p:nvPr>
        </p:nvSpPr>
        <p:spPr/>
        <p:txBody>
          <a:bodyPr/>
          <a:lstStyle/>
          <a:p>
            <a:fld id="{7A4B6344-2996-4DA8-B7C5-7C73FE1FA299}" type="datetimeFigureOut">
              <a:rPr lang="en-US" smtClean="0"/>
              <a:t>10/23/2023</a:t>
            </a:fld>
            <a:endParaRPr lang="en-US"/>
          </a:p>
        </p:txBody>
      </p:sp>
      <p:sp>
        <p:nvSpPr>
          <p:cNvPr id="5" name="Footer Placeholder 4">
            <a:extLst>
              <a:ext uri="{FF2B5EF4-FFF2-40B4-BE49-F238E27FC236}">
                <a16:creationId xmlns:a16="http://schemas.microsoft.com/office/drawing/2014/main" id="{6534B7EF-FEC1-B038-A2E7-55EABCC1A9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7865B7-F5B5-0843-46E4-DE4F5966CA4C}"/>
              </a:ext>
            </a:extLst>
          </p:cNvPr>
          <p:cNvSpPr>
            <a:spLocks noGrp="1"/>
          </p:cNvSpPr>
          <p:nvPr>
            <p:ph type="sldNum" sz="quarter" idx="12"/>
          </p:nvPr>
        </p:nvSpPr>
        <p:spPr/>
        <p:txBody>
          <a:bodyPr/>
          <a:lstStyle/>
          <a:p>
            <a:fld id="{39596D52-7D40-40BC-BA24-8D09E51A1A01}" type="slidenum">
              <a:rPr lang="en-US" smtClean="0"/>
              <a:t>‹#›</a:t>
            </a:fld>
            <a:endParaRPr lang="en-US"/>
          </a:p>
        </p:txBody>
      </p:sp>
    </p:spTree>
    <p:extLst>
      <p:ext uri="{BB962C8B-B14F-4D97-AF65-F5344CB8AC3E}">
        <p14:creationId xmlns:p14="http://schemas.microsoft.com/office/powerpoint/2010/main" val="80971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6D4C7-451C-875E-7D44-92632E9A38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92E75F-2CDE-2DA5-65E6-AF31CAD58F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CE260C-2312-20DF-DC70-66540C430B99}"/>
              </a:ext>
            </a:extLst>
          </p:cNvPr>
          <p:cNvSpPr>
            <a:spLocks noGrp="1"/>
          </p:cNvSpPr>
          <p:nvPr>
            <p:ph type="dt" sz="half" idx="10"/>
          </p:nvPr>
        </p:nvSpPr>
        <p:spPr/>
        <p:txBody>
          <a:bodyPr/>
          <a:lstStyle/>
          <a:p>
            <a:fld id="{7A4B6344-2996-4DA8-B7C5-7C73FE1FA299}" type="datetimeFigureOut">
              <a:rPr lang="en-US" smtClean="0"/>
              <a:t>10/23/2023</a:t>
            </a:fld>
            <a:endParaRPr lang="en-US"/>
          </a:p>
        </p:txBody>
      </p:sp>
      <p:sp>
        <p:nvSpPr>
          <p:cNvPr id="5" name="Footer Placeholder 4">
            <a:extLst>
              <a:ext uri="{FF2B5EF4-FFF2-40B4-BE49-F238E27FC236}">
                <a16:creationId xmlns:a16="http://schemas.microsoft.com/office/drawing/2014/main" id="{C57ED61B-0628-9F31-4253-2B98BCD883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285FC1-A26E-8E84-A02C-1F5F727A6A9F}"/>
              </a:ext>
            </a:extLst>
          </p:cNvPr>
          <p:cNvSpPr>
            <a:spLocks noGrp="1"/>
          </p:cNvSpPr>
          <p:nvPr>
            <p:ph type="sldNum" sz="quarter" idx="12"/>
          </p:nvPr>
        </p:nvSpPr>
        <p:spPr/>
        <p:txBody>
          <a:bodyPr/>
          <a:lstStyle/>
          <a:p>
            <a:fld id="{39596D52-7D40-40BC-BA24-8D09E51A1A01}" type="slidenum">
              <a:rPr lang="en-US" smtClean="0"/>
              <a:t>‹#›</a:t>
            </a:fld>
            <a:endParaRPr lang="en-US"/>
          </a:p>
        </p:txBody>
      </p:sp>
    </p:spTree>
    <p:extLst>
      <p:ext uri="{BB962C8B-B14F-4D97-AF65-F5344CB8AC3E}">
        <p14:creationId xmlns:p14="http://schemas.microsoft.com/office/powerpoint/2010/main" val="3691061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471E5-3560-D7C2-F9F7-6D7CD275AA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7F706B-7E13-F6FE-AB33-2D620A7D28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8DE184-48BD-1E1F-2057-ACD474C358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45A235-2C78-5E6E-FA54-480D53CA1E78}"/>
              </a:ext>
            </a:extLst>
          </p:cNvPr>
          <p:cNvSpPr>
            <a:spLocks noGrp="1"/>
          </p:cNvSpPr>
          <p:nvPr>
            <p:ph type="dt" sz="half" idx="10"/>
          </p:nvPr>
        </p:nvSpPr>
        <p:spPr/>
        <p:txBody>
          <a:bodyPr/>
          <a:lstStyle/>
          <a:p>
            <a:fld id="{7A4B6344-2996-4DA8-B7C5-7C73FE1FA299}" type="datetimeFigureOut">
              <a:rPr lang="en-US" smtClean="0"/>
              <a:t>10/23/2023</a:t>
            </a:fld>
            <a:endParaRPr lang="en-US"/>
          </a:p>
        </p:txBody>
      </p:sp>
      <p:sp>
        <p:nvSpPr>
          <p:cNvPr id="6" name="Footer Placeholder 5">
            <a:extLst>
              <a:ext uri="{FF2B5EF4-FFF2-40B4-BE49-F238E27FC236}">
                <a16:creationId xmlns:a16="http://schemas.microsoft.com/office/drawing/2014/main" id="{8CDD54E0-F82E-1C27-49FC-A5BB761DB0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5760AE-0C57-F848-B880-D405730969A6}"/>
              </a:ext>
            </a:extLst>
          </p:cNvPr>
          <p:cNvSpPr>
            <a:spLocks noGrp="1"/>
          </p:cNvSpPr>
          <p:nvPr>
            <p:ph type="sldNum" sz="quarter" idx="12"/>
          </p:nvPr>
        </p:nvSpPr>
        <p:spPr/>
        <p:txBody>
          <a:bodyPr/>
          <a:lstStyle/>
          <a:p>
            <a:fld id="{39596D52-7D40-40BC-BA24-8D09E51A1A01}" type="slidenum">
              <a:rPr lang="en-US" smtClean="0"/>
              <a:t>‹#›</a:t>
            </a:fld>
            <a:endParaRPr lang="en-US"/>
          </a:p>
        </p:txBody>
      </p:sp>
    </p:spTree>
    <p:extLst>
      <p:ext uri="{BB962C8B-B14F-4D97-AF65-F5344CB8AC3E}">
        <p14:creationId xmlns:p14="http://schemas.microsoft.com/office/powerpoint/2010/main" val="2578285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F0887-9304-17DE-5276-91747EC104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39F7BC-B234-25EB-4667-71D4E51EFF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9C7247-ACA8-6DE4-B9F3-3EF79DAB1E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088D872-F94F-43AC-7F75-9E6EE6C899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E071F4-EE28-5BFB-67ED-A7C1DC2AE7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AF846A-67F2-E645-2905-D66E09BEA802}"/>
              </a:ext>
            </a:extLst>
          </p:cNvPr>
          <p:cNvSpPr>
            <a:spLocks noGrp="1"/>
          </p:cNvSpPr>
          <p:nvPr>
            <p:ph type="dt" sz="half" idx="10"/>
          </p:nvPr>
        </p:nvSpPr>
        <p:spPr/>
        <p:txBody>
          <a:bodyPr/>
          <a:lstStyle/>
          <a:p>
            <a:fld id="{7A4B6344-2996-4DA8-B7C5-7C73FE1FA299}" type="datetimeFigureOut">
              <a:rPr lang="en-US" smtClean="0"/>
              <a:t>10/23/2023</a:t>
            </a:fld>
            <a:endParaRPr lang="en-US"/>
          </a:p>
        </p:txBody>
      </p:sp>
      <p:sp>
        <p:nvSpPr>
          <p:cNvPr id="8" name="Footer Placeholder 7">
            <a:extLst>
              <a:ext uri="{FF2B5EF4-FFF2-40B4-BE49-F238E27FC236}">
                <a16:creationId xmlns:a16="http://schemas.microsoft.com/office/drawing/2014/main" id="{9934888D-B212-34A9-690C-8D94CEF824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DD4B9F-0239-55FB-B7BA-6E874F3FE0AE}"/>
              </a:ext>
            </a:extLst>
          </p:cNvPr>
          <p:cNvSpPr>
            <a:spLocks noGrp="1"/>
          </p:cNvSpPr>
          <p:nvPr>
            <p:ph type="sldNum" sz="quarter" idx="12"/>
          </p:nvPr>
        </p:nvSpPr>
        <p:spPr/>
        <p:txBody>
          <a:bodyPr/>
          <a:lstStyle/>
          <a:p>
            <a:fld id="{39596D52-7D40-40BC-BA24-8D09E51A1A01}" type="slidenum">
              <a:rPr lang="en-US" smtClean="0"/>
              <a:t>‹#›</a:t>
            </a:fld>
            <a:endParaRPr lang="en-US"/>
          </a:p>
        </p:txBody>
      </p:sp>
    </p:spTree>
    <p:extLst>
      <p:ext uri="{BB962C8B-B14F-4D97-AF65-F5344CB8AC3E}">
        <p14:creationId xmlns:p14="http://schemas.microsoft.com/office/powerpoint/2010/main" val="2113741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2E1D1-D819-72B4-3D2E-62FE08EB02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76264AE-2CC6-2FC0-2BD8-376F86A53E4C}"/>
              </a:ext>
            </a:extLst>
          </p:cNvPr>
          <p:cNvSpPr>
            <a:spLocks noGrp="1"/>
          </p:cNvSpPr>
          <p:nvPr>
            <p:ph type="dt" sz="half" idx="10"/>
          </p:nvPr>
        </p:nvSpPr>
        <p:spPr/>
        <p:txBody>
          <a:bodyPr/>
          <a:lstStyle/>
          <a:p>
            <a:fld id="{7A4B6344-2996-4DA8-B7C5-7C73FE1FA299}" type="datetimeFigureOut">
              <a:rPr lang="en-US" smtClean="0"/>
              <a:t>10/23/2023</a:t>
            </a:fld>
            <a:endParaRPr lang="en-US"/>
          </a:p>
        </p:txBody>
      </p:sp>
      <p:sp>
        <p:nvSpPr>
          <p:cNvPr id="4" name="Footer Placeholder 3">
            <a:extLst>
              <a:ext uri="{FF2B5EF4-FFF2-40B4-BE49-F238E27FC236}">
                <a16:creationId xmlns:a16="http://schemas.microsoft.com/office/drawing/2014/main" id="{CFB074F9-71B3-3F0B-1D8B-74AD7FEACA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E72149-DE18-ACD2-08DE-5C62F45E3C5B}"/>
              </a:ext>
            </a:extLst>
          </p:cNvPr>
          <p:cNvSpPr>
            <a:spLocks noGrp="1"/>
          </p:cNvSpPr>
          <p:nvPr>
            <p:ph type="sldNum" sz="quarter" idx="12"/>
          </p:nvPr>
        </p:nvSpPr>
        <p:spPr/>
        <p:txBody>
          <a:bodyPr/>
          <a:lstStyle/>
          <a:p>
            <a:fld id="{39596D52-7D40-40BC-BA24-8D09E51A1A01}" type="slidenum">
              <a:rPr lang="en-US" smtClean="0"/>
              <a:t>‹#›</a:t>
            </a:fld>
            <a:endParaRPr lang="en-US"/>
          </a:p>
        </p:txBody>
      </p:sp>
    </p:spTree>
    <p:extLst>
      <p:ext uri="{BB962C8B-B14F-4D97-AF65-F5344CB8AC3E}">
        <p14:creationId xmlns:p14="http://schemas.microsoft.com/office/powerpoint/2010/main" val="2167588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E4C301-39DB-730D-0F20-F4BC9B7BB330}"/>
              </a:ext>
            </a:extLst>
          </p:cNvPr>
          <p:cNvSpPr>
            <a:spLocks noGrp="1"/>
          </p:cNvSpPr>
          <p:nvPr>
            <p:ph type="dt" sz="half" idx="10"/>
          </p:nvPr>
        </p:nvSpPr>
        <p:spPr/>
        <p:txBody>
          <a:bodyPr/>
          <a:lstStyle/>
          <a:p>
            <a:fld id="{7A4B6344-2996-4DA8-B7C5-7C73FE1FA299}" type="datetimeFigureOut">
              <a:rPr lang="en-US" smtClean="0"/>
              <a:t>10/23/2023</a:t>
            </a:fld>
            <a:endParaRPr lang="en-US"/>
          </a:p>
        </p:txBody>
      </p:sp>
      <p:sp>
        <p:nvSpPr>
          <p:cNvPr id="3" name="Footer Placeholder 2">
            <a:extLst>
              <a:ext uri="{FF2B5EF4-FFF2-40B4-BE49-F238E27FC236}">
                <a16:creationId xmlns:a16="http://schemas.microsoft.com/office/drawing/2014/main" id="{A50BC4E8-12E3-FC42-191B-68E5D109E4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3094BA7-D0DB-D199-220A-05B1E4230AA8}"/>
              </a:ext>
            </a:extLst>
          </p:cNvPr>
          <p:cNvSpPr>
            <a:spLocks noGrp="1"/>
          </p:cNvSpPr>
          <p:nvPr>
            <p:ph type="sldNum" sz="quarter" idx="12"/>
          </p:nvPr>
        </p:nvSpPr>
        <p:spPr/>
        <p:txBody>
          <a:bodyPr/>
          <a:lstStyle/>
          <a:p>
            <a:fld id="{39596D52-7D40-40BC-BA24-8D09E51A1A01}" type="slidenum">
              <a:rPr lang="en-US" smtClean="0"/>
              <a:t>‹#›</a:t>
            </a:fld>
            <a:endParaRPr lang="en-US"/>
          </a:p>
        </p:txBody>
      </p:sp>
    </p:spTree>
    <p:extLst>
      <p:ext uri="{BB962C8B-B14F-4D97-AF65-F5344CB8AC3E}">
        <p14:creationId xmlns:p14="http://schemas.microsoft.com/office/powerpoint/2010/main" val="3600879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7224C-36BA-D45C-4542-5E2631CAF0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C7A4F7-CAFD-5107-762B-C40F38E347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96691B-36DA-99F5-7AB1-F3B155674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631319-5D3C-8E43-4697-7CB38F957E69}"/>
              </a:ext>
            </a:extLst>
          </p:cNvPr>
          <p:cNvSpPr>
            <a:spLocks noGrp="1"/>
          </p:cNvSpPr>
          <p:nvPr>
            <p:ph type="dt" sz="half" idx="10"/>
          </p:nvPr>
        </p:nvSpPr>
        <p:spPr/>
        <p:txBody>
          <a:bodyPr/>
          <a:lstStyle/>
          <a:p>
            <a:fld id="{7A4B6344-2996-4DA8-B7C5-7C73FE1FA299}" type="datetimeFigureOut">
              <a:rPr lang="en-US" smtClean="0"/>
              <a:t>10/23/2023</a:t>
            </a:fld>
            <a:endParaRPr lang="en-US"/>
          </a:p>
        </p:txBody>
      </p:sp>
      <p:sp>
        <p:nvSpPr>
          <p:cNvPr id="6" name="Footer Placeholder 5">
            <a:extLst>
              <a:ext uri="{FF2B5EF4-FFF2-40B4-BE49-F238E27FC236}">
                <a16:creationId xmlns:a16="http://schemas.microsoft.com/office/drawing/2014/main" id="{01A27889-B512-F897-18EE-4DFBFEA639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64E000-B88F-437F-F63F-578E719FEB46}"/>
              </a:ext>
            </a:extLst>
          </p:cNvPr>
          <p:cNvSpPr>
            <a:spLocks noGrp="1"/>
          </p:cNvSpPr>
          <p:nvPr>
            <p:ph type="sldNum" sz="quarter" idx="12"/>
          </p:nvPr>
        </p:nvSpPr>
        <p:spPr/>
        <p:txBody>
          <a:bodyPr/>
          <a:lstStyle/>
          <a:p>
            <a:fld id="{39596D52-7D40-40BC-BA24-8D09E51A1A01}" type="slidenum">
              <a:rPr lang="en-US" smtClean="0"/>
              <a:t>‹#›</a:t>
            </a:fld>
            <a:endParaRPr lang="en-US"/>
          </a:p>
        </p:txBody>
      </p:sp>
    </p:spTree>
    <p:extLst>
      <p:ext uri="{BB962C8B-B14F-4D97-AF65-F5344CB8AC3E}">
        <p14:creationId xmlns:p14="http://schemas.microsoft.com/office/powerpoint/2010/main" val="53790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E8F87-3C7E-A5F3-CC1F-52DFE2B434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C0CCEA-A223-4200-E0D4-F075542D25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06A74D-11F6-F08B-F448-B89E9DD97B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63C436-389D-8C4E-A0FA-FB374961271A}"/>
              </a:ext>
            </a:extLst>
          </p:cNvPr>
          <p:cNvSpPr>
            <a:spLocks noGrp="1"/>
          </p:cNvSpPr>
          <p:nvPr>
            <p:ph type="dt" sz="half" idx="10"/>
          </p:nvPr>
        </p:nvSpPr>
        <p:spPr/>
        <p:txBody>
          <a:bodyPr/>
          <a:lstStyle/>
          <a:p>
            <a:fld id="{7A4B6344-2996-4DA8-B7C5-7C73FE1FA299}" type="datetimeFigureOut">
              <a:rPr lang="en-US" smtClean="0"/>
              <a:t>10/23/2023</a:t>
            </a:fld>
            <a:endParaRPr lang="en-US"/>
          </a:p>
        </p:txBody>
      </p:sp>
      <p:sp>
        <p:nvSpPr>
          <p:cNvPr id="6" name="Footer Placeholder 5">
            <a:extLst>
              <a:ext uri="{FF2B5EF4-FFF2-40B4-BE49-F238E27FC236}">
                <a16:creationId xmlns:a16="http://schemas.microsoft.com/office/drawing/2014/main" id="{7D72A07C-93E0-3719-AEF5-59B94A486C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82C634-6512-128C-A9AB-0D23679D62CA}"/>
              </a:ext>
            </a:extLst>
          </p:cNvPr>
          <p:cNvSpPr>
            <a:spLocks noGrp="1"/>
          </p:cNvSpPr>
          <p:nvPr>
            <p:ph type="sldNum" sz="quarter" idx="12"/>
          </p:nvPr>
        </p:nvSpPr>
        <p:spPr/>
        <p:txBody>
          <a:bodyPr/>
          <a:lstStyle/>
          <a:p>
            <a:fld id="{39596D52-7D40-40BC-BA24-8D09E51A1A01}" type="slidenum">
              <a:rPr lang="en-US" smtClean="0"/>
              <a:t>‹#›</a:t>
            </a:fld>
            <a:endParaRPr lang="en-US"/>
          </a:p>
        </p:txBody>
      </p:sp>
    </p:spTree>
    <p:extLst>
      <p:ext uri="{BB962C8B-B14F-4D97-AF65-F5344CB8AC3E}">
        <p14:creationId xmlns:p14="http://schemas.microsoft.com/office/powerpoint/2010/main" val="2772548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3A69F-0EE8-EBBD-5FAF-86D7567D8BD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CA3FEC-A95B-8F04-CCD2-1EA90EB5CE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75DB0B-39D2-07CA-F3DB-306D198233A2}"/>
              </a:ext>
            </a:extLst>
          </p:cNvPr>
          <p:cNvSpPr>
            <a:spLocks noGrp="1"/>
          </p:cNvSpPr>
          <p:nvPr>
            <p:ph type="dt" sz="half" idx="10"/>
          </p:nvPr>
        </p:nvSpPr>
        <p:spPr/>
        <p:txBody>
          <a:bodyPr/>
          <a:lstStyle/>
          <a:p>
            <a:fld id="{7A4B6344-2996-4DA8-B7C5-7C73FE1FA299}" type="datetimeFigureOut">
              <a:rPr lang="en-US" smtClean="0"/>
              <a:t>10/23/2023</a:t>
            </a:fld>
            <a:endParaRPr lang="en-US"/>
          </a:p>
        </p:txBody>
      </p:sp>
      <p:sp>
        <p:nvSpPr>
          <p:cNvPr id="5" name="Footer Placeholder 4">
            <a:extLst>
              <a:ext uri="{FF2B5EF4-FFF2-40B4-BE49-F238E27FC236}">
                <a16:creationId xmlns:a16="http://schemas.microsoft.com/office/drawing/2014/main" id="{18BE0B37-97D6-87AB-3713-409EAE9B2B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8900B2-50D4-BBA6-AC08-BEBB1B5CB84B}"/>
              </a:ext>
            </a:extLst>
          </p:cNvPr>
          <p:cNvSpPr>
            <a:spLocks noGrp="1"/>
          </p:cNvSpPr>
          <p:nvPr>
            <p:ph type="sldNum" sz="quarter" idx="12"/>
          </p:nvPr>
        </p:nvSpPr>
        <p:spPr/>
        <p:txBody>
          <a:bodyPr/>
          <a:lstStyle/>
          <a:p>
            <a:fld id="{39596D52-7D40-40BC-BA24-8D09E51A1A01}" type="slidenum">
              <a:rPr lang="en-US" smtClean="0"/>
              <a:t>‹#›</a:t>
            </a:fld>
            <a:endParaRPr lang="en-US"/>
          </a:p>
        </p:txBody>
      </p:sp>
    </p:spTree>
    <p:extLst>
      <p:ext uri="{BB962C8B-B14F-4D97-AF65-F5344CB8AC3E}">
        <p14:creationId xmlns:p14="http://schemas.microsoft.com/office/powerpoint/2010/main" val="107750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742160-771E-BAC8-9DEF-191FE37DCBC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C193716-58F6-E0D0-4ABC-3AF6544A2D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D65363-CF50-E04D-9FE0-8DC352BB51E7}"/>
              </a:ext>
            </a:extLst>
          </p:cNvPr>
          <p:cNvSpPr>
            <a:spLocks noGrp="1"/>
          </p:cNvSpPr>
          <p:nvPr>
            <p:ph type="dt" sz="half" idx="10"/>
          </p:nvPr>
        </p:nvSpPr>
        <p:spPr/>
        <p:txBody>
          <a:bodyPr/>
          <a:lstStyle/>
          <a:p>
            <a:fld id="{7A4B6344-2996-4DA8-B7C5-7C73FE1FA299}" type="datetimeFigureOut">
              <a:rPr lang="en-US" smtClean="0"/>
              <a:t>10/23/2023</a:t>
            </a:fld>
            <a:endParaRPr lang="en-US"/>
          </a:p>
        </p:txBody>
      </p:sp>
      <p:sp>
        <p:nvSpPr>
          <p:cNvPr id="5" name="Footer Placeholder 4">
            <a:extLst>
              <a:ext uri="{FF2B5EF4-FFF2-40B4-BE49-F238E27FC236}">
                <a16:creationId xmlns:a16="http://schemas.microsoft.com/office/drawing/2014/main" id="{2EFDE0EE-D3DC-8FE6-1229-9AFFD566AC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ED2B93-63A5-95AA-FD9A-F07D30EDCD0B}"/>
              </a:ext>
            </a:extLst>
          </p:cNvPr>
          <p:cNvSpPr>
            <a:spLocks noGrp="1"/>
          </p:cNvSpPr>
          <p:nvPr>
            <p:ph type="sldNum" sz="quarter" idx="12"/>
          </p:nvPr>
        </p:nvSpPr>
        <p:spPr/>
        <p:txBody>
          <a:bodyPr/>
          <a:lstStyle/>
          <a:p>
            <a:fld id="{39596D52-7D40-40BC-BA24-8D09E51A1A01}" type="slidenum">
              <a:rPr lang="en-US" smtClean="0"/>
              <a:t>‹#›</a:t>
            </a:fld>
            <a:endParaRPr lang="en-US"/>
          </a:p>
        </p:txBody>
      </p:sp>
    </p:spTree>
    <p:extLst>
      <p:ext uri="{BB962C8B-B14F-4D97-AF65-F5344CB8AC3E}">
        <p14:creationId xmlns:p14="http://schemas.microsoft.com/office/powerpoint/2010/main" val="270599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IRCLE PHOTO 1">
    <p:spTree>
      <p:nvGrpSpPr>
        <p:cNvPr id="1" name=""/>
        <p:cNvGrpSpPr/>
        <p:nvPr/>
      </p:nvGrpSpPr>
      <p:grpSpPr>
        <a:xfrm>
          <a:off x="0" y="0"/>
          <a:ext cx="0" cy="0"/>
          <a:chOff x="0" y="0"/>
          <a:chExt cx="0" cy="0"/>
        </a:xfrm>
      </p:grpSpPr>
      <p:sp>
        <p:nvSpPr>
          <p:cNvPr id="11" name="Text Placeholder 15">
            <a:extLst>
              <a:ext uri="{FF2B5EF4-FFF2-40B4-BE49-F238E27FC236}">
                <a16:creationId xmlns:a16="http://schemas.microsoft.com/office/drawing/2014/main" id="{4D146486-9AE8-F44B-ABFD-DA43CD57D648}"/>
              </a:ext>
            </a:extLst>
          </p:cNvPr>
          <p:cNvSpPr>
            <a:spLocks noGrp="1"/>
          </p:cNvSpPr>
          <p:nvPr>
            <p:ph type="body" sz="quarter" idx="10" hasCustomPrompt="1"/>
          </p:nvPr>
        </p:nvSpPr>
        <p:spPr>
          <a:xfrm>
            <a:off x="353218" y="171450"/>
            <a:ext cx="11495882" cy="830997"/>
          </a:xfrm>
          <a:ln>
            <a:solidFill>
              <a:srgbClr val="F8C302"/>
            </a:solidFill>
          </a:ln>
        </p:spPr>
        <p:txBody>
          <a:bodyPr/>
          <a:lstStyle>
            <a:lvl1pPr marL="0" indent="0">
              <a:buNone/>
              <a:defRPr sz="4050" b="1" i="0">
                <a:solidFill>
                  <a:srgbClr val="00719D"/>
                </a:solidFill>
                <a:latin typeface="Cambria" panose="02040503050406030204" pitchFamily="18" charset="0"/>
              </a:defRPr>
            </a:lvl1pPr>
          </a:lstStyle>
          <a:p>
            <a:pPr lvl="0"/>
            <a:r>
              <a:rPr lang="en-US" dirty="0"/>
              <a:t>HEADER</a:t>
            </a:r>
          </a:p>
          <a:p>
            <a:pPr lvl="1"/>
            <a:endParaRPr lang="en-US" dirty="0"/>
          </a:p>
        </p:txBody>
      </p:sp>
      <p:sp>
        <p:nvSpPr>
          <p:cNvPr id="14" name="Text Placeholder 12">
            <a:extLst>
              <a:ext uri="{FF2B5EF4-FFF2-40B4-BE49-F238E27FC236}">
                <a16:creationId xmlns:a16="http://schemas.microsoft.com/office/drawing/2014/main" id="{0F013A53-0F5C-904F-87FE-FF524EBDB5F6}"/>
              </a:ext>
            </a:extLst>
          </p:cNvPr>
          <p:cNvSpPr>
            <a:spLocks noGrp="1"/>
          </p:cNvSpPr>
          <p:nvPr>
            <p:ph type="body" sz="quarter" idx="11" hasCustomPrompt="1"/>
          </p:nvPr>
        </p:nvSpPr>
        <p:spPr>
          <a:xfrm>
            <a:off x="4282678" y="1495426"/>
            <a:ext cx="7572026" cy="761747"/>
          </a:xfrm>
        </p:spPr>
        <p:txBody>
          <a:bodyPr/>
          <a:lstStyle>
            <a:lvl1pPr>
              <a:defRPr>
                <a:solidFill>
                  <a:srgbClr val="00719D"/>
                </a:solidFill>
              </a:defRPr>
            </a:lvl1pPr>
            <a:lvl2pPr algn="l">
              <a:defRPr sz="2700">
                <a:solidFill>
                  <a:schemeClr val="bg1"/>
                </a:solidFill>
              </a:defRPr>
            </a:lvl2pPr>
          </a:lstStyle>
          <a:p>
            <a:pPr lvl="0"/>
            <a:r>
              <a:rPr lang="en-US" dirty="0"/>
              <a:t>Subhead</a:t>
            </a:r>
          </a:p>
          <a:p>
            <a:pPr lvl="2"/>
            <a:endParaRPr lang="en-US" dirty="0"/>
          </a:p>
        </p:txBody>
      </p:sp>
      <p:sp>
        <p:nvSpPr>
          <p:cNvPr id="15" name="Text Placeholder 12">
            <a:extLst>
              <a:ext uri="{FF2B5EF4-FFF2-40B4-BE49-F238E27FC236}">
                <a16:creationId xmlns:a16="http://schemas.microsoft.com/office/drawing/2014/main" id="{29098EF2-3F3A-4D44-A388-429FA5353F51}"/>
              </a:ext>
            </a:extLst>
          </p:cNvPr>
          <p:cNvSpPr>
            <a:spLocks noGrp="1"/>
          </p:cNvSpPr>
          <p:nvPr>
            <p:ph type="body" sz="quarter" idx="12" hasCustomPrompt="1"/>
          </p:nvPr>
        </p:nvSpPr>
        <p:spPr>
          <a:xfrm>
            <a:off x="4277075" y="2057400"/>
            <a:ext cx="7577629" cy="3693319"/>
          </a:xfrm>
        </p:spPr>
        <p:txBody>
          <a:bodyPr/>
          <a:lstStyle>
            <a:lvl1pPr marL="0" indent="0">
              <a:buFontTx/>
              <a:buNone/>
              <a:defRPr sz="3000" b="0">
                <a:solidFill>
                  <a:schemeClr val="tx1"/>
                </a:solidFill>
              </a:defRPr>
            </a:lvl1pPr>
            <a:lvl2pPr algn="l">
              <a:defRPr sz="2700">
                <a:solidFill>
                  <a:schemeClr val="bg1"/>
                </a:solidFill>
              </a:defRPr>
            </a:lvl2pPr>
          </a:lstStyle>
          <a:p>
            <a:pPr lvl="0"/>
            <a:r>
              <a:rPr lang="en-US" dirty="0"/>
              <a:t>Lorem ipsum dolor sit amet, consectetuer adipiscing elit. Maecenas porttitor congue massa. Fusce posuere, magna sed pulvinar ultricies, purus lectus malesuada libero, sit amet commodo magna eros quis urna.</a:t>
            </a:r>
          </a:p>
          <a:p>
            <a:pPr lvl="0"/>
            <a:endParaRPr lang="en-US" dirty="0"/>
          </a:p>
          <a:p>
            <a:pPr lvl="0"/>
            <a:r>
              <a:rPr lang="en-US" dirty="0"/>
              <a:t>Nunc viverra imperdiet enim. Fusce est. Vivamus a </a:t>
            </a:r>
            <a:r>
              <a:rPr lang="en-US" dirty="0" err="1"/>
              <a:t>tellus</a:t>
            </a:r>
            <a:r>
              <a:rPr lang="en-US" dirty="0"/>
              <a:t>.</a:t>
            </a:r>
          </a:p>
        </p:txBody>
      </p:sp>
      <p:sp>
        <p:nvSpPr>
          <p:cNvPr id="17" name="Picture Placeholder 16">
            <a:extLst>
              <a:ext uri="{FF2B5EF4-FFF2-40B4-BE49-F238E27FC236}">
                <a16:creationId xmlns:a16="http://schemas.microsoft.com/office/drawing/2014/main" id="{8BD65FF5-7812-8B44-B208-0D71BDCB2227}"/>
              </a:ext>
            </a:extLst>
          </p:cNvPr>
          <p:cNvSpPr>
            <a:spLocks noGrp="1"/>
          </p:cNvSpPr>
          <p:nvPr>
            <p:ph type="pic" sz="quarter" idx="13"/>
          </p:nvPr>
        </p:nvSpPr>
        <p:spPr>
          <a:xfrm>
            <a:off x="353218" y="1257300"/>
            <a:ext cx="3548063" cy="3600450"/>
          </a:xfrm>
          <a:prstGeom prst="ellipse">
            <a:avLst/>
          </a:prstGeom>
        </p:spPr>
        <p:txBody>
          <a:bodyPr/>
          <a:lstStyle>
            <a:lvl1pPr algn="ctr">
              <a:defRPr/>
            </a:lvl1pPr>
          </a:lstStyle>
          <a:p>
            <a:endParaRPr lang="en-US" dirty="0"/>
          </a:p>
        </p:txBody>
      </p:sp>
      <p:sp>
        <p:nvSpPr>
          <p:cNvPr id="6" name="bg object 20">
            <a:extLst>
              <a:ext uri="{FF2B5EF4-FFF2-40B4-BE49-F238E27FC236}">
                <a16:creationId xmlns:a16="http://schemas.microsoft.com/office/drawing/2014/main" id="{704E9FE6-EE91-5645-AF1B-D4A019758495}"/>
              </a:ext>
            </a:extLst>
          </p:cNvPr>
          <p:cNvSpPr/>
          <p:nvPr userDrawn="1"/>
        </p:nvSpPr>
        <p:spPr>
          <a:xfrm>
            <a:off x="342900" y="952500"/>
            <a:ext cx="11506200" cy="0"/>
          </a:xfrm>
          <a:custGeom>
            <a:avLst/>
            <a:gdLst/>
            <a:ahLst/>
            <a:cxnLst/>
            <a:rect l="l" t="t" r="r" b="b"/>
            <a:pathLst>
              <a:path w="15341600">
                <a:moveTo>
                  <a:pt x="0" y="0"/>
                </a:moveTo>
                <a:lnTo>
                  <a:pt x="15341600" y="0"/>
                </a:lnTo>
              </a:path>
            </a:pathLst>
          </a:custGeom>
          <a:ln w="25400">
            <a:solidFill>
              <a:srgbClr val="00719D"/>
            </a:solidFill>
          </a:ln>
        </p:spPr>
        <p:txBody>
          <a:bodyPr wrap="square" lIns="0" tIns="0" rIns="0" bIns="0" rtlCol="0"/>
          <a:lstStyle/>
          <a:p>
            <a:endParaRPr sz="1350" dirty="0">
              <a:highlight>
                <a:srgbClr val="00719D"/>
              </a:highlight>
            </a:endParaRPr>
          </a:p>
        </p:txBody>
      </p:sp>
    </p:spTree>
    <p:extLst>
      <p:ext uri="{BB962C8B-B14F-4D97-AF65-F5344CB8AC3E}">
        <p14:creationId xmlns:p14="http://schemas.microsoft.com/office/powerpoint/2010/main" val="975390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C2E0B3-B3E6-26E9-5FA1-3931FC3B96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7F7BB44-0F67-9916-ED9B-B55C3431FF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F94730-64E1-FC6A-8947-5B2CABFB25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4B6344-2996-4DA8-B7C5-7C73FE1FA299}" type="datetimeFigureOut">
              <a:rPr lang="en-US" smtClean="0"/>
              <a:t>10/23/2023</a:t>
            </a:fld>
            <a:endParaRPr lang="en-US"/>
          </a:p>
        </p:txBody>
      </p:sp>
      <p:sp>
        <p:nvSpPr>
          <p:cNvPr id="5" name="Footer Placeholder 4">
            <a:extLst>
              <a:ext uri="{FF2B5EF4-FFF2-40B4-BE49-F238E27FC236}">
                <a16:creationId xmlns:a16="http://schemas.microsoft.com/office/drawing/2014/main" id="{0458BFFB-CA03-3F4D-B4FC-D973042CC2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71E2E2-0EA6-6C43-6A37-29249F5960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596D52-7D40-40BC-BA24-8D09E51A1A01}" type="slidenum">
              <a:rPr lang="en-US" smtClean="0"/>
              <a:t>‹#›</a:t>
            </a:fld>
            <a:endParaRPr lang="en-US"/>
          </a:p>
        </p:txBody>
      </p:sp>
    </p:spTree>
    <p:extLst>
      <p:ext uri="{BB962C8B-B14F-4D97-AF65-F5344CB8AC3E}">
        <p14:creationId xmlns:p14="http://schemas.microsoft.com/office/powerpoint/2010/main" val="26368419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9.sv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hyperlink" Target="https://docs.mongodb.com/database-tools/mongoimport/#installation" TargetMode="External"/><Relationship Id="rId2" Type="http://schemas.openxmlformats.org/officeDocument/2006/relationships/hyperlink" Target="https://www.mongodb.com/try/download/database-tools?tck=docs_databasetools" TargetMode="Externa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hyperlink" Target="https://www.mongodb.com/docs/mongodb-shell/reference/data-types/" TargetMode="External"/><Relationship Id="rId2" Type="http://schemas.openxmlformats.org/officeDocument/2006/relationships/hyperlink" Target="https://www.mongodb.com/docs/manual/reference/operator/query/type/#std-label-document-type-available-types" TargetMode="External"/><Relationship Id="rId1" Type="http://schemas.openxmlformats.org/officeDocument/2006/relationships/slideLayout" Target="../slideLayouts/slideLayout12.xml"/><Relationship Id="rId6" Type="http://schemas.openxmlformats.org/officeDocument/2006/relationships/hyperlink" Target="https://www.mongodb.com/docs/manual/core/schema-validation/" TargetMode="External"/><Relationship Id="rId5" Type="http://schemas.openxmlformats.org/officeDocument/2006/relationships/hyperlink" Target="https://www.mongodb.com/docs/manual/reference/method/db.collection.find/" TargetMode="External"/><Relationship Id="rId4" Type="http://schemas.openxmlformats.org/officeDocument/2006/relationships/hyperlink" Target="https://www.mongodb.com/docs/manual/reference/method/db.collection.insertMany/"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1DBB56D-47FA-AD80-7EDF-60913484DF7E}"/>
              </a:ext>
            </a:extLst>
          </p:cNvPr>
          <p:cNvSpPr>
            <a:spLocks noGrp="1"/>
          </p:cNvSpPr>
          <p:nvPr>
            <p:ph type="ctrTitle"/>
          </p:nvPr>
        </p:nvSpPr>
        <p:spPr>
          <a:xfrm>
            <a:off x="1314824" y="735106"/>
            <a:ext cx="10053763" cy="2928470"/>
          </a:xfrm>
        </p:spPr>
        <p:txBody>
          <a:bodyPr anchor="b">
            <a:normAutofit/>
          </a:bodyPr>
          <a:lstStyle/>
          <a:p>
            <a:pPr algn="l"/>
            <a:r>
              <a:rPr lang="en-US" sz="4800">
                <a:solidFill>
                  <a:srgbClr val="FFFFFF"/>
                </a:solidFill>
              </a:rPr>
              <a:t>CDBM603 - Enterprise Data Architecture</a:t>
            </a:r>
          </a:p>
        </p:txBody>
      </p:sp>
      <p:sp>
        <p:nvSpPr>
          <p:cNvPr id="3" name="Subtitle 2">
            <a:extLst>
              <a:ext uri="{FF2B5EF4-FFF2-40B4-BE49-F238E27FC236}">
                <a16:creationId xmlns:a16="http://schemas.microsoft.com/office/drawing/2014/main" id="{A6C41C77-F142-AE0D-6ADF-66FA642CCF89}"/>
              </a:ext>
            </a:extLst>
          </p:cNvPr>
          <p:cNvSpPr>
            <a:spLocks noGrp="1"/>
          </p:cNvSpPr>
          <p:nvPr>
            <p:ph type="subTitle" idx="1"/>
          </p:nvPr>
        </p:nvSpPr>
        <p:spPr>
          <a:xfrm>
            <a:off x="1350682" y="4870824"/>
            <a:ext cx="10005951" cy="1458258"/>
          </a:xfrm>
        </p:spPr>
        <p:txBody>
          <a:bodyPr anchor="ctr">
            <a:normAutofit/>
          </a:bodyPr>
          <a:lstStyle/>
          <a:p>
            <a:pPr algn="l"/>
            <a:r>
              <a:rPr lang="en-US"/>
              <a:t>Week 9 Lecture</a:t>
            </a:r>
          </a:p>
          <a:p>
            <a:pPr algn="l"/>
            <a:r>
              <a:rPr lang="en-US"/>
              <a:t>Instructor: Abu Hena Al Muktadir</a:t>
            </a:r>
          </a:p>
          <a:p>
            <a:pPr algn="l"/>
            <a:r>
              <a:rPr lang="en-US"/>
              <a:t>Date: February 28, 2023</a:t>
            </a:r>
          </a:p>
        </p:txBody>
      </p:sp>
    </p:spTree>
    <p:extLst>
      <p:ext uri="{BB962C8B-B14F-4D97-AF65-F5344CB8AC3E}">
        <p14:creationId xmlns:p14="http://schemas.microsoft.com/office/powerpoint/2010/main" val="3133381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AD8EAE-42A9-0C06-464C-F6FF8C657CE4}"/>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Todays Agenda</a:t>
            </a:r>
          </a:p>
        </p:txBody>
      </p:sp>
      <p:graphicFrame>
        <p:nvGraphicFramePr>
          <p:cNvPr id="5" name="Content Placeholder 2">
            <a:extLst>
              <a:ext uri="{FF2B5EF4-FFF2-40B4-BE49-F238E27FC236}">
                <a16:creationId xmlns:a16="http://schemas.microsoft.com/office/drawing/2014/main" id="{3A628DAD-2B64-4DAC-8A6C-A2F0850D1BF1}"/>
              </a:ext>
            </a:extLst>
          </p:cNvPr>
          <p:cNvGraphicFramePr>
            <a:graphicFrameLocks noGrp="1"/>
          </p:cNvGraphicFramePr>
          <p:nvPr>
            <p:ph idx="1"/>
            <p:extLst>
              <p:ext uri="{D42A27DB-BD31-4B8C-83A1-F6EECF244321}">
                <p14:modId xmlns:p14="http://schemas.microsoft.com/office/powerpoint/2010/main" val="2273218484"/>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4988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461665"/>
          </a:xfrm>
        </p:spPr>
        <p:txBody>
          <a:bodyPr>
            <a:normAutofit lnSpcReduction="10000"/>
          </a:bodyPr>
          <a:lstStyle/>
          <a:p>
            <a:pPr algn="ctr"/>
            <a:r>
              <a:rPr lang="en-US" sz="3000" dirty="0"/>
              <a:t>JSON Documents Has on Six Data Types</a:t>
            </a:r>
          </a:p>
        </p:txBody>
      </p:sp>
      <p:sp>
        <p:nvSpPr>
          <p:cNvPr id="4" name="Text Placeholder 3">
            <a:extLst>
              <a:ext uri="{FF2B5EF4-FFF2-40B4-BE49-F238E27FC236}">
                <a16:creationId xmlns:a16="http://schemas.microsoft.com/office/drawing/2014/main" id="{181F5B31-6F6A-6882-D864-E96C4BF7DC87}"/>
              </a:ext>
            </a:extLst>
          </p:cNvPr>
          <p:cNvSpPr>
            <a:spLocks noGrp="1"/>
          </p:cNvSpPr>
          <p:nvPr>
            <p:ph type="body" sz="quarter" idx="12"/>
          </p:nvPr>
        </p:nvSpPr>
        <p:spPr>
          <a:xfrm>
            <a:off x="353218" y="1314450"/>
            <a:ext cx="5285582" cy="3693319"/>
          </a:xfrm>
        </p:spPr>
        <p:txBody>
          <a:bodyPr>
            <a:normAutofit fontScale="92500" lnSpcReduction="10000"/>
          </a:bodyPr>
          <a:lstStyle/>
          <a:p>
            <a:r>
              <a:rPr lang="en-US" dirty="0">
                <a:solidFill>
                  <a:srgbClr val="FF0000"/>
                </a:solidFill>
              </a:rPr>
              <a:t>JSON supports only the following six data types as values:</a:t>
            </a:r>
          </a:p>
          <a:p>
            <a:pPr marL="557213" indent="-557213">
              <a:buFont typeface="Arial" panose="020B0604020202020204" pitchFamily="34" charset="0"/>
              <a:buChar char="•"/>
            </a:pPr>
            <a:r>
              <a:rPr lang="en-US" dirty="0"/>
              <a:t>a string </a:t>
            </a:r>
          </a:p>
          <a:p>
            <a:pPr marL="557213" indent="-557213">
              <a:buFont typeface="Arial" panose="020B0604020202020204" pitchFamily="34" charset="0"/>
              <a:buChar char="•"/>
            </a:pPr>
            <a:r>
              <a:rPr lang="en-US" dirty="0"/>
              <a:t>a number</a:t>
            </a:r>
          </a:p>
          <a:p>
            <a:pPr marL="557213" indent="-557213">
              <a:buFont typeface="Arial" panose="020B0604020202020204" pitchFamily="34" charset="0"/>
              <a:buChar char="•"/>
            </a:pPr>
            <a:r>
              <a:rPr lang="en-US" dirty="0"/>
              <a:t>an object (JSON object)</a:t>
            </a:r>
          </a:p>
          <a:p>
            <a:pPr marL="557213" indent="-557213">
              <a:buFont typeface="Arial" panose="020B0604020202020204" pitchFamily="34" charset="0"/>
              <a:buChar char="•"/>
            </a:pPr>
            <a:r>
              <a:rPr lang="en-US" dirty="0"/>
              <a:t>an array</a:t>
            </a:r>
          </a:p>
          <a:p>
            <a:pPr marL="557213" indent="-557213">
              <a:buFont typeface="Arial" panose="020B0604020202020204" pitchFamily="34" charset="0"/>
              <a:buChar char="•"/>
            </a:pPr>
            <a:r>
              <a:rPr lang="en-US" dirty="0"/>
              <a:t>a </a:t>
            </a:r>
            <a:r>
              <a:rPr lang="en-US" dirty="0" err="1"/>
              <a:t>boolean</a:t>
            </a:r>
            <a:endParaRPr lang="en-US" dirty="0"/>
          </a:p>
          <a:p>
            <a:pPr marL="557213" indent="-557213">
              <a:buFont typeface="Arial" panose="020B0604020202020204" pitchFamily="34" charset="0"/>
              <a:buChar char="•"/>
            </a:pPr>
            <a:r>
              <a:rPr lang="en-US" dirty="0"/>
              <a:t>null</a:t>
            </a:r>
          </a:p>
        </p:txBody>
      </p:sp>
      <p:sp>
        <p:nvSpPr>
          <p:cNvPr id="6" name="TextBox 5">
            <a:extLst>
              <a:ext uri="{FF2B5EF4-FFF2-40B4-BE49-F238E27FC236}">
                <a16:creationId xmlns:a16="http://schemas.microsoft.com/office/drawing/2014/main" id="{F463479F-7B70-C9D3-81B7-742A5C786DEA}"/>
              </a:ext>
            </a:extLst>
          </p:cNvPr>
          <p:cNvSpPr txBox="1"/>
          <p:nvPr/>
        </p:nvSpPr>
        <p:spPr>
          <a:xfrm>
            <a:off x="6119060" y="1363050"/>
            <a:ext cx="4857750" cy="4154984"/>
          </a:xfrm>
          <a:prstGeom prst="rect">
            <a:avLst/>
          </a:prstGeom>
          <a:noFill/>
        </p:spPr>
        <p:txBody>
          <a:bodyPr wrap="square" rtlCol="0">
            <a:spAutoFit/>
          </a:bodyPr>
          <a:lstStyle/>
          <a:p>
            <a:pPr algn="just"/>
            <a:r>
              <a:rPr lang="en-US" sz="2400" dirty="0">
                <a:solidFill>
                  <a:srgbClr val="610B38"/>
                </a:solidFill>
                <a:latin typeface="erdana"/>
              </a:rPr>
              <a:t>JSON Object example:</a:t>
            </a:r>
          </a:p>
          <a:p>
            <a:pPr algn="just"/>
            <a:endParaRPr lang="en-US" sz="2400" dirty="0">
              <a:solidFill>
                <a:srgbClr val="000000"/>
              </a:solidFill>
              <a:latin typeface="inter-regular"/>
            </a:endParaRPr>
          </a:p>
          <a:p>
            <a:pPr algn="just"/>
            <a:r>
              <a:rPr lang="en-US" sz="2400" dirty="0">
                <a:solidFill>
                  <a:srgbClr val="000000"/>
                </a:solidFill>
                <a:latin typeface="inter-regular"/>
              </a:rPr>
              <a:t>{  </a:t>
            </a:r>
          </a:p>
          <a:p>
            <a:pPr algn="just"/>
            <a:r>
              <a:rPr lang="en-US" sz="2400" dirty="0">
                <a:solidFill>
                  <a:srgbClr val="000000"/>
                </a:solidFill>
                <a:latin typeface="inter-regular"/>
              </a:rPr>
              <a:t>    </a:t>
            </a:r>
            <a:r>
              <a:rPr lang="en-US" sz="2400" dirty="0">
                <a:solidFill>
                  <a:srgbClr val="0000FF"/>
                </a:solidFill>
                <a:latin typeface="inter-regular"/>
              </a:rPr>
              <a:t>"employee"</a:t>
            </a:r>
            <a:r>
              <a:rPr lang="en-US" sz="2400" dirty="0">
                <a:solidFill>
                  <a:srgbClr val="000000"/>
                </a:solidFill>
                <a:latin typeface="inter-regular"/>
              </a:rPr>
              <a:t>: {  </a:t>
            </a:r>
          </a:p>
          <a:p>
            <a:pPr algn="just"/>
            <a:r>
              <a:rPr lang="en-US" sz="2400" dirty="0">
                <a:solidFill>
                  <a:srgbClr val="000000"/>
                </a:solidFill>
                <a:latin typeface="inter-regular"/>
              </a:rPr>
              <a:t>        </a:t>
            </a:r>
            <a:r>
              <a:rPr lang="en-US" sz="2400" dirty="0">
                <a:solidFill>
                  <a:srgbClr val="0000FF"/>
                </a:solidFill>
                <a:latin typeface="inter-regular"/>
              </a:rPr>
              <a:t>"name"</a:t>
            </a:r>
            <a:r>
              <a:rPr lang="en-US" sz="2400" dirty="0">
                <a:solidFill>
                  <a:srgbClr val="000000"/>
                </a:solidFill>
                <a:latin typeface="inter-regular"/>
              </a:rPr>
              <a:t>:       </a:t>
            </a:r>
            <a:r>
              <a:rPr lang="en-US" sz="2400" dirty="0">
                <a:solidFill>
                  <a:srgbClr val="0000FF"/>
                </a:solidFill>
                <a:latin typeface="inter-regular"/>
              </a:rPr>
              <a:t>"</a:t>
            </a:r>
            <a:r>
              <a:rPr lang="en-US" sz="2400" dirty="0" err="1">
                <a:solidFill>
                  <a:srgbClr val="0000FF"/>
                </a:solidFill>
                <a:latin typeface="inter-regular"/>
              </a:rPr>
              <a:t>sonoo</a:t>
            </a:r>
            <a:r>
              <a:rPr lang="en-US" sz="2400" dirty="0">
                <a:solidFill>
                  <a:srgbClr val="0000FF"/>
                </a:solidFill>
                <a:latin typeface="inter-regular"/>
              </a:rPr>
              <a:t>"</a:t>
            </a:r>
            <a:r>
              <a:rPr lang="en-US" sz="2400" dirty="0">
                <a:solidFill>
                  <a:srgbClr val="000000"/>
                </a:solidFill>
                <a:latin typeface="inter-regular"/>
              </a:rPr>
              <a:t>,   </a:t>
            </a:r>
          </a:p>
          <a:p>
            <a:pPr algn="just"/>
            <a:r>
              <a:rPr lang="en-US" sz="2400" dirty="0">
                <a:solidFill>
                  <a:srgbClr val="000000"/>
                </a:solidFill>
                <a:latin typeface="inter-regular"/>
              </a:rPr>
              <a:t>        </a:t>
            </a:r>
            <a:r>
              <a:rPr lang="en-US" sz="2400" dirty="0">
                <a:solidFill>
                  <a:srgbClr val="0000FF"/>
                </a:solidFill>
                <a:latin typeface="inter-regular"/>
              </a:rPr>
              <a:t>"salary"</a:t>
            </a:r>
            <a:r>
              <a:rPr lang="en-US" sz="2400" dirty="0">
                <a:solidFill>
                  <a:srgbClr val="000000"/>
                </a:solidFill>
                <a:latin typeface="inter-regular"/>
              </a:rPr>
              <a:t>:      </a:t>
            </a:r>
            <a:r>
              <a:rPr lang="en-US" sz="2400" dirty="0">
                <a:solidFill>
                  <a:srgbClr val="C00000"/>
                </a:solidFill>
                <a:latin typeface="inter-regular"/>
              </a:rPr>
              <a:t>56000</a:t>
            </a:r>
            <a:r>
              <a:rPr lang="en-US" sz="2400" dirty="0">
                <a:solidFill>
                  <a:srgbClr val="000000"/>
                </a:solidFill>
                <a:latin typeface="inter-regular"/>
              </a:rPr>
              <a:t>,   </a:t>
            </a:r>
          </a:p>
          <a:p>
            <a:pPr algn="just"/>
            <a:r>
              <a:rPr lang="en-US" sz="2400" dirty="0">
                <a:solidFill>
                  <a:srgbClr val="000000"/>
                </a:solidFill>
                <a:latin typeface="inter-regular"/>
              </a:rPr>
              <a:t>        </a:t>
            </a:r>
            <a:r>
              <a:rPr lang="en-US" sz="2400" dirty="0">
                <a:solidFill>
                  <a:srgbClr val="0000FF"/>
                </a:solidFill>
                <a:latin typeface="inter-regular"/>
              </a:rPr>
              <a:t>"married"</a:t>
            </a:r>
            <a:r>
              <a:rPr lang="en-US" sz="2400" dirty="0">
                <a:solidFill>
                  <a:srgbClr val="000000"/>
                </a:solidFill>
                <a:latin typeface="inter-regular"/>
              </a:rPr>
              <a:t>:    </a:t>
            </a:r>
            <a:r>
              <a:rPr lang="en-US" sz="2400" b="1" dirty="0">
                <a:solidFill>
                  <a:srgbClr val="006699"/>
                </a:solidFill>
                <a:latin typeface="inter-regular"/>
              </a:rPr>
              <a:t>true</a:t>
            </a:r>
            <a:r>
              <a:rPr lang="en-US" sz="2400" dirty="0">
                <a:solidFill>
                  <a:srgbClr val="000000"/>
                </a:solidFill>
                <a:latin typeface="inter-regular"/>
              </a:rPr>
              <a:t>  </a:t>
            </a:r>
          </a:p>
          <a:p>
            <a:pPr algn="just"/>
            <a:r>
              <a:rPr lang="en-US" sz="2400" dirty="0">
                <a:solidFill>
                  <a:srgbClr val="000000"/>
                </a:solidFill>
                <a:latin typeface="inter-regular"/>
              </a:rPr>
              <a:t>    }  </a:t>
            </a:r>
          </a:p>
          <a:p>
            <a:pPr algn="just"/>
            <a:r>
              <a:rPr lang="en-US" sz="2400" dirty="0">
                <a:solidFill>
                  <a:srgbClr val="000000"/>
                </a:solidFill>
                <a:latin typeface="inter-regular"/>
              </a:rPr>
              <a:t>}  </a:t>
            </a:r>
          </a:p>
          <a:p>
            <a:endParaRPr lang="en-US" sz="2400" dirty="0"/>
          </a:p>
          <a:p>
            <a:endParaRPr lang="en-US" sz="2400" dirty="0"/>
          </a:p>
        </p:txBody>
      </p:sp>
    </p:spTree>
    <p:extLst>
      <p:ext uri="{BB962C8B-B14F-4D97-AF65-F5344CB8AC3E}">
        <p14:creationId xmlns:p14="http://schemas.microsoft.com/office/powerpoint/2010/main" val="1376430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461665"/>
          </a:xfrm>
        </p:spPr>
        <p:txBody>
          <a:bodyPr>
            <a:normAutofit lnSpcReduction="10000"/>
          </a:bodyPr>
          <a:lstStyle/>
          <a:p>
            <a:pPr algn="ctr"/>
            <a:r>
              <a:rPr lang="en-US" sz="3000" dirty="0"/>
              <a:t>JSON limited data types is not convenient</a:t>
            </a:r>
          </a:p>
        </p:txBody>
      </p:sp>
      <p:sp>
        <p:nvSpPr>
          <p:cNvPr id="4" name="Text Placeholder 3">
            <a:extLst>
              <a:ext uri="{FF2B5EF4-FFF2-40B4-BE49-F238E27FC236}">
                <a16:creationId xmlns:a16="http://schemas.microsoft.com/office/drawing/2014/main" id="{181F5B31-6F6A-6882-D864-E96C4BF7DC87}"/>
              </a:ext>
            </a:extLst>
          </p:cNvPr>
          <p:cNvSpPr>
            <a:spLocks noGrp="1"/>
          </p:cNvSpPr>
          <p:nvPr>
            <p:ph type="body" sz="quarter" idx="12"/>
          </p:nvPr>
        </p:nvSpPr>
        <p:spPr>
          <a:xfrm>
            <a:off x="5238751" y="1657350"/>
            <a:ext cx="5894180" cy="3139321"/>
          </a:xfrm>
        </p:spPr>
        <p:txBody>
          <a:bodyPr>
            <a:normAutofit lnSpcReduction="10000"/>
          </a:bodyPr>
          <a:lstStyle/>
          <a:p>
            <a:pPr marL="428625" indent="-428625">
              <a:buFont typeface="Arial" panose="020B0604020202020204" pitchFamily="34" charset="0"/>
              <a:buChar char="•"/>
            </a:pPr>
            <a:r>
              <a:rPr lang="en-US" dirty="0"/>
              <a:t>JSON has no date field. Working with dates in STRING format is not easy</a:t>
            </a:r>
          </a:p>
          <a:p>
            <a:pPr marL="428625" indent="-428625">
              <a:buFont typeface="Arial" panose="020B0604020202020204" pitchFamily="34" charset="0"/>
              <a:buChar char="•"/>
            </a:pPr>
            <a:r>
              <a:rPr lang="en-US" dirty="0"/>
              <a:t>JSON does not differentiate between </a:t>
            </a:r>
          </a:p>
          <a:p>
            <a:pPr marL="771525" lvl="1" indent="-428625"/>
            <a:r>
              <a:rPr lang="en-US" dirty="0">
                <a:solidFill>
                  <a:schemeClr val="tx1"/>
                </a:solidFill>
              </a:rPr>
              <a:t>an integer or a float</a:t>
            </a:r>
          </a:p>
          <a:p>
            <a:pPr marL="771525" lvl="1" indent="-428625"/>
            <a:r>
              <a:rPr lang="en-US" dirty="0">
                <a:solidFill>
                  <a:schemeClr val="tx1"/>
                </a:solidFill>
              </a:rPr>
              <a:t>32-bit or 64-bit numbers</a:t>
            </a:r>
          </a:p>
        </p:txBody>
      </p:sp>
      <p:sp>
        <p:nvSpPr>
          <p:cNvPr id="7" name="TextBox 6">
            <a:extLst>
              <a:ext uri="{FF2B5EF4-FFF2-40B4-BE49-F238E27FC236}">
                <a16:creationId xmlns:a16="http://schemas.microsoft.com/office/drawing/2014/main" id="{10C4B8A9-FA91-795E-74F5-D11588498D96}"/>
              </a:ext>
            </a:extLst>
          </p:cNvPr>
          <p:cNvSpPr txBox="1"/>
          <p:nvPr/>
        </p:nvSpPr>
        <p:spPr>
          <a:xfrm>
            <a:off x="609601" y="1657350"/>
            <a:ext cx="4057649" cy="1938992"/>
          </a:xfrm>
          <a:prstGeom prst="rect">
            <a:avLst/>
          </a:prstGeom>
          <a:noFill/>
        </p:spPr>
        <p:txBody>
          <a:bodyPr wrap="square" rtlCol="0">
            <a:spAutoFit/>
          </a:bodyPr>
          <a:lstStyle/>
          <a:p>
            <a:r>
              <a:rPr lang="en-US" sz="3000" dirty="0">
                <a:solidFill>
                  <a:srgbClr val="FF0000"/>
                </a:solidFill>
              </a:rPr>
              <a:t>JSON values cannot be</a:t>
            </a:r>
            <a:r>
              <a:rPr lang="en-US" sz="3000" dirty="0"/>
              <a:t>:</a:t>
            </a:r>
          </a:p>
          <a:p>
            <a:pPr marL="428625" indent="-428625">
              <a:buFont typeface="Arial" panose="020B0604020202020204" pitchFamily="34" charset="0"/>
              <a:buChar char="•"/>
            </a:pPr>
            <a:r>
              <a:rPr lang="en-US" sz="3000" dirty="0"/>
              <a:t>a function</a:t>
            </a:r>
          </a:p>
          <a:p>
            <a:pPr marL="428625" indent="-428625">
              <a:buFont typeface="Arial" panose="020B0604020202020204" pitchFamily="34" charset="0"/>
              <a:buChar char="•"/>
            </a:pPr>
            <a:r>
              <a:rPr lang="en-US" sz="3000" dirty="0"/>
              <a:t>a date</a:t>
            </a:r>
          </a:p>
          <a:p>
            <a:pPr marL="428625" indent="-428625">
              <a:buFont typeface="Arial" panose="020B0604020202020204" pitchFamily="34" charset="0"/>
              <a:buChar char="•"/>
            </a:pPr>
            <a:r>
              <a:rPr lang="en-US" sz="3000" dirty="0"/>
              <a:t>undefined</a:t>
            </a:r>
          </a:p>
        </p:txBody>
      </p:sp>
    </p:spTree>
    <p:extLst>
      <p:ext uri="{BB962C8B-B14F-4D97-AF65-F5344CB8AC3E}">
        <p14:creationId xmlns:p14="http://schemas.microsoft.com/office/powerpoint/2010/main" val="2972491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507831"/>
          </a:xfrm>
        </p:spPr>
        <p:txBody>
          <a:bodyPr>
            <a:normAutofit lnSpcReduction="10000"/>
          </a:bodyPr>
          <a:lstStyle/>
          <a:p>
            <a:pPr algn="ctr"/>
            <a:r>
              <a:rPr lang="en-US" sz="3300" dirty="0"/>
              <a:t>MongoDB add support for additional data types</a:t>
            </a:r>
          </a:p>
        </p:txBody>
      </p:sp>
      <p:sp>
        <p:nvSpPr>
          <p:cNvPr id="4" name="Text Placeholder 3">
            <a:extLst>
              <a:ext uri="{FF2B5EF4-FFF2-40B4-BE49-F238E27FC236}">
                <a16:creationId xmlns:a16="http://schemas.microsoft.com/office/drawing/2014/main" id="{181F5B31-6F6A-6882-D864-E96C4BF7DC87}"/>
              </a:ext>
            </a:extLst>
          </p:cNvPr>
          <p:cNvSpPr>
            <a:spLocks noGrp="1"/>
          </p:cNvSpPr>
          <p:nvPr>
            <p:ph type="body" sz="quarter" idx="12"/>
          </p:nvPr>
        </p:nvSpPr>
        <p:spPr>
          <a:xfrm>
            <a:off x="353218" y="1140556"/>
            <a:ext cx="11501486" cy="3231654"/>
          </a:xfrm>
        </p:spPr>
        <p:txBody>
          <a:bodyPr>
            <a:normAutofit lnSpcReduction="10000"/>
          </a:bodyPr>
          <a:lstStyle/>
          <a:p>
            <a:pPr marL="428625" indent="-428625">
              <a:buFont typeface="Arial" panose="020B0604020202020204" pitchFamily="34" charset="0"/>
              <a:buChar char="•"/>
            </a:pPr>
            <a:r>
              <a:rPr lang="en-US" dirty="0"/>
              <a:t>MongoDB Server stores data using the BSON (Binary JSON) format which supports some additional data types that are not available using the JSON format. </a:t>
            </a:r>
          </a:p>
          <a:p>
            <a:pPr marL="428625" indent="-428625">
              <a:buFont typeface="Arial" panose="020B0604020202020204" pitchFamily="34" charset="0"/>
              <a:buChar char="•"/>
            </a:pPr>
            <a:endParaRPr lang="en-US" dirty="0">
              <a:solidFill>
                <a:schemeClr val="tx1"/>
              </a:solidFill>
            </a:endParaRPr>
          </a:p>
          <a:p>
            <a:pPr marL="428625" indent="-428625">
              <a:buFont typeface="Arial" panose="020B0604020202020204" pitchFamily="34" charset="0"/>
              <a:buChar char="•"/>
            </a:pPr>
            <a:r>
              <a:rPr lang="en-US" dirty="0">
                <a:solidFill>
                  <a:schemeClr val="tx1"/>
                </a:solidFill>
              </a:rPr>
              <a:t>See [2] for an exhaustive list of datatypes supported by MongoDB</a:t>
            </a:r>
          </a:p>
          <a:p>
            <a:pPr marL="428625" indent="-428625">
              <a:buFont typeface="Arial" panose="020B0604020202020204" pitchFamily="34" charset="0"/>
              <a:buChar char="•"/>
            </a:pPr>
            <a:endParaRPr lang="en-US" dirty="0"/>
          </a:p>
          <a:p>
            <a:pPr marL="428625" indent="-428625">
              <a:buFont typeface="Arial" panose="020B0604020202020204" pitchFamily="34" charset="0"/>
              <a:buChar char="•"/>
            </a:pPr>
            <a:r>
              <a:rPr lang="en-US" dirty="0">
                <a:solidFill>
                  <a:schemeClr val="tx1"/>
                </a:solidFill>
              </a:rPr>
              <a:t>It shows 21 types, four types are deprecated</a:t>
            </a:r>
          </a:p>
        </p:txBody>
      </p:sp>
    </p:spTree>
    <p:extLst>
      <p:ext uri="{BB962C8B-B14F-4D97-AF65-F5344CB8AC3E}">
        <p14:creationId xmlns:p14="http://schemas.microsoft.com/office/powerpoint/2010/main" val="1789432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507831"/>
          </a:xfrm>
        </p:spPr>
        <p:txBody>
          <a:bodyPr>
            <a:normAutofit lnSpcReduction="10000"/>
          </a:bodyPr>
          <a:lstStyle/>
          <a:p>
            <a:pPr algn="ctr"/>
            <a:r>
              <a:rPr lang="en-US" sz="3300" dirty="0"/>
              <a:t>Some Commonly Used Data Types (1/2)</a:t>
            </a:r>
          </a:p>
        </p:txBody>
      </p:sp>
      <p:sp>
        <p:nvSpPr>
          <p:cNvPr id="4" name="Text Placeholder 3">
            <a:extLst>
              <a:ext uri="{FF2B5EF4-FFF2-40B4-BE49-F238E27FC236}">
                <a16:creationId xmlns:a16="http://schemas.microsoft.com/office/drawing/2014/main" id="{181F5B31-6F6A-6882-D864-E96C4BF7DC87}"/>
              </a:ext>
            </a:extLst>
          </p:cNvPr>
          <p:cNvSpPr>
            <a:spLocks noGrp="1"/>
          </p:cNvSpPr>
          <p:nvPr>
            <p:ph type="body" sz="quarter" idx="12"/>
          </p:nvPr>
        </p:nvSpPr>
        <p:spPr>
          <a:xfrm>
            <a:off x="353218" y="1314451"/>
            <a:ext cx="11501486" cy="4893647"/>
          </a:xfrm>
        </p:spPr>
        <p:txBody>
          <a:bodyPr/>
          <a:lstStyle/>
          <a:p>
            <a:pPr marL="428625" indent="-428625">
              <a:buFont typeface="Arial" panose="020B0604020202020204" pitchFamily="34" charset="0"/>
              <a:buChar char="•"/>
            </a:pPr>
            <a:r>
              <a:rPr lang="en-US" sz="3300" dirty="0"/>
              <a:t>Null: used to represent both a null value and a nonexistent field: {"x" : null}</a:t>
            </a:r>
          </a:p>
          <a:p>
            <a:pPr marL="428625" indent="-428625">
              <a:buFont typeface="Arial" panose="020B0604020202020204" pitchFamily="34" charset="0"/>
              <a:buChar char="•"/>
            </a:pPr>
            <a:r>
              <a:rPr lang="en-US" sz="3300" dirty="0"/>
              <a:t>Boolean: used for the values true and false: {"x" : true}</a:t>
            </a:r>
          </a:p>
          <a:p>
            <a:pPr marL="428625" indent="-428625">
              <a:buFont typeface="Arial" panose="020B0604020202020204" pitchFamily="34" charset="0"/>
              <a:buChar char="•"/>
            </a:pPr>
            <a:r>
              <a:rPr lang="en-US" sz="3300" dirty="0"/>
              <a:t>Number</a:t>
            </a:r>
          </a:p>
          <a:p>
            <a:pPr marL="771525" lvl="1" indent="-428625"/>
            <a:r>
              <a:rPr lang="en-US" sz="3000" dirty="0">
                <a:solidFill>
                  <a:schemeClr val="tx1"/>
                </a:solidFill>
              </a:rPr>
              <a:t>The shell defaults to using 64-bit floating-point numbers. Thus, these numbers both look “normal” in the shell:</a:t>
            </a:r>
          </a:p>
          <a:p>
            <a:pPr marL="771525" lvl="1" indent="-428625"/>
            <a:r>
              <a:rPr lang="en-US" sz="3000" dirty="0">
                <a:solidFill>
                  <a:schemeClr val="tx1"/>
                </a:solidFill>
              </a:rPr>
              <a:t>{"x" : 3.14} and {"x" : 3}</a:t>
            </a:r>
          </a:p>
          <a:p>
            <a:pPr marL="771525" lvl="1" indent="-428625"/>
            <a:r>
              <a:rPr lang="en-US" sz="3000" dirty="0">
                <a:solidFill>
                  <a:schemeClr val="tx1"/>
                </a:solidFill>
              </a:rPr>
              <a:t>For integers, use the </a:t>
            </a:r>
            <a:r>
              <a:rPr lang="en-US" sz="3000" dirty="0" err="1">
                <a:solidFill>
                  <a:schemeClr val="tx1"/>
                </a:solidFill>
              </a:rPr>
              <a:t>NumberInt</a:t>
            </a:r>
            <a:r>
              <a:rPr lang="en-US" sz="3000" dirty="0">
                <a:solidFill>
                  <a:schemeClr val="tx1"/>
                </a:solidFill>
              </a:rPr>
              <a:t> or </a:t>
            </a:r>
            <a:r>
              <a:rPr lang="en-US" sz="3000" dirty="0" err="1">
                <a:solidFill>
                  <a:schemeClr val="tx1"/>
                </a:solidFill>
              </a:rPr>
              <a:t>NumberLong</a:t>
            </a:r>
            <a:r>
              <a:rPr lang="en-US" sz="3000" dirty="0">
                <a:solidFill>
                  <a:schemeClr val="tx1"/>
                </a:solidFill>
              </a:rPr>
              <a:t> classes, which represent 4-byte or 8-byte signed integers, respectively.</a:t>
            </a:r>
          </a:p>
          <a:p>
            <a:pPr marL="771525" lvl="1" indent="-428625"/>
            <a:r>
              <a:rPr lang="en-US" sz="3000" dirty="0">
                <a:solidFill>
                  <a:schemeClr val="tx1"/>
                </a:solidFill>
              </a:rPr>
              <a:t>{"x" : </a:t>
            </a:r>
            <a:r>
              <a:rPr lang="en-US" sz="3000" dirty="0" err="1">
                <a:solidFill>
                  <a:schemeClr val="tx1"/>
                </a:solidFill>
              </a:rPr>
              <a:t>NumberInt</a:t>
            </a:r>
            <a:r>
              <a:rPr lang="en-US" sz="3000" dirty="0">
                <a:solidFill>
                  <a:schemeClr val="tx1"/>
                </a:solidFill>
              </a:rPr>
              <a:t>("3")} and {"x" : </a:t>
            </a:r>
            <a:r>
              <a:rPr lang="en-US" sz="3000" dirty="0" err="1">
                <a:solidFill>
                  <a:schemeClr val="tx1"/>
                </a:solidFill>
              </a:rPr>
              <a:t>NumberLong</a:t>
            </a:r>
            <a:r>
              <a:rPr lang="en-US" sz="3000" dirty="0">
                <a:solidFill>
                  <a:schemeClr val="tx1"/>
                </a:solidFill>
              </a:rPr>
              <a:t>("3")}</a:t>
            </a:r>
          </a:p>
        </p:txBody>
      </p:sp>
    </p:spTree>
    <p:extLst>
      <p:ext uri="{BB962C8B-B14F-4D97-AF65-F5344CB8AC3E}">
        <p14:creationId xmlns:p14="http://schemas.microsoft.com/office/powerpoint/2010/main" val="1462194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507831"/>
          </a:xfrm>
        </p:spPr>
        <p:txBody>
          <a:bodyPr>
            <a:normAutofit lnSpcReduction="10000"/>
          </a:bodyPr>
          <a:lstStyle/>
          <a:p>
            <a:pPr algn="ctr"/>
            <a:r>
              <a:rPr lang="en-US" sz="3300" dirty="0"/>
              <a:t>Some Commonly Used Data Types (2/2)</a:t>
            </a:r>
          </a:p>
        </p:txBody>
      </p:sp>
      <p:sp>
        <p:nvSpPr>
          <p:cNvPr id="4" name="Text Placeholder 3">
            <a:extLst>
              <a:ext uri="{FF2B5EF4-FFF2-40B4-BE49-F238E27FC236}">
                <a16:creationId xmlns:a16="http://schemas.microsoft.com/office/drawing/2014/main" id="{181F5B31-6F6A-6882-D864-E96C4BF7DC87}"/>
              </a:ext>
            </a:extLst>
          </p:cNvPr>
          <p:cNvSpPr>
            <a:spLocks noGrp="1"/>
          </p:cNvSpPr>
          <p:nvPr>
            <p:ph type="body" sz="quarter" idx="12"/>
          </p:nvPr>
        </p:nvSpPr>
        <p:spPr>
          <a:xfrm>
            <a:off x="353218" y="1085851"/>
            <a:ext cx="11501486" cy="5170646"/>
          </a:xfrm>
        </p:spPr>
        <p:txBody>
          <a:bodyPr/>
          <a:lstStyle/>
          <a:p>
            <a:pPr marL="428625" indent="-428625">
              <a:buFont typeface="Arial" panose="020B0604020202020204" pitchFamily="34" charset="0"/>
              <a:buChar char="•"/>
            </a:pPr>
            <a:r>
              <a:rPr lang="en-US" sz="2700" dirty="0"/>
              <a:t>String: Any string of UTF-8 characters can be represented using the string type: {"x" : "</a:t>
            </a:r>
            <a:r>
              <a:rPr lang="en-US" sz="2700" dirty="0" err="1"/>
              <a:t>foobar</a:t>
            </a:r>
            <a:r>
              <a:rPr lang="en-US" sz="2700" dirty="0"/>
              <a:t>"}</a:t>
            </a:r>
          </a:p>
          <a:p>
            <a:pPr marL="428625" indent="-428625">
              <a:buFont typeface="Arial" panose="020B0604020202020204" pitchFamily="34" charset="0"/>
              <a:buChar char="•"/>
            </a:pPr>
            <a:r>
              <a:rPr lang="en-US" sz="2700" dirty="0"/>
              <a:t>Date: MongoDB stores dates as 64-bit integers representing milliseconds since the Unix epoch (January 1, 1970). The time zone is not stored: {"x" : new Date()}</a:t>
            </a:r>
          </a:p>
          <a:p>
            <a:pPr marL="428625" indent="-428625">
              <a:buFont typeface="Arial" panose="020B0604020202020204" pitchFamily="34" charset="0"/>
              <a:buChar char="•"/>
            </a:pPr>
            <a:r>
              <a:rPr lang="en-US" sz="2700" dirty="0"/>
              <a:t>Regular expression: Queries can use regular expressions using JavaScript’s regular expression syntax: {"x" : </a:t>
            </a:r>
            <a:r>
              <a:rPr lang="en-US" sz="2700" dirty="0">
                <a:solidFill>
                  <a:srgbClr val="000000"/>
                </a:solidFill>
                <a:latin typeface="Menlo"/>
              </a:rPr>
              <a:t>gr(</a:t>
            </a:r>
            <a:r>
              <a:rPr lang="en-US" sz="2700" dirty="0" err="1">
                <a:solidFill>
                  <a:srgbClr val="000000"/>
                </a:solidFill>
                <a:latin typeface="Menlo"/>
              </a:rPr>
              <a:t>a|e</a:t>
            </a:r>
            <a:r>
              <a:rPr lang="en-US" sz="2700" dirty="0">
                <a:solidFill>
                  <a:srgbClr val="000000"/>
                </a:solidFill>
                <a:latin typeface="Menlo"/>
              </a:rPr>
              <a:t>)y</a:t>
            </a:r>
            <a:r>
              <a:rPr lang="en-US" sz="2700" dirty="0"/>
              <a:t>}</a:t>
            </a:r>
          </a:p>
          <a:p>
            <a:pPr marL="428625" indent="-428625">
              <a:buFont typeface="Arial" panose="020B0604020202020204" pitchFamily="34" charset="0"/>
              <a:buChar char="•"/>
            </a:pPr>
            <a:r>
              <a:rPr lang="en-US" sz="2700" dirty="0"/>
              <a:t>Array: Sets or lists of values can be represented as arrays: {"x" : ["a", "b", "c"]}</a:t>
            </a:r>
          </a:p>
          <a:p>
            <a:pPr marL="428625" indent="-428625">
              <a:buFont typeface="Arial" panose="020B0604020202020204" pitchFamily="34" charset="0"/>
              <a:buChar char="•"/>
            </a:pPr>
            <a:r>
              <a:rPr lang="en-US" sz="2700" dirty="0"/>
              <a:t>Embedded document: Documents can contain entire documents embedded as values in a parent document: {"x" : {"foo" : "bar"}}</a:t>
            </a:r>
          </a:p>
          <a:p>
            <a:pPr marL="428625" indent="-428625">
              <a:buFont typeface="Arial" panose="020B0604020202020204" pitchFamily="34" charset="0"/>
              <a:buChar char="•"/>
            </a:pPr>
            <a:r>
              <a:rPr lang="en-US" sz="2700" dirty="0"/>
              <a:t>Code: MongoDB also makes it possible to store arbitrary JavaScript in queries and documents: {"x" : function() { /* ... */ }}</a:t>
            </a:r>
          </a:p>
        </p:txBody>
      </p:sp>
    </p:spTree>
    <p:extLst>
      <p:ext uri="{BB962C8B-B14F-4D97-AF65-F5344CB8AC3E}">
        <p14:creationId xmlns:p14="http://schemas.microsoft.com/office/powerpoint/2010/main" val="1673488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507831"/>
          </a:xfrm>
        </p:spPr>
        <p:txBody>
          <a:bodyPr>
            <a:normAutofit lnSpcReduction="10000"/>
          </a:bodyPr>
          <a:lstStyle/>
          <a:p>
            <a:pPr algn="ctr"/>
            <a:r>
              <a:rPr lang="en-US" sz="3300" dirty="0"/>
              <a:t>_id and </a:t>
            </a:r>
            <a:r>
              <a:rPr lang="en-US" sz="3300" dirty="0" err="1"/>
              <a:t>ObjectIds</a:t>
            </a:r>
            <a:endParaRPr lang="en-US" sz="3300" dirty="0"/>
          </a:p>
        </p:txBody>
      </p:sp>
      <p:sp>
        <p:nvSpPr>
          <p:cNvPr id="4" name="Text Placeholder 3">
            <a:extLst>
              <a:ext uri="{FF2B5EF4-FFF2-40B4-BE49-F238E27FC236}">
                <a16:creationId xmlns:a16="http://schemas.microsoft.com/office/drawing/2014/main" id="{181F5B31-6F6A-6882-D864-E96C4BF7DC87}"/>
              </a:ext>
            </a:extLst>
          </p:cNvPr>
          <p:cNvSpPr>
            <a:spLocks noGrp="1"/>
          </p:cNvSpPr>
          <p:nvPr>
            <p:ph type="body" sz="quarter" idx="12"/>
          </p:nvPr>
        </p:nvSpPr>
        <p:spPr>
          <a:xfrm>
            <a:off x="181768" y="1085850"/>
            <a:ext cx="11838782" cy="5078313"/>
          </a:xfrm>
        </p:spPr>
        <p:txBody>
          <a:bodyPr>
            <a:normAutofit fontScale="92500"/>
          </a:bodyPr>
          <a:lstStyle/>
          <a:p>
            <a:pPr marL="428625" indent="-428625">
              <a:buFont typeface="Arial" panose="020B0604020202020204" pitchFamily="34" charset="0"/>
              <a:buChar char="•"/>
            </a:pPr>
            <a:r>
              <a:rPr lang="en-US" dirty="0"/>
              <a:t>Every document stored in MongoDB must have an "_id" key. </a:t>
            </a:r>
          </a:p>
          <a:p>
            <a:pPr marL="428625" indent="-428625">
              <a:buFont typeface="Arial" panose="020B0604020202020204" pitchFamily="34" charset="0"/>
              <a:buChar char="•"/>
            </a:pPr>
            <a:r>
              <a:rPr lang="en-US" dirty="0"/>
              <a:t>The "_id" key’s value can be any type, but it defaults to an </a:t>
            </a:r>
            <a:r>
              <a:rPr lang="en-US" dirty="0" err="1"/>
              <a:t>ObjectId</a:t>
            </a:r>
            <a:r>
              <a:rPr lang="en-US" dirty="0"/>
              <a:t>. </a:t>
            </a:r>
          </a:p>
          <a:p>
            <a:pPr marL="428625" indent="-428625">
              <a:buFont typeface="Arial" panose="020B0604020202020204" pitchFamily="34" charset="0"/>
              <a:buChar char="•"/>
            </a:pPr>
            <a:r>
              <a:rPr lang="en-US" dirty="0" err="1">
                <a:solidFill>
                  <a:schemeClr val="tx1"/>
                </a:solidFill>
              </a:rPr>
              <a:t>ObjectIds</a:t>
            </a:r>
            <a:r>
              <a:rPr lang="en-US" dirty="0">
                <a:solidFill>
                  <a:schemeClr val="tx1"/>
                </a:solidFill>
              </a:rPr>
              <a:t> use 12 bytes of storage, which gives them a string representation that is 24 hexadecimal digits: 2 digits for each byte.</a:t>
            </a:r>
          </a:p>
          <a:p>
            <a:pPr marL="428625" indent="-428625">
              <a:buFont typeface="Arial" panose="020B0604020202020204" pitchFamily="34" charset="0"/>
              <a:buChar char="•"/>
            </a:pPr>
            <a:endParaRPr lang="en-US" dirty="0"/>
          </a:p>
          <a:p>
            <a:endParaRPr lang="en-US" dirty="0"/>
          </a:p>
          <a:p>
            <a:pPr marL="428625" indent="-428625">
              <a:buFont typeface="Arial" panose="020B0604020202020204" pitchFamily="34" charset="0"/>
              <a:buChar char="•"/>
            </a:pPr>
            <a:r>
              <a:rPr lang="en-US" dirty="0">
                <a:solidFill>
                  <a:schemeClr val="tx1"/>
                </a:solidFill>
              </a:rPr>
              <a:t>The first four bytes (0 to 3) are a timestamp in seconds since the epoch.</a:t>
            </a:r>
          </a:p>
          <a:p>
            <a:pPr marL="428625" indent="-428625">
              <a:buFont typeface="Arial" panose="020B0604020202020204" pitchFamily="34" charset="0"/>
              <a:buChar char="•"/>
            </a:pPr>
            <a:r>
              <a:rPr lang="en-US" dirty="0"/>
              <a:t>Next three bytes are generated from machine name (md5 hash)</a:t>
            </a:r>
          </a:p>
          <a:p>
            <a:pPr marL="428625" indent="-428625">
              <a:buFont typeface="Arial" panose="020B0604020202020204" pitchFamily="34" charset="0"/>
              <a:buChar char="•"/>
            </a:pPr>
            <a:r>
              <a:rPr lang="en-US" dirty="0">
                <a:solidFill>
                  <a:schemeClr val="tx1"/>
                </a:solidFill>
              </a:rPr>
              <a:t>Next two byte</a:t>
            </a:r>
            <a:r>
              <a:rPr lang="en-US" dirty="0"/>
              <a:t>s (7, 8) are </a:t>
            </a:r>
            <a:r>
              <a:rPr lang="en-US" dirty="0" err="1"/>
              <a:t>Pid</a:t>
            </a:r>
            <a:r>
              <a:rPr lang="en-US" dirty="0"/>
              <a:t> (Process ID)</a:t>
            </a:r>
          </a:p>
          <a:p>
            <a:pPr marL="428625" indent="-428625">
              <a:buFont typeface="Arial" panose="020B0604020202020204" pitchFamily="34" charset="0"/>
              <a:buChar char="•"/>
            </a:pPr>
            <a:r>
              <a:rPr lang="en-US" dirty="0">
                <a:solidFill>
                  <a:schemeClr val="tx1"/>
                </a:solidFill>
              </a:rPr>
              <a:t>The final three bytes are incrementing values starting with a random number.</a:t>
            </a:r>
          </a:p>
        </p:txBody>
      </p:sp>
      <p:graphicFrame>
        <p:nvGraphicFramePr>
          <p:cNvPr id="3" name="Table 4">
            <a:extLst>
              <a:ext uri="{FF2B5EF4-FFF2-40B4-BE49-F238E27FC236}">
                <a16:creationId xmlns:a16="http://schemas.microsoft.com/office/drawing/2014/main" id="{28618AAE-868B-8DA3-BA0F-9276B57984F4}"/>
              </a:ext>
            </a:extLst>
          </p:cNvPr>
          <p:cNvGraphicFramePr>
            <a:graphicFrameLocks noGrp="1"/>
          </p:cNvGraphicFramePr>
          <p:nvPr/>
        </p:nvGraphicFramePr>
        <p:xfrm>
          <a:off x="1932384" y="3166110"/>
          <a:ext cx="8127996" cy="525780"/>
        </p:xfrm>
        <a:graphic>
          <a:graphicData uri="http://schemas.openxmlformats.org/drawingml/2006/table">
            <a:tbl>
              <a:tblPr firstRow="1" bandRow="1">
                <a:tableStyleId>{5C22544A-7EE6-4342-B048-85BDC9FD1C3A}</a:tableStyleId>
              </a:tblPr>
              <a:tblGrid>
                <a:gridCol w="677333">
                  <a:extLst>
                    <a:ext uri="{9D8B030D-6E8A-4147-A177-3AD203B41FA5}">
                      <a16:colId xmlns:a16="http://schemas.microsoft.com/office/drawing/2014/main" val="1226276972"/>
                    </a:ext>
                  </a:extLst>
                </a:gridCol>
                <a:gridCol w="677333">
                  <a:extLst>
                    <a:ext uri="{9D8B030D-6E8A-4147-A177-3AD203B41FA5}">
                      <a16:colId xmlns:a16="http://schemas.microsoft.com/office/drawing/2014/main" val="2522211184"/>
                    </a:ext>
                  </a:extLst>
                </a:gridCol>
                <a:gridCol w="677333">
                  <a:extLst>
                    <a:ext uri="{9D8B030D-6E8A-4147-A177-3AD203B41FA5}">
                      <a16:colId xmlns:a16="http://schemas.microsoft.com/office/drawing/2014/main" val="2962114500"/>
                    </a:ext>
                  </a:extLst>
                </a:gridCol>
                <a:gridCol w="677333">
                  <a:extLst>
                    <a:ext uri="{9D8B030D-6E8A-4147-A177-3AD203B41FA5}">
                      <a16:colId xmlns:a16="http://schemas.microsoft.com/office/drawing/2014/main" val="2088145759"/>
                    </a:ext>
                  </a:extLst>
                </a:gridCol>
                <a:gridCol w="677333">
                  <a:extLst>
                    <a:ext uri="{9D8B030D-6E8A-4147-A177-3AD203B41FA5}">
                      <a16:colId xmlns:a16="http://schemas.microsoft.com/office/drawing/2014/main" val="723494553"/>
                    </a:ext>
                  </a:extLst>
                </a:gridCol>
                <a:gridCol w="677333">
                  <a:extLst>
                    <a:ext uri="{9D8B030D-6E8A-4147-A177-3AD203B41FA5}">
                      <a16:colId xmlns:a16="http://schemas.microsoft.com/office/drawing/2014/main" val="4205388617"/>
                    </a:ext>
                  </a:extLst>
                </a:gridCol>
                <a:gridCol w="677333">
                  <a:extLst>
                    <a:ext uri="{9D8B030D-6E8A-4147-A177-3AD203B41FA5}">
                      <a16:colId xmlns:a16="http://schemas.microsoft.com/office/drawing/2014/main" val="2478601628"/>
                    </a:ext>
                  </a:extLst>
                </a:gridCol>
                <a:gridCol w="677333">
                  <a:extLst>
                    <a:ext uri="{9D8B030D-6E8A-4147-A177-3AD203B41FA5}">
                      <a16:colId xmlns:a16="http://schemas.microsoft.com/office/drawing/2014/main" val="3212598496"/>
                    </a:ext>
                  </a:extLst>
                </a:gridCol>
                <a:gridCol w="677333">
                  <a:extLst>
                    <a:ext uri="{9D8B030D-6E8A-4147-A177-3AD203B41FA5}">
                      <a16:colId xmlns:a16="http://schemas.microsoft.com/office/drawing/2014/main" val="3903425913"/>
                    </a:ext>
                  </a:extLst>
                </a:gridCol>
                <a:gridCol w="677333">
                  <a:extLst>
                    <a:ext uri="{9D8B030D-6E8A-4147-A177-3AD203B41FA5}">
                      <a16:colId xmlns:a16="http://schemas.microsoft.com/office/drawing/2014/main" val="2986657827"/>
                    </a:ext>
                  </a:extLst>
                </a:gridCol>
                <a:gridCol w="677333">
                  <a:extLst>
                    <a:ext uri="{9D8B030D-6E8A-4147-A177-3AD203B41FA5}">
                      <a16:colId xmlns:a16="http://schemas.microsoft.com/office/drawing/2014/main" val="3045049800"/>
                    </a:ext>
                  </a:extLst>
                </a:gridCol>
                <a:gridCol w="677333">
                  <a:extLst>
                    <a:ext uri="{9D8B030D-6E8A-4147-A177-3AD203B41FA5}">
                      <a16:colId xmlns:a16="http://schemas.microsoft.com/office/drawing/2014/main" val="3364303546"/>
                    </a:ext>
                  </a:extLst>
                </a:gridCol>
              </a:tblGrid>
              <a:tr h="525780">
                <a:tc>
                  <a:txBody>
                    <a:bodyPr/>
                    <a:lstStyle/>
                    <a:p>
                      <a:pPr algn="ctr"/>
                      <a:r>
                        <a:rPr lang="en-US" sz="3000" dirty="0"/>
                        <a:t>0</a:t>
                      </a:r>
                    </a:p>
                  </a:txBody>
                  <a:tcPr marL="68580" marR="68580" marT="34290" marB="34290"/>
                </a:tc>
                <a:tc>
                  <a:txBody>
                    <a:bodyPr/>
                    <a:lstStyle/>
                    <a:p>
                      <a:pPr algn="ctr"/>
                      <a:r>
                        <a:rPr lang="en-US" sz="3000" dirty="0"/>
                        <a:t>1</a:t>
                      </a:r>
                    </a:p>
                  </a:txBody>
                  <a:tcPr marL="68580" marR="68580" marT="34290" marB="34290"/>
                </a:tc>
                <a:tc>
                  <a:txBody>
                    <a:bodyPr/>
                    <a:lstStyle/>
                    <a:p>
                      <a:pPr algn="ctr"/>
                      <a:r>
                        <a:rPr lang="en-US" sz="3000" dirty="0"/>
                        <a:t>2</a:t>
                      </a:r>
                    </a:p>
                  </a:txBody>
                  <a:tcPr marL="68580" marR="68580" marT="34290" marB="34290"/>
                </a:tc>
                <a:tc>
                  <a:txBody>
                    <a:bodyPr/>
                    <a:lstStyle/>
                    <a:p>
                      <a:pPr algn="ctr"/>
                      <a:r>
                        <a:rPr lang="en-US" sz="3000" dirty="0"/>
                        <a:t>3</a:t>
                      </a:r>
                    </a:p>
                  </a:txBody>
                  <a:tcPr marL="68580" marR="68580" marT="34290" marB="34290"/>
                </a:tc>
                <a:tc>
                  <a:txBody>
                    <a:bodyPr/>
                    <a:lstStyle/>
                    <a:p>
                      <a:pPr algn="ctr"/>
                      <a:r>
                        <a:rPr lang="en-US" sz="3000" dirty="0"/>
                        <a:t>4</a:t>
                      </a:r>
                    </a:p>
                  </a:txBody>
                  <a:tcPr marL="68580" marR="68580" marT="34290" marB="34290"/>
                </a:tc>
                <a:tc>
                  <a:txBody>
                    <a:bodyPr/>
                    <a:lstStyle/>
                    <a:p>
                      <a:pPr algn="ctr"/>
                      <a:r>
                        <a:rPr lang="en-US" sz="3000" dirty="0"/>
                        <a:t>5</a:t>
                      </a:r>
                    </a:p>
                  </a:txBody>
                  <a:tcPr marL="68580" marR="68580" marT="34290" marB="34290"/>
                </a:tc>
                <a:tc>
                  <a:txBody>
                    <a:bodyPr/>
                    <a:lstStyle/>
                    <a:p>
                      <a:pPr algn="ctr"/>
                      <a:r>
                        <a:rPr lang="en-US" sz="3000" dirty="0"/>
                        <a:t>6</a:t>
                      </a:r>
                    </a:p>
                  </a:txBody>
                  <a:tcPr marL="68580" marR="68580" marT="34290" marB="34290"/>
                </a:tc>
                <a:tc>
                  <a:txBody>
                    <a:bodyPr/>
                    <a:lstStyle/>
                    <a:p>
                      <a:pPr algn="ctr"/>
                      <a:r>
                        <a:rPr lang="en-US" sz="3000" dirty="0"/>
                        <a:t>7</a:t>
                      </a:r>
                    </a:p>
                  </a:txBody>
                  <a:tcPr marL="68580" marR="68580" marT="34290" marB="34290"/>
                </a:tc>
                <a:tc>
                  <a:txBody>
                    <a:bodyPr/>
                    <a:lstStyle/>
                    <a:p>
                      <a:pPr algn="ctr"/>
                      <a:r>
                        <a:rPr lang="en-US" sz="3000" dirty="0"/>
                        <a:t>8</a:t>
                      </a:r>
                    </a:p>
                  </a:txBody>
                  <a:tcPr marL="68580" marR="68580" marT="34290" marB="34290"/>
                </a:tc>
                <a:tc>
                  <a:txBody>
                    <a:bodyPr/>
                    <a:lstStyle/>
                    <a:p>
                      <a:pPr algn="ctr"/>
                      <a:r>
                        <a:rPr lang="en-US" sz="3000" dirty="0"/>
                        <a:t>9</a:t>
                      </a:r>
                    </a:p>
                  </a:txBody>
                  <a:tcPr marL="68580" marR="68580" marT="34290" marB="34290"/>
                </a:tc>
                <a:tc>
                  <a:txBody>
                    <a:bodyPr/>
                    <a:lstStyle/>
                    <a:p>
                      <a:pPr algn="ctr"/>
                      <a:r>
                        <a:rPr lang="en-US" sz="3000" dirty="0"/>
                        <a:t>10</a:t>
                      </a:r>
                    </a:p>
                  </a:txBody>
                  <a:tcPr marL="68580" marR="68580" marT="34290" marB="34290"/>
                </a:tc>
                <a:tc>
                  <a:txBody>
                    <a:bodyPr/>
                    <a:lstStyle/>
                    <a:p>
                      <a:pPr algn="ctr"/>
                      <a:r>
                        <a:rPr lang="en-US" sz="3000" dirty="0"/>
                        <a:t>11</a:t>
                      </a:r>
                    </a:p>
                  </a:txBody>
                  <a:tcPr marL="68580" marR="68580" marT="34290" marB="34290"/>
                </a:tc>
                <a:extLst>
                  <a:ext uri="{0D108BD9-81ED-4DB2-BD59-A6C34878D82A}">
                    <a16:rowId xmlns:a16="http://schemas.microsoft.com/office/drawing/2014/main" val="2191693088"/>
                  </a:ext>
                </a:extLst>
              </a:tr>
            </a:tbl>
          </a:graphicData>
        </a:graphic>
      </p:graphicFrame>
    </p:spTree>
    <p:extLst>
      <p:ext uri="{BB962C8B-B14F-4D97-AF65-F5344CB8AC3E}">
        <p14:creationId xmlns:p14="http://schemas.microsoft.com/office/powerpoint/2010/main" val="1488925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507831"/>
          </a:xfrm>
        </p:spPr>
        <p:txBody>
          <a:bodyPr>
            <a:normAutofit lnSpcReduction="10000"/>
          </a:bodyPr>
          <a:lstStyle/>
          <a:p>
            <a:pPr algn="ctr"/>
            <a:r>
              <a:rPr lang="en-US" sz="3300" dirty="0"/>
              <a:t>Create a Database</a:t>
            </a:r>
          </a:p>
        </p:txBody>
      </p:sp>
      <p:sp>
        <p:nvSpPr>
          <p:cNvPr id="4" name="Text Placeholder 3">
            <a:extLst>
              <a:ext uri="{FF2B5EF4-FFF2-40B4-BE49-F238E27FC236}">
                <a16:creationId xmlns:a16="http://schemas.microsoft.com/office/drawing/2014/main" id="{181F5B31-6F6A-6882-D864-E96C4BF7DC87}"/>
              </a:ext>
            </a:extLst>
          </p:cNvPr>
          <p:cNvSpPr>
            <a:spLocks noGrp="1"/>
          </p:cNvSpPr>
          <p:nvPr>
            <p:ph type="body" sz="quarter" idx="12"/>
          </p:nvPr>
        </p:nvSpPr>
        <p:spPr>
          <a:xfrm>
            <a:off x="353218" y="1314450"/>
            <a:ext cx="11495882" cy="5131319"/>
          </a:xfrm>
        </p:spPr>
        <p:txBody>
          <a:bodyPr>
            <a:normAutofit fontScale="85000" lnSpcReduction="20000"/>
          </a:bodyPr>
          <a:lstStyle/>
          <a:p>
            <a:pPr marL="428625" indent="-428625">
              <a:buFont typeface="Arial" panose="020B0604020202020204" pitchFamily="34" charset="0"/>
              <a:buChar char="•"/>
            </a:pPr>
            <a:r>
              <a:rPr lang="en-US" dirty="0"/>
              <a:t> Run the command</a:t>
            </a:r>
          </a:p>
          <a:p>
            <a:pPr marL="428625" indent="-428625">
              <a:buFont typeface="Arial" panose="020B0604020202020204" pitchFamily="34" charset="0"/>
              <a:buChar char="•"/>
            </a:pPr>
            <a:r>
              <a:rPr lang="en-US" dirty="0"/>
              <a:t> </a:t>
            </a:r>
            <a:r>
              <a:rPr lang="en-US" dirty="0" err="1"/>
              <a:t>db</a:t>
            </a:r>
            <a:r>
              <a:rPr lang="en-US" dirty="0"/>
              <a:t> : show which database you are using</a:t>
            </a:r>
          </a:p>
          <a:p>
            <a:pPr marL="428625" indent="-428625">
              <a:buFont typeface="Wingdings" panose="05000000000000000000" pitchFamily="2" charset="2"/>
              <a:buChar char="Ø"/>
            </a:pPr>
            <a:r>
              <a:rPr lang="en-US" b="1" dirty="0"/>
              <a:t>show </a:t>
            </a:r>
            <a:r>
              <a:rPr lang="en-US" b="1" dirty="0" err="1"/>
              <a:t>dbs</a:t>
            </a:r>
            <a:r>
              <a:rPr lang="en-US" b="1" dirty="0"/>
              <a:t> </a:t>
            </a:r>
          </a:p>
          <a:p>
            <a:pPr marL="1114425" lvl="1" indent="-428625">
              <a:buFont typeface="Wingdings" panose="05000000000000000000" pitchFamily="2" charset="2"/>
              <a:buChar char="Ø"/>
            </a:pPr>
            <a:r>
              <a:rPr lang="en-US" dirty="0">
                <a:solidFill>
                  <a:schemeClr val="tx1"/>
                </a:solidFill>
              </a:rPr>
              <a:t>Show all available databases.</a:t>
            </a:r>
          </a:p>
          <a:p>
            <a:pPr marL="428625" indent="-428625">
              <a:buFont typeface="Arial" panose="020B0604020202020204" pitchFamily="34" charset="0"/>
              <a:buChar char="•"/>
            </a:pPr>
            <a:r>
              <a:rPr lang="en-US" b="0" i="0" dirty="0">
                <a:solidFill>
                  <a:srgbClr val="42494F"/>
                </a:solidFill>
                <a:effectLst/>
                <a:latin typeface="Akzidenz Grotesk BQ Light"/>
              </a:rPr>
              <a:t>There is no “create” command in the MongoDB shell. In order to create a database, you will first need to switch the context to a non-existing database using the use command:</a:t>
            </a:r>
          </a:p>
          <a:p>
            <a:pPr marL="428625" indent="-428625">
              <a:buFont typeface="Wingdings" panose="05000000000000000000" pitchFamily="2" charset="2"/>
              <a:buChar char="Ø"/>
            </a:pPr>
            <a:r>
              <a:rPr lang="en-US" b="1" i="0" dirty="0">
                <a:solidFill>
                  <a:srgbClr val="65737E"/>
                </a:solidFill>
                <a:effectLst/>
                <a:latin typeface="Menlo"/>
              </a:rPr>
              <a:t>use inventory</a:t>
            </a:r>
          </a:p>
          <a:p>
            <a:pPr marL="1114425" lvl="1" indent="-428625">
              <a:buFont typeface="Wingdings" panose="05000000000000000000" pitchFamily="2" charset="2"/>
              <a:buChar char="Ø"/>
            </a:pPr>
            <a:r>
              <a:rPr lang="en-US" i="0" dirty="0">
                <a:solidFill>
                  <a:srgbClr val="65737E"/>
                </a:solidFill>
                <a:effectLst/>
                <a:latin typeface="Menlo"/>
              </a:rPr>
              <a:t>Create a new database</a:t>
            </a:r>
          </a:p>
          <a:p>
            <a:pPr marL="428625" indent="-428625">
              <a:buFont typeface="Arial" panose="020B0604020202020204" pitchFamily="34" charset="0"/>
              <a:buChar char="•"/>
            </a:pPr>
            <a:r>
              <a:rPr lang="en-US" b="0" i="0" dirty="0">
                <a:solidFill>
                  <a:srgbClr val="42494F"/>
                </a:solidFill>
                <a:effectLst/>
                <a:latin typeface="Akzidenz Grotesk BQ Light"/>
              </a:rPr>
              <a:t>Note that for now, only the context has been changed. If you enter the show </a:t>
            </a:r>
            <a:r>
              <a:rPr lang="en-US" b="0" i="0" dirty="0" err="1">
                <a:solidFill>
                  <a:srgbClr val="42494F"/>
                </a:solidFill>
                <a:effectLst/>
                <a:latin typeface="Akzidenz Grotesk BQ Light"/>
              </a:rPr>
              <a:t>dbs</a:t>
            </a:r>
            <a:r>
              <a:rPr lang="en-US" b="0" i="0" dirty="0">
                <a:solidFill>
                  <a:srgbClr val="42494F"/>
                </a:solidFill>
                <a:effectLst/>
                <a:latin typeface="Akzidenz Grotesk BQ Light"/>
              </a:rPr>
              <a:t> command, the result should still be the same.</a:t>
            </a:r>
          </a:p>
          <a:p>
            <a:pPr marL="1114425" lvl="1" indent="-428625"/>
            <a:r>
              <a:rPr lang="en-US" b="0" i="0" dirty="0">
                <a:solidFill>
                  <a:srgbClr val="42494F"/>
                </a:solidFill>
                <a:effectLst/>
                <a:latin typeface="Akzidenz Grotesk BQ Light"/>
              </a:rPr>
              <a:t>The database is empty. An empty database is essentially non-existent.</a:t>
            </a:r>
          </a:p>
          <a:p>
            <a:pPr marL="428625" indent="-428625">
              <a:buFont typeface="Arial" panose="020B0604020202020204" pitchFamily="34" charset="0"/>
              <a:buChar char="•"/>
            </a:pPr>
            <a:r>
              <a:rPr lang="en-US" dirty="0"/>
              <a:t>MongoDB only creates the database when you first store data in that database. This data could be a collection or even a document.</a:t>
            </a:r>
          </a:p>
        </p:txBody>
      </p:sp>
    </p:spTree>
    <p:extLst>
      <p:ext uri="{BB962C8B-B14F-4D97-AF65-F5344CB8AC3E}">
        <p14:creationId xmlns:p14="http://schemas.microsoft.com/office/powerpoint/2010/main" val="1208974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BE554D6-4DFE-1C57-37C0-7CF7F13B376A}"/>
              </a:ext>
            </a:extLst>
          </p:cNvPr>
          <p:cNvSpPr>
            <a:spLocks noGrp="1"/>
          </p:cNvSpPr>
          <p:nvPr>
            <p:ph type="body" sz="quarter" idx="10"/>
          </p:nvPr>
        </p:nvSpPr>
        <p:spPr/>
        <p:txBody>
          <a:bodyPr/>
          <a:lstStyle/>
          <a:p>
            <a:r>
              <a:rPr lang="en-CA" dirty="0"/>
              <a:t>Create Collection </a:t>
            </a:r>
          </a:p>
        </p:txBody>
      </p:sp>
      <p:sp>
        <p:nvSpPr>
          <p:cNvPr id="7" name="Text Placeholder 6">
            <a:extLst>
              <a:ext uri="{FF2B5EF4-FFF2-40B4-BE49-F238E27FC236}">
                <a16:creationId xmlns:a16="http://schemas.microsoft.com/office/drawing/2014/main" id="{74AC4B34-8727-20A9-9F4A-064AE9F13232}"/>
              </a:ext>
            </a:extLst>
          </p:cNvPr>
          <p:cNvSpPr>
            <a:spLocks noGrp="1"/>
          </p:cNvSpPr>
          <p:nvPr>
            <p:ph type="body" sz="quarter" idx="11"/>
          </p:nvPr>
        </p:nvSpPr>
        <p:spPr>
          <a:xfrm>
            <a:off x="503119" y="1405485"/>
            <a:ext cx="10784474" cy="4755473"/>
          </a:xfrm>
        </p:spPr>
        <p:txBody>
          <a:bodyPr>
            <a:normAutofit/>
          </a:bodyPr>
          <a:lstStyle/>
          <a:p>
            <a:r>
              <a:rPr lang="en-CA" dirty="0"/>
              <a:t>Create a collection using the </a:t>
            </a:r>
            <a:r>
              <a:rPr lang="en-CA" dirty="0" err="1"/>
              <a:t>createCollection</a:t>
            </a:r>
            <a:r>
              <a:rPr lang="en-CA" dirty="0"/>
              <a:t>() database method</a:t>
            </a:r>
          </a:p>
          <a:p>
            <a:pPr lvl="1"/>
            <a:r>
              <a:rPr lang="en-CA" dirty="0" err="1">
                <a:solidFill>
                  <a:schemeClr val="tx1"/>
                </a:solidFill>
              </a:rPr>
              <a:t>Db.createCollection</a:t>
            </a:r>
            <a:r>
              <a:rPr lang="en-CA" dirty="0">
                <a:solidFill>
                  <a:schemeClr val="tx1"/>
                </a:solidFill>
              </a:rPr>
              <a:t>(“posts”)</a:t>
            </a:r>
          </a:p>
          <a:p>
            <a:r>
              <a:rPr lang="en-CA" dirty="0">
                <a:solidFill>
                  <a:schemeClr val="tx1"/>
                </a:solidFill>
              </a:rPr>
              <a:t>Create a collection during the insert process</a:t>
            </a:r>
          </a:p>
          <a:p>
            <a:r>
              <a:rPr lang="en-US" dirty="0">
                <a:solidFill>
                  <a:schemeClr val="tx1"/>
                </a:solidFill>
              </a:rPr>
              <a:t>Remember: In MongoDB, a collection is not actually created until it gets content!</a:t>
            </a:r>
            <a:endParaRPr lang="en-CA" dirty="0">
              <a:solidFill>
                <a:schemeClr val="tx1"/>
              </a:solidFill>
            </a:endParaRPr>
          </a:p>
          <a:p>
            <a:pPr lvl="1"/>
            <a:endParaRPr lang="en-CA" dirty="0">
              <a:solidFill>
                <a:schemeClr val="tx1"/>
              </a:solidFill>
            </a:endParaRPr>
          </a:p>
        </p:txBody>
      </p:sp>
    </p:spTree>
    <p:extLst>
      <p:ext uri="{BB962C8B-B14F-4D97-AF65-F5344CB8AC3E}">
        <p14:creationId xmlns:p14="http://schemas.microsoft.com/office/powerpoint/2010/main" val="3284287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507831"/>
          </a:xfrm>
        </p:spPr>
        <p:txBody>
          <a:bodyPr>
            <a:normAutofit lnSpcReduction="10000"/>
          </a:bodyPr>
          <a:lstStyle/>
          <a:p>
            <a:pPr algn="ctr"/>
            <a:r>
              <a:rPr lang="en-US" sz="3300" dirty="0"/>
              <a:t>Perform basic </a:t>
            </a:r>
            <a:r>
              <a:rPr lang="en-US" sz="3300" dirty="0">
                <a:solidFill>
                  <a:srgbClr val="FF0000"/>
                </a:solidFill>
              </a:rPr>
              <a:t>CREATE</a:t>
            </a:r>
            <a:r>
              <a:rPr lang="en-US" sz="3300" dirty="0"/>
              <a:t> operations using Mongo Shell</a:t>
            </a:r>
          </a:p>
        </p:txBody>
      </p:sp>
      <p:sp>
        <p:nvSpPr>
          <p:cNvPr id="4" name="Text Placeholder 3">
            <a:extLst>
              <a:ext uri="{FF2B5EF4-FFF2-40B4-BE49-F238E27FC236}">
                <a16:creationId xmlns:a16="http://schemas.microsoft.com/office/drawing/2014/main" id="{181F5B31-6F6A-6882-D864-E96C4BF7DC87}"/>
              </a:ext>
            </a:extLst>
          </p:cNvPr>
          <p:cNvSpPr>
            <a:spLocks noGrp="1"/>
          </p:cNvSpPr>
          <p:nvPr>
            <p:ph type="body" sz="quarter" idx="12"/>
          </p:nvPr>
        </p:nvSpPr>
        <p:spPr>
          <a:xfrm>
            <a:off x="495301" y="1010401"/>
            <a:ext cx="11495882" cy="2908489"/>
          </a:xfrm>
        </p:spPr>
        <p:txBody>
          <a:bodyPr>
            <a:normAutofit fontScale="92500" lnSpcReduction="20000"/>
          </a:bodyPr>
          <a:lstStyle/>
          <a:p>
            <a:pPr marL="428625" indent="-428625">
              <a:buFont typeface="Arial" panose="020B0604020202020204" pitchFamily="34" charset="0"/>
              <a:buChar char="•"/>
            </a:pPr>
            <a:r>
              <a:rPr lang="en-US" sz="2700" dirty="0"/>
              <a:t>CRUD operations create, read, update, and delete documents.</a:t>
            </a:r>
          </a:p>
          <a:p>
            <a:pPr marL="428625" indent="-428625">
              <a:buFont typeface="Arial" panose="020B0604020202020204" pitchFamily="34" charset="0"/>
              <a:buChar char="•"/>
            </a:pPr>
            <a:r>
              <a:rPr lang="en-US" sz="2700" dirty="0"/>
              <a:t>Available methods to insert documents into a collection:</a:t>
            </a:r>
          </a:p>
          <a:p>
            <a:pPr marL="428625" indent="-428625">
              <a:buFont typeface="Wingdings" panose="05000000000000000000" pitchFamily="2" charset="2"/>
              <a:buChar char="Ø"/>
            </a:pPr>
            <a:r>
              <a:rPr lang="en-US" sz="2700" dirty="0" err="1"/>
              <a:t>db.collection.insertOne</a:t>
            </a:r>
            <a:r>
              <a:rPr lang="en-US" sz="2700" dirty="0"/>
              <a:t>()</a:t>
            </a:r>
          </a:p>
          <a:p>
            <a:pPr marL="428625" indent="-428625">
              <a:buFont typeface="Wingdings" panose="05000000000000000000" pitchFamily="2" charset="2"/>
              <a:buChar char="Ø"/>
            </a:pPr>
            <a:r>
              <a:rPr lang="en-US" sz="2700" dirty="0" err="1"/>
              <a:t>db.collection.insertMany</a:t>
            </a:r>
            <a:r>
              <a:rPr lang="en-US" sz="2700" dirty="0"/>
              <a:t>()</a:t>
            </a:r>
          </a:p>
          <a:p>
            <a:pPr marL="428625" indent="-428625">
              <a:buFont typeface="Arial" panose="020B0604020202020204" pitchFamily="34" charset="0"/>
              <a:buChar char="•"/>
            </a:pPr>
            <a:r>
              <a:rPr lang="en-US" sz="2700" dirty="0"/>
              <a:t>Use the desired “collection” name; users in the following example. </a:t>
            </a:r>
          </a:p>
          <a:p>
            <a:pPr marL="428625" indent="-428625">
              <a:buFont typeface="Arial" panose="020B0604020202020204" pitchFamily="34" charset="0"/>
              <a:buChar char="•"/>
            </a:pPr>
            <a:r>
              <a:rPr lang="en-US" sz="2700" dirty="0"/>
              <a:t>In MongoDB, insert operations target a single collection. </a:t>
            </a:r>
          </a:p>
          <a:p>
            <a:pPr marL="428625" indent="-428625">
              <a:buFont typeface="Arial" panose="020B0604020202020204" pitchFamily="34" charset="0"/>
              <a:buChar char="•"/>
            </a:pPr>
            <a:r>
              <a:rPr lang="en-US" sz="2700" dirty="0"/>
              <a:t>All write operations in MongoDB are atomic on the level of a single document.</a:t>
            </a:r>
          </a:p>
        </p:txBody>
      </p:sp>
      <p:pic>
        <p:nvPicPr>
          <p:cNvPr id="5" name="Graphic 4">
            <a:extLst>
              <a:ext uri="{FF2B5EF4-FFF2-40B4-BE49-F238E27FC236}">
                <a16:creationId xmlns:a16="http://schemas.microsoft.com/office/drawing/2014/main" id="{B03B1DC8-E0C3-BA52-A997-76849D125BE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2700" y="4250010"/>
            <a:ext cx="6742596" cy="2265091"/>
          </a:xfrm>
          <a:prstGeom prst="rect">
            <a:avLst/>
          </a:prstGeom>
        </p:spPr>
      </p:pic>
    </p:spTree>
    <p:extLst>
      <p:ext uri="{BB962C8B-B14F-4D97-AF65-F5344CB8AC3E}">
        <p14:creationId xmlns:p14="http://schemas.microsoft.com/office/powerpoint/2010/main" val="2223019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507831"/>
          </a:xfrm>
        </p:spPr>
        <p:txBody>
          <a:bodyPr>
            <a:normAutofit lnSpcReduction="10000"/>
          </a:bodyPr>
          <a:lstStyle/>
          <a:p>
            <a:pPr algn="ctr"/>
            <a:r>
              <a:rPr lang="en-US" sz="3300" dirty="0"/>
              <a:t>Perform basic </a:t>
            </a:r>
            <a:r>
              <a:rPr lang="en-US" sz="3300" dirty="0">
                <a:solidFill>
                  <a:srgbClr val="FF0000"/>
                </a:solidFill>
              </a:rPr>
              <a:t>READ</a:t>
            </a:r>
            <a:r>
              <a:rPr lang="en-US" sz="3300" dirty="0"/>
              <a:t> operations using Mongo Shell</a:t>
            </a:r>
          </a:p>
        </p:txBody>
      </p:sp>
      <p:sp>
        <p:nvSpPr>
          <p:cNvPr id="4" name="Text Placeholder 3">
            <a:extLst>
              <a:ext uri="{FF2B5EF4-FFF2-40B4-BE49-F238E27FC236}">
                <a16:creationId xmlns:a16="http://schemas.microsoft.com/office/drawing/2014/main" id="{181F5B31-6F6A-6882-D864-E96C4BF7DC87}"/>
              </a:ext>
            </a:extLst>
          </p:cNvPr>
          <p:cNvSpPr>
            <a:spLocks noGrp="1"/>
          </p:cNvSpPr>
          <p:nvPr>
            <p:ph type="body" sz="quarter" idx="12"/>
          </p:nvPr>
        </p:nvSpPr>
        <p:spPr>
          <a:xfrm>
            <a:off x="495301" y="1010401"/>
            <a:ext cx="11495882" cy="2492990"/>
          </a:xfrm>
        </p:spPr>
        <p:txBody>
          <a:bodyPr>
            <a:normAutofit fontScale="92500" lnSpcReduction="10000"/>
          </a:bodyPr>
          <a:lstStyle/>
          <a:p>
            <a:pPr marL="428625" indent="-428625">
              <a:buFont typeface="Arial" panose="020B0604020202020204" pitchFamily="34" charset="0"/>
              <a:buChar char="•"/>
            </a:pPr>
            <a:r>
              <a:rPr lang="en-US" sz="2700" dirty="0"/>
              <a:t>Read operations retrieve documents from a collection; i.e. query a collection for documents. </a:t>
            </a:r>
          </a:p>
          <a:p>
            <a:pPr marL="428625" indent="-428625">
              <a:buFont typeface="Arial" panose="020B0604020202020204" pitchFamily="34" charset="0"/>
              <a:buChar char="•"/>
            </a:pPr>
            <a:r>
              <a:rPr lang="en-US" sz="2700" dirty="0"/>
              <a:t>MongoDB provides the following method to read documents from a collection:</a:t>
            </a:r>
          </a:p>
          <a:p>
            <a:pPr marL="428625" indent="-428625">
              <a:buFont typeface="Wingdings" panose="05000000000000000000" pitchFamily="2" charset="2"/>
              <a:buChar char="Ø"/>
            </a:pPr>
            <a:r>
              <a:rPr lang="en-US" sz="2700" dirty="0" err="1"/>
              <a:t>db.collection.find</a:t>
            </a:r>
            <a:r>
              <a:rPr lang="en-US" sz="2700" dirty="0"/>
              <a:t>()</a:t>
            </a:r>
          </a:p>
          <a:p>
            <a:pPr marL="428625" indent="-428625">
              <a:buFont typeface="Wingdings" panose="05000000000000000000" pitchFamily="2" charset="2"/>
              <a:buChar char="Ø"/>
            </a:pPr>
            <a:r>
              <a:rPr lang="en-US" sz="2700" dirty="0" err="1"/>
              <a:t>db.collection.findOne</a:t>
            </a:r>
            <a:r>
              <a:rPr lang="en-US" sz="2700" dirty="0"/>
              <a:t>()</a:t>
            </a:r>
          </a:p>
          <a:p>
            <a:pPr marL="428625" indent="-428625">
              <a:buFont typeface="Arial" panose="020B0604020202020204" pitchFamily="34" charset="0"/>
              <a:buChar char="•"/>
            </a:pPr>
            <a:r>
              <a:rPr lang="en-US" sz="2700" dirty="0"/>
              <a:t>You can specify query filters or criteria that identify the documents to return.</a:t>
            </a:r>
          </a:p>
        </p:txBody>
      </p:sp>
      <p:pic>
        <p:nvPicPr>
          <p:cNvPr id="6" name="Graphic 5">
            <a:extLst>
              <a:ext uri="{FF2B5EF4-FFF2-40B4-BE49-F238E27FC236}">
                <a16:creationId xmlns:a16="http://schemas.microsoft.com/office/drawing/2014/main" id="{554CE0CF-CE77-7002-24F0-7B994492BF1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3322" y="3665157"/>
            <a:ext cx="12618131" cy="2103022"/>
          </a:xfrm>
          <a:prstGeom prst="rect">
            <a:avLst/>
          </a:prstGeom>
        </p:spPr>
      </p:pic>
    </p:spTree>
    <p:extLst>
      <p:ext uri="{BB962C8B-B14F-4D97-AF65-F5344CB8AC3E}">
        <p14:creationId xmlns:p14="http://schemas.microsoft.com/office/powerpoint/2010/main" val="4060200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507831"/>
          </a:xfrm>
        </p:spPr>
        <p:txBody>
          <a:bodyPr>
            <a:normAutofit lnSpcReduction="10000"/>
          </a:bodyPr>
          <a:lstStyle/>
          <a:p>
            <a:pPr algn="ctr"/>
            <a:r>
              <a:rPr lang="en-US" sz="3300" dirty="0"/>
              <a:t>Perform basic </a:t>
            </a:r>
            <a:r>
              <a:rPr lang="en-US" sz="3300" dirty="0">
                <a:solidFill>
                  <a:srgbClr val="FF0000"/>
                </a:solidFill>
              </a:rPr>
              <a:t>UPDATE</a:t>
            </a:r>
            <a:r>
              <a:rPr lang="en-US" sz="3300" dirty="0"/>
              <a:t> operations using Mongo Shell</a:t>
            </a:r>
          </a:p>
        </p:txBody>
      </p:sp>
      <p:sp>
        <p:nvSpPr>
          <p:cNvPr id="4" name="Text Placeholder 3">
            <a:extLst>
              <a:ext uri="{FF2B5EF4-FFF2-40B4-BE49-F238E27FC236}">
                <a16:creationId xmlns:a16="http://schemas.microsoft.com/office/drawing/2014/main" id="{181F5B31-6F6A-6882-D864-E96C4BF7DC87}"/>
              </a:ext>
            </a:extLst>
          </p:cNvPr>
          <p:cNvSpPr>
            <a:spLocks noGrp="1"/>
          </p:cNvSpPr>
          <p:nvPr>
            <p:ph type="body" sz="quarter" idx="12"/>
          </p:nvPr>
        </p:nvSpPr>
        <p:spPr>
          <a:xfrm>
            <a:off x="353218" y="971551"/>
            <a:ext cx="11495882" cy="3323987"/>
          </a:xfrm>
        </p:spPr>
        <p:txBody>
          <a:bodyPr>
            <a:normAutofit fontScale="92500" lnSpcReduction="10000"/>
          </a:bodyPr>
          <a:lstStyle/>
          <a:p>
            <a:pPr marL="428625" indent="-428625">
              <a:buFont typeface="Arial" panose="020B0604020202020204" pitchFamily="34" charset="0"/>
              <a:buChar char="•"/>
            </a:pPr>
            <a:r>
              <a:rPr lang="en-US" sz="2400" dirty="0"/>
              <a:t>Update operations modify existing documents in a collection. </a:t>
            </a:r>
          </a:p>
          <a:p>
            <a:pPr marL="428625" indent="-428625">
              <a:buFont typeface="Arial" panose="020B0604020202020204" pitchFamily="34" charset="0"/>
              <a:buChar char="•"/>
            </a:pPr>
            <a:r>
              <a:rPr lang="en-US" sz="2400" dirty="0"/>
              <a:t>The following methods to update documents of a collection:</a:t>
            </a:r>
          </a:p>
          <a:p>
            <a:pPr marL="428625" indent="-428625">
              <a:buFont typeface="Wingdings" panose="05000000000000000000" pitchFamily="2" charset="2"/>
              <a:buChar char="Ø"/>
            </a:pPr>
            <a:r>
              <a:rPr lang="en-US" sz="2400" dirty="0" err="1"/>
              <a:t>db.collection.updateOne</a:t>
            </a:r>
            <a:r>
              <a:rPr lang="en-US" sz="2400" dirty="0"/>
              <a:t>()</a:t>
            </a:r>
          </a:p>
          <a:p>
            <a:pPr marL="428625" indent="-428625">
              <a:buFont typeface="Wingdings" panose="05000000000000000000" pitchFamily="2" charset="2"/>
              <a:buChar char="Ø"/>
            </a:pPr>
            <a:r>
              <a:rPr lang="en-US" sz="2400" dirty="0" err="1"/>
              <a:t>db.collection.updateMany</a:t>
            </a:r>
            <a:r>
              <a:rPr lang="en-US" sz="2400" dirty="0"/>
              <a:t>()</a:t>
            </a:r>
          </a:p>
          <a:p>
            <a:pPr marL="428625" indent="-428625">
              <a:buFont typeface="Wingdings" panose="05000000000000000000" pitchFamily="2" charset="2"/>
              <a:buChar char="Ø"/>
            </a:pPr>
            <a:r>
              <a:rPr lang="en-US" sz="2400" dirty="0" err="1"/>
              <a:t>db.collection.replaceOne</a:t>
            </a:r>
            <a:r>
              <a:rPr lang="en-US" sz="2400" dirty="0"/>
              <a:t>()</a:t>
            </a:r>
          </a:p>
          <a:p>
            <a:pPr marL="428625" indent="-428625">
              <a:buFont typeface="Arial" panose="020B0604020202020204" pitchFamily="34" charset="0"/>
              <a:buChar char="•"/>
            </a:pPr>
            <a:r>
              <a:rPr lang="en-US" sz="2400" dirty="0"/>
              <a:t>In MongoDB, update operations target a single collection. All write operations in MongoDB are atomic on the level of a single document.</a:t>
            </a:r>
          </a:p>
          <a:p>
            <a:pPr marL="428625" indent="-428625">
              <a:buFont typeface="Arial" panose="020B0604020202020204" pitchFamily="34" charset="0"/>
              <a:buChar char="•"/>
            </a:pPr>
            <a:r>
              <a:rPr lang="en-US" sz="2400" dirty="0"/>
              <a:t>You can specify criteria, or filters, that identify the documents to update. These filters use the same syntax as read operations.</a:t>
            </a:r>
          </a:p>
        </p:txBody>
      </p:sp>
      <p:pic>
        <p:nvPicPr>
          <p:cNvPr id="5" name="Graphic 4">
            <a:extLst>
              <a:ext uri="{FF2B5EF4-FFF2-40B4-BE49-F238E27FC236}">
                <a16:creationId xmlns:a16="http://schemas.microsoft.com/office/drawing/2014/main" id="{93C7AA35-ADE9-C588-696D-FDCF57EDB68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09700" y="4587807"/>
            <a:ext cx="8644154" cy="1755844"/>
          </a:xfrm>
          <a:prstGeom prst="rect">
            <a:avLst/>
          </a:prstGeom>
        </p:spPr>
      </p:pic>
    </p:spTree>
    <p:extLst>
      <p:ext uri="{BB962C8B-B14F-4D97-AF65-F5344CB8AC3E}">
        <p14:creationId xmlns:p14="http://schemas.microsoft.com/office/powerpoint/2010/main" val="1859406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C0D47E1-00B9-2C30-80A6-35B900A7F5B2}"/>
              </a:ext>
            </a:extLst>
          </p:cNvPr>
          <p:cNvSpPr>
            <a:spLocks noGrp="1"/>
          </p:cNvSpPr>
          <p:nvPr>
            <p:ph type="body" sz="quarter" idx="12"/>
          </p:nvPr>
        </p:nvSpPr>
        <p:spPr>
          <a:xfrm>
            <a:off x="311498" y="443421"/>
            <a:ext cx="7564058" cy="3700855"/>
          </a:xfrm>
        </p:spPr>
        <p:txBody>
          <a:bodyPr>
            <a:normAutofit fontScale="92500" lnSpcReduction="20000"/>
          </a:bodyPr>
          <a:lstStyle/>
          <a:p>
            <a:r>
              <a:rPr lang="en-CA" b="0" i="0" dirty="0" err="1">
                <a:effectLst/>
                <a:latin typeface="Consolas" panose="020B0609020204030204" pitchFamily="49" charset="0"/>
              </a:rPr>
              <a:t>db.collection.update</a:t>
            </a:r>
            <a:r>
              <a:rPr lang="en-CA" b="0" i="0" dirty="0">
                <a:effectLst/>
                <a:latin typeface="Consolas" panose="020B0609020204030204" pitchFamily="49" charset="0"/>
              </a:rPr>
              <a:t>( </a:t>
            </a:r>
          </a:p>
          <a:p>
            <a:r>
              <a:rPr lang="en-CA" dirty="0">
                <a:latin typeface="Consolas" panose="020B0609020204030204" pitchFamily="49" charset="0"/>
              </a:rPr>
              <a:t>    </a:t>
            </a:r>
            <a:r>
              <a:rPr lang="en-CA" b="0" i="0" dirty="0">
                <a:effectLst/>
                <a:latin typeface="Consolas" panose="020B0609020204030204" pitchFamily="49" charset="0"/>
              </a:rPr>
              <a:t>&lt;query&gt;, </a:t>
            </a:r>
          </a:p>
          <a:p>
            <a:r>
              <a:rPr lang="en-CA" dirty="0">
                <a:latin typeface="Consolas" panose="020B0609020204030204" pitchFamily="49" charset="0"/>
              </a:rPr>
              <a:t>    </a:t>
            </a:r>
            <a:r>
              <a:rPr lang="en-CA" b="0" i="0" dirty="0">
                <a:effectLst/>
                <a:latin typeface="Consolas" panose="020B0609020204030204" pitchFamily="49" charset="0"/>
              </a:rPr>
              <a:t>&lt;update&gt;, </a:t>
            </a:r>
          </a:p>
          <a:p>
            <a:r>
              <a:rPr lang="en-CA" dirty="0">
                <a:latin typeface="Consolas" panose="020B0609020204030204" pitchFamily="49" charset="0"/>
              </a:rPr>
              <a:t>    </a:t>
            </a:r>
            <a:r>
              <a:rPr lang="en-CA" b="0" i="0" dirty="0">
                <a:effectLst/>
                <a:latin typeface="Consolas" panose="020B0609020204030204" pitchFamily="49" charset="0"/>
              </a:rPr>
              <a:t>{ </a:t>
            </a:r>
            <a:r>
              <a:rPr lang="en-CA" b="0" i="0" dirty="0" err="1">
                <a:effectLst/>
                <a:latin typeface="Consolas" panose="020B0609020204030204" pitchFamily="49" charset="0"/>
              </a:rPr>
              <a:t>upsert</a:t>
            </a:r>
            <a:r>
              <a:rPr lang="en-CA" b="0" i="0" dirty="0">
                <a:effectLst/>
                <a:latin typeface="Consolas" panose="020B0609020204030204" pitchFamily="49" charset="0"/>
              </a:rPr>
              <a:t>: &lt;</a:t>
            </a:r>
            <a:r>
              <a:rPr lang="en-CA" b="0" i="0" dirty="0" err="1">
                <a:effectLst/>
                <a:latin typeface="Consolas" panose="020B0609020204030204" pitchFamily="49" charset="0"/>
              </a:rPr>
              <a:t>boolean</a:t>
            </a:r>
            <a:r>
              <a:rPr lang="en-CA" b="0" i="0" dirty="0">
                <a:effectLst/>
                <a:latin typeface="Consolas" panose="020B0609020204030204" pitchFamily="49" charset="0"/>
              </a:rPr>
              <a:t>&gt;, </a:t>
            </a:r>
          </a:p>
          <a:p>
            <a:r>
              <a:rPr lang="en-CA" dirty="0">
                <a:latin typeface="Consolas" panose="020B0609020204030204" pitchFamily="49" charset="0"/>
              </a:rPr>
              <a:t>      </a:t>
            </a:r>
            <a:r>
              <a:rPr lang="en-CA" b="0" i="0" dirty="0">
                <a:effectLst/>
                <a:latin typeface="Consolas" panose="020B0609020204030204" pitchFamily="49" charset="0"/>
              </a:rPr>
              <a:t>multi: &lt;</a:t>
            </a:r>
            <a:r>
              <a:rPr lang="en-CA" b="0" i="0" dirty="0" err="1">
                <a:effectLst/>
                <a:latin typeface="Consolas" panose="020B0609020204030204" pitchFamily="49" charset="0"/>
              </a:rPr>
              <a:t>boolean</a:t>
            </a:r>
            <a:r>
              <a:rPr lang="en-CA" b="0" i="0" dirty="0">
                <a:effectLst/>
                <a:latin typeface="Consolas" panose="020B0609020204030204" pitchFamily="49" charset="0"/>
              </a:rPr>
              <a:t>&gt;,   </a:t>
            </a:r>
          </a:p>
          <a:p>
            <a:r>
              <a:rPr lang="en-CA" dirty="0">
                <a:latin typeface="Consolas" panose="020B0609020204030204" pitchFamily="49" charset="0"/>
              </a:rPr>
              <a:t>     </a:t>
            </a:r>
            <a:r>
              <a:rPr lang="en-CA" b="0" i="0" dirty="0">
                <a:effectLst/>
                <a:latin typeface="Consolas" panose="020B0609020204030204" pitchFamily="49" charset="0"/>
              </a:rPr>
              <a:t> </a:t>
            </a:r>
            <a:r>
              <a:rPr lang="en-CA" b="0" i="0" dirty="0" err="1">
                <a:effectLst/>
                <a:latin typeface="Consolas" panose="020B0609020204030204" pitchFamily="49" charset="0"/>
              </a:rPr>
              <a:t>writeConcern</a:t>
            </a:r>
            <a:r>
              <a:rPr lang="en-CA" b="0" i="0" dirty="0">
                <a:effectLst/>
                <a:latin typeface="Consolas" panose="020B0609020204030204" pitchFamily="49" charset="0"/>
              </a:rPr>
              <a:t>: &lt;document&gt; </a:t>
            </a:r>
          </a:p>
          <a:p>
            <a:r>
              <a:rPr lang="en-CA" b="0" i="0" dirty="0">
                <a:effectLst/>
                <a:latin typeface="Consolas" panose="020B0609020204030204" pitchFamily="49" charset="0"/>
              </a:rPr>
              <a:t>    } </a:t>
            </a:r>
          </a:p>
          <a:p>
            <a:r>
              <a:rPr lang="en-CA" b="0" i="0" dirty="0">
                <a:effectLst/>
                <a:latin typeface="Consolas" panose="020B0609020204030204" pitchFamily="49" charset="0"/>
              </a:rPr>
              <a:t>)</a:t>
            </a:r>
            <a:endParaRPr lang="en-CA" dirty="0"/>
          </a:p>
        </p:txBody>
      </p:sp>
    </p:spTree>
    <p:extLst>
      <p:ext uri="{BB962C8B-B14F-4D97-AF65-F5344CB8AC3E}">
        <p14:creationId xmlns:p14="http://schemas.microsoft.com/office/powerpoint/2010/main" val="2886096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976FAF-70CD-0679-F89E-EB4D4E7AE8F5}"/>
              </a:ext>
            </a:extLst>
          </p:cNvPr>
          <p:cNvSpPr>
            <a:spLocks noGrp="1"/>
          </p:cNvSpPr>
          <p:nvPr>
            <p:ph type="body" sz="quarter" idx="10"/>
          </p:nvPr>
        </p:nvSpPr>
        <p:spPr/>
        <p:txBody>
          <a:bodyPr/>
          <a:lstStyle/>
          <a:p>
            <a:r>
              <a:rPr lang="en-CA" dirty="0"/>
              <a:t>Update</a:t>
            </a:r>
          </a:p>
        </p:txBody>
      </p:sp>
      <p:sp>
        <p:nvSpPr>
          <p:cNvPr id="3" name="Text Placeholder 2">
            <a:extLst>
              <a:ext uri="{FF2B5EF4-FFF2-40B4-BE49-F238E27FC236}">
                <a16:creationId xmlns:a16="http://schemas.microsoft.com/office/drawing/2014/main" id="{B5529D42-E908-395E-02A1-DFD44B5A2376}"/>
              </a:ext>
            </a:extLst>
          </p:cNvPr>
          <p:cNvSpPr>
            <a:spLocks noGrp="1"/>
          </p:cNvSpPr>
          <p:nvPr>
            <p:ph type="body" sz="quarter" idx="11"/>
          </p:nvPr>
        </p:nvSpPr>
        <p:spPr>
          <a:xfrm>
            <a:off x="804959" y="1465446"/>
            <a:ext cx="5071185" cy="1412665"/>
          </a:xfrm>
        </p:spPr>
        <p:txBody>
          <a:bodyPr>
            <a:normAutofit fontScale="92500" lnSpcReduction="20000"/>
          </a:bodyPr>
          <a:lstStyle/>
          <a:p>
            <a:r>
              <a:rPr lang="en-CA" dirty="0"/>
              <a:t>Insert if not found</a:t>
            </a:r>
          </a:p>
          <a:p>
            <a:pPr lvl="1"/>
            <a:r>
              <a:rPr lang="en-CA" dirty="0">
                <a:solidFill>
                  <a:schemeClr val="tx1"/>
                </a:solidFill>
              </a:rPr>
              <a:t>Update the document, but if not found insert it</a:t>
            </a:r>
          </a:p>
          <a:p>
            <a:pPr lvl="1"/>
            <a:r>
              <a:rPr lang="en-CA" dirty="0">
                <a:solidFill>
                  <a:schemeClr val="tx1"/>
                </a:solidFill>
              </a:rPr>
              <a:t>Use the </a:t>
            </a:r>
            <a:r>
              <a:rPr lang="en-CA" dirty="0" err="1">
                <a:solidFill>
                  <a:schemeClr val="tx1"/>
                </a:solidFill>
                <a:highlight>
                  <a:srgbClr val="FFFF00"/>
                </a:highlight>
              </a:rPr>
              <a:t>upsert</a:t>
            </a:r>
            <a:r>
              <a:rPr lang="en-CA" dirty="0">
                <a:solidFill>
                  <a:schemeClr val="tx1"/>
                </a:solidFill>
              </a:rPr>
              <a:t> option</a:t>
            </a:r>
          </a:p>
          <a:p>
            <a:pPr lvl="1"/>
            <a:endParaRPr lang="en-CA" dirty="0">
              <a:solidFill>
                <a:schemeClr val="tx1"/>
              </a:solidFill>
            </a:endParaRPr>
          </a:p>
        </p:txBody>
      </p:sp>
      <p:pic>
        <p:nvPicPr>
          <p:cNvPr id="9" name="Picture 8">
            <a:extLst>
              <a:ext uri="{FF2B5EF4-FFF2-40B4-BE49-F238E27FC236}">
                <a16:creationId xmlns:a16="http://schemas.microsoft.com/office/drawing/2014/main" id="{376DA83D-225A-0D34-43F1-655AB82BE21C}"/>
              </a:ext>
            </a:extLst>
          </p:cNvPr>
          <p:cNvPicPr>
            <a:picLocks noChangeAspect="1"/>
          </p:cNvPicPr>
          <p:nvPr/>
        </p:nvPicPr>
        <p:blipFill>
          <a:blip r:embed="rId2"/>
          <a:stretch>
            <a:fillRect/>
          </a:stretch>
        </p:blipFill>
        <p:spPr>
          <a:xfrm>
            <a:off x="6315858" y="1117151"/>
            <a:ext cx="4681928" cy="5238942"/>
          </a:xfrm>
          <a:prstGeom prst="rect">
            <a:avLst/>
          </a:prstGeom>
        </p:spPr>
      </p:pic>
    </p:spTree>
    <p:extLst>
      <p:ext uri="{BB962C8B-B14F-4D97-AF65-F5344CB8AC3E}">
        <p14:creationId xmlns:p14="http://schemas.microsoft.com/office/powerpoint/2010/main" val="2120085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507831"/>
          </a:xfrm>
        </p:spPr>
        <p:txBody>
          <a:bodyPr>
            <a:normAutofit lnSpcReduction="10000"/>
          </a:bodyPr>
          <a:lstStyle/>
          <a:p>
            <a:pPr algn="ctr"/>
            <a:r>
              <a:rPr lang="en-US" sz="3300" dirty="0"/>
              <a:t>Perform basic </a:t>
            </a:r>
            <a:r>
              <a:rPr lang="en-US" sz="3300" dirty="0">
                <a:solidFill>
                  <a:srgbClr val="FF0000"/>
                </a:solidFill>
              </a:rPr>
              <a:t>DELETE</a:t>
            </a:r>
            <a:r>
              <a:rPr lang="en-US" sz="3300" dirty="0"/>
              <a:t> operations using Mongo Shell</a:t>
            </a:r>
          </a:p>
        </p:txBody>
      </p:sp>
      <p:sp>
        <p:nvSpPr>
          <p:cNvPr id="4" name="Text Placeholder 3">
            <a:extLst>
              <a:ext uri="{FF2B5EF4-FFF2-40B4-BE49-F238E27FC236}">
                <a16:creationId xmlns:a16="http://schemas.microsoft.com/office/drawing/2014/main" id="{181F5B31-6F6A-6882-D864-E96C4BF7DC87}"/>
              </a:ext>
            </a:extLst>
          </p:cNvPr>
          <p:cNvSpPr>
            <a:spLocks noGrp="1"/>
          </p:cNvSpPr>
          <p:nvPr>
            <p:ph type="body" sz="quarter" idx="12"/>
          </p:nvPr>
        </p:nvSpPr>
        <p:spPr>
          <a:xfrm>
            <a:off x="353218" y="971551"/>
            <a:ext cx="11495882" cy="3323987"/>
          </a:xfrm>
        </p:spPr>
        <p:txBody>
          <a:bodyPr>
            <a:normAutofit lnSpcReduction="10000"/>
          </a:bodyPr>
          <a:lstStyle/>
          <a:p>
            <a:pPr marL="428625" indent="-428625">
              <a:buFont typeface="Arial" panose="020B0604020202020204" pitchFamily="34" charset="0"/>
              <a:buChar char="•"/>
            </a:pPr>
            <a:r>
              <a:rPr lang="en-US" sz="2400" dirty="0"/>
              <a:t>Delete operations remove documents from a collection. </a:t>
            </a:r>
          </a:p>
          <a:p>
            <a:pPr marL="428625" indent="-428625">
              <a:buFont typeface="Arial" panose="020B0604020202020204" pitchFamily="34" charset="0"/>
              <a:buChar char="•"/>
            </a:pPr>
            <a:r>
              <a:rPr lang="en-US" sz="2400" dirty="0"/>
              <a:t>Following methods to delete documents of a collection:</a:t>
            </a:r>
          </a:p>
          <a:p>
            <a:pPr marL="428625" indent="-428625">
              <a:buFont typeface="Wingdings" panose="05000000000000000000" pitchFamily="2" charset="2"/>
              <a:buChar char="Ø"/>
            </a:pPr>
            <a:r>
              <a:rPr lang="en-US" sz="2400" dirty="0" err="1"/>
              <a:t>db.collection.deleteOne</a:t>
            </a:r>
            <a:r>
              <a:rPr lang="en-US" sz="2400" dirty="0"/>
              <a:t>()</a:t>
            </a:r>
          </a:p>
          <a:p>
            <a:pPr marL="428625" indent="-428625">
              <a:buFont typeface="Wingdings" panose="05000000000000000000" pitchFamily="2" charset="2"/>
              <a:buChar char="Ø"/>
            </a:pPr>
            <a:r>
              <a:rPr lang="en-US" sz="2400" dirty="0" err="1"/>
              <a:t>db.collection.deleteMany</a:t>
            </a:r>
            <a:r>
              <a:rPr lang="en-US" sz="2400" dirty="0"/>
              <a:t>()</a:t>
            </a:r>
          </a:p>
          <a:p>
            <a:pPr marL="428625" indent="-428625">
              <a:buFont typeface="Arial" panose="020B0604020202020204" pitchFamily="34" charset="0"/>
              <a:buChar char="•"/>
            </a:pPr>
            <a:r>
              <a:rPr lang="en-US" sz="2400" dirty="0"/>
              <a:t>In MongoDB, delete operations target a single collection. </a:t>
            </a:r>
          </a:p>
          <a:p>
            <a:pPr marL="428625" indent="-428625">
              <a:buFont typeface="Arial" panose="020B0604020202020204" pitchFamily="34" charset="0"/>
              <a:buChar char="•"/>
            </a:pPr>
            <a:r>
              <a:rPr lang="en-US" sz="2400" dirty="0"/>
              <a:t>All write operations in MongoDB are atomic on the level of a single document.</a:t>
            </a:r>
          </a:p>
          <a:p>
            <a:pPr marL="428625" indent="-428625">
              <a:buFont typeface="Arial" panose="020B0604020202020204" pitchFamily="34" charset="0"/>
              <a:buChar char="•"/>
            </a:pPr>
            <a:r>
              <a:rPr lang="en-US" sz="2400" dirty="0"/>
              <a:t>You can specify criteria, or filters, that identify the documents to remove. These filters use the same syntax as read operations.</a:t>
            </a:r>
          </a:p>
          <a:p>
            <a:pPr marL="428625" indent="-428625">
              <a:buFont typeface="Arial" panose="020B0604020202020204" pitchFamily="34" charset="0"/>
              <a:buChar char="•"/>
            </a:pPr>
            <a:endParaRPr lang="en-US" sz="2400" dirty="0"/>
          </a:p>
        </p:txBody>
      </p:sp>
      <p:pic>
        <p:nvPicPr>
          <p:cNvPr id="6" name="Graphic 5">
            <a:extLst>
              <a:ext uri="{FF2B5EF4-FFF2-40B4-BE49-F238E27FC236}">
                <a16:creationId xmlns:a16="http://schemas.microsoft.com/office/drawing/2014/main" id="{CAF405DC-0516-1FFA-6D3C-5BC2F4CBF84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52600" y="4590815"/>
            <a:ext cx="9144000" cy="1428750"/>
          </a:xfrm>
          <a:prstGeom prst="rect">
            <a:avLst/>
          </a:prstGeom>
        </p:spPr>
      </p:pic>
    </p:spTree>
    <p:extLst>
      <p:ext uri="{BB962C8B-B14F-4D97-AF65-F5344CB8AC3E}">
        <p14:creationId xmlns:p14="http://schemas.microsoft.com/office/powerpoint/2010/main" val="314045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11B03E-8CBB-67E7-598F-EEB7E54BB538}"/>
              </a:ext>
            </a:extLst>
          </p:cNvPr>
          <p:cNvSpPr>
            <a:spLocks noGrp="1"/>
          </p:cNvSpPr>
          <p:nvPr>
            <p:ph type="body" sz="quarter" idx="10"/>
          </p:nvPr>
        </p:nvSpPr>
        <p:spPr/>
        <p:txBody>
          <a:bodyPr/>
          <a:lstStyle/>
          <a:p>
            <a:r>
              <a:rPr lang="en-CA" dirty="0"/>
              <a:t>Query Operators</a:t>
            </a:r>
          </a:p>
        </p:txBody>
      </p:sp>
      <p:pic>
        <p:nvPicPr>
          <p:cNvPr id="9" name="Picture 8">
            <a:extLst>
              <a:ext uri="{FF2B5EF4-FFF2-40B4-BE49-F238E27FC236}">
                <a16:creationId xmlns:a16="http://schemas.microsoft.com/office/drawing/2014/main" id="{39E0B0F8-8D3B-3C8E-4A0C-701BD2ADFDC3}"/>
              </a:ext>
            </a:extLst>
          </p:cNvPr>
          <p:cNvPicPr>
            <a:picLocks noChangeAspect="1"/>
          </p:cNvPicPr>
          <p:nvPr/>
        </p:nvPicPr>
        <p:blipFill>
          <a:blip r:embed="rId2"/>
          <a:stretch>
            <a:fillRect/>
          </a:stretch>
        </p:blipFill>
        <p:spPr>
          <a:xfrm>
            <a:off x="103895" y="1572723"/>
            <a:ext cx="5702856" cy="3028635"/>
          </a:xfrm>
          <a:prstGeom prst="rect">
            <a:avLst/>
          </a:prstGeom>
        </p:spPr>
      </p:pic>
      <p:pic>
        <p:nvPicPr>
          <p:cNvPr id="13" name="Picture 12">
            <a:extLst>
              <a:ext uri="{FF2B5EF4-FFF2-40B4-BE49-F238E27FC236}">
                <a16:creationId xmlns:a16="http://schemas.microsoft.com/office/drawing/2014/main" id="{E8021CE6-ED0C-24EC-DDDB-737B3FFB66B6}"/>
              </a:ext>
            </a:extLst>
          </p:cNvPr>
          <p:cNvPicPr>
            <a:picLocks noChangeAspect="1"/>
          </p:cNvPicPr>
          <p:nvPr/>
        </p:nvPicPr>
        <p:blipFill>
          <a:blip r:embed="rId3"/>
          <a:stretch>
            <a:fillRect/>
          </a:stretch>
        </p:blipFill>
        <p:spPr>
          <a:xfrm>
            <a:off x="6096000" y="1538287"/>
            <a:ext cx="5992105" cy="3781425"/>
          </a:xfrm>
          <a:prstGeom prst="rect">
            <a:avLst/>
          </a:prstGeom>
        </p:spPr>
      </p:pic>
    </p:spTree>
    <p:extLst>
      <p:ext uri="{BB962C8B-B14F-4D97-AF65-F5344CB8AC3E}">
        <p14:creationId xmlns:p14="http://schemas.microsoft.com/office/powerpoint/2010/main" val="2896618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461665"/>
          </a:xfrm>
        </p:spPr>
        <p:txBody>
          <a:bodyPr>
            <a:normAutofit lnSpcReduction="10000"/>
          </a:bodyPr>
          <a:lstStyle/>
          <a:p>
            <a:pPr algn="ctr"/>
            <a:r>
              <a:rPr lang="en-US" sz="3000" dirty="0"/>
              <a:t>find method’s query document syntax [1, 5]</a:t>
            </a:r>
          </a:p>
        </p:txBody>
      </p:sp>
      <p:sp>
        <p:nvSpPr>
          <p:cNvPr id="7" name="TextBox 6">
            <a:extLst>
              <a:ext uri="{FF2B5EF4-FFF2-40B4-BE49-F238E27FC236}">
                <a16:creationId xmlns:a16="http://schemas.microsoft.com/office/drawing/2014/main" id="{10C4B8A9-FA91-795E-74F5-D11588498D96}"/>
              </a:ext>
            </a:extLst>
          </p:cNvPr>
          <p:cNvSpPr txBox="1"/>
          <p:nvPr/>
        </p:nvSpPr>
        <p:spPr>
          <a:xfrm>
            <a:off x="581025" y="1195687"/>
            <a:ext cx="11029950" cy="4247317"/>
          </a:xfrm>
          <a:prstGeom prst="rect">
            <a:avLst/>
          </a:prstGeom>
          <a:noFill/>
        </p:spPr>
        <p:txBody>
          <a:bodyPr wrap="square" rtlCol="0">
            <a:spAutoFit/>
          </a:bodyPr>
          <a:lstStyle/>
          <a:p>
            <a:pPr marL="428625" indent="-428625">
              <a:buFont typeface="Arial" panose="020B0604020202020204" pitchFamily="34" charset="0"/>
              <a:buChar char="•"/>
            </a:pPr>
            <a:r>
              <a:rPr lang="en-US" sz="3000" dirty="0">
                <a:solidFill>
                  <a:srgbClr val="FF0000"/>
                </a:solidFill>
              </a:rPr>
              <a:t>Default document is empty {}</a:t>
            </a:r>
          </a:p>
          <a:p>
            <a:pPr marL="428625" indent="-428625">
              <a:buFont typeface="Arial" panose="020B0604020202020204" pitchFamily="34" charset="0"/>
              <a:buChar char="•"/>
            </a:pPr>
            <a:r>
              <a:rPr lang="en-US" sz="3000" dirty="0"/>
              <a:t>Numbers match numbers, </a:t>
            </a:r>
            <a:r>
              <a:rPr lang="en-US" sz="3000" dirty="0" err="1"/>
              <a:t>booleans</a:t>
            </a:r>
            <a:r>
              <a:rPr lang="en-US" sz="3000" dirty="0"/>
              <a:t> match </a:t>
            </a:r>
            <a:r>
              <a:rPr lang="en-US" sz="3000" dirty="0" err="1"/>
              <a:t>booleans</a:t>
            </a:r>
            <a:r>
              <a:rPr lang="en-US" sz="3000" dirty="0"/>
              <a:t>, and strings match strings. </a:t>
            </a:r>
          </a:p>
          <a:p>
            <a:pPr marL="428625" indent="-428625">
              <a:buFont typeface="Arial" panose="020B0604020202020204" pitchFamily="34" charset="0"/>
              <a:buChar char="•"/>
            </a:pPr>
            <a:r>
              <a:rPr lang="en-US" sz="3000" dirty="0" err="1">
                <a:solidFill>
                  <a:srgbClr val="FF0000"/>
                </a:solidFill>
              </a:rPr>
              <a:t>db.users.find</a:t>
            </a:r>
            <a:r>
              <a:rPr lang="en-US" sz="3000" dirty="0">
                <a:solidFill>
                  <a:srgbClr val="FF0000"/>
                </a:solidFill>
              </a:rPr>
              <a:t>({"age" : 27})</a:t>
            </a:r>
          </a:p>
          <a:p>
            <a:pPr marL="428625" indent="-428625">
              <a:buFont typeface="Arial" panose="020B0604020202020204" pitchFamily="34" charset="0"/>
              <a:buChar char="•"/>
            </a:pPr>
            <a:r>
              <a:rPr lang="en-US" sz="3000" dirty="0" err="1">
                <a:solidFill>
                  <a:srgbClr val="FF0000"/>
                </a:solidFill>
              </a:rPr>
              <a:t>db.users.find</a:t>
            </a:r>
            <a:r>
              <a:rPr lang="en-US" sz="3000" dirty="0">
                <a:solidFill>
                  <a:srgbClr val="FF0000"/>
                </a:solidFill>
              </a:rPr>
              <a:t>({"username" : "joe"})</a:t>
            </a:r>
          </a:p>
          <a:p>
            <a:pPr marL="428625" indent="-428625">
              <a:buFont typeface="Arial" panose="020B0604020202020204" pitchFamily="34" charset="0"/>
              <a:buChar char="•"/>
            </a:pPr>
            <a:r>
              <a:rPr lang="en-US" sz="3000" dirty="0"/>
              <a:t>Multiple conditions can be strung together by adding more key/value pairs to the query document, which gets interpreted as “condition1 AND condition2 AND … AND </a:t>
            </a:r>
            <a:r>
              <a:rPr lang="en-US" sz="3000" dirty="0" err="1"/>
              <a:t>conditionN</a:t>
            </a:r>
            <a:r>
              <a:rPr lang="en-US" sz="3000" dirty="0"/>
              <a:t>.”</a:t>
            </a:r>
          </a:p>
          <a:p>
            <a:pPr marL="428625" indent="-428625">
              <a:buFont typeface="Arial" panose="020B0604020202020204" pitchFamily="34" charset="0"/>
              <a:buChar char="•"/>
            </a:pPr>
            <a:r>
              <a:rPr lang="en-US" sz="3000" dirty="0" err="1">
                <a:solidFill>
                  <a:srgbClr val="FF0000"/>
                </a:solidFill>
              </a:rPr>
              <a:t>db.users.find</a:t>
            </a:r>
            <a:r>
              <a:rPr lang="en-US" sz="3000" dirty="0">
                <a:solidFill>
                  <a:srgbClr val="FF0000"/>
                </a:solidFill>
              </a:rPr>
              <a:t>({"username" : "joe", "age" : 27})</a:t>
            </a:r>
          </a:p>
        </p:txBody>
      </p:sp>
    </p:spTree>
    <p:extLst>
      <p:ext uri="{BB962C8B-B14F-4D97-AF65-F5344CB8AC3E}">
        <p14:creationId xmlns:p14="http://schemas.microsoft.com/office/powerpoint/2010/main" val="3252304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461665"/>
          </a:xfrm>
        </p:spPr>
        <p:txBody>
          <a:bodyPr>
            <a:normAutofit lnSpcReduction="10000"/>
          </a:bodyPr>
          <a:lstStyle/>
          <a:p>
            <a:pPr algn="ctr"/>
            <a:r>
              <a:rPr lang="en-US" sz="3000" dirty="0"/>
              <a:t>Projection: Specifying Which Keys to Return</a:t>
            </a:r>
          </a:p>
        </p:txBody>
      </p:sp>
      <p:sp>
        <p:nvSpPr>
          <p:cNvPr id="7" name="TextBox 6">
            <a:extLst>
              <a:ext uri="{FF2B5EF4-FFF2-40B4-BE49-F238E27FC236}">
                <a16:creationId xmlns:a16="http://schemas.microsoft.com/office/drawing/2014/main" id="{10C4B8A9-FA91-795E-74F5-D11588498D96}"/>
              </a:ext>
            </a:extLst>
          </p:cNvPr>
          <p:cNvSpPr txBox="1"/>
          <p:nvPr/>
        </p:nvSpPr>
        <p:spPr>
          <a:xfrm>
            <a:off x="581025" y="1195686"/>
            <a:ext cx="11029950" cy="4708981"/>
          </a:xfrm>
          <a:prstGeom prst="rect">
            <a:avLst/>
          </a:prstGeom>
          <a:noFill/>
        </p:spPr>
        <p:txBody>
          <a:bodyPr wrap="square" rtlCol="0">
            <a:spAutoFit/>
          </a:bodyPr>
          <a:lstStyle/>
          <a:p>
            <a:pPr marL="428625" indent="-428625">
              <a:buFont typeface="Arial" panose="020B0604020202020204" pitchFamily="34" charset="0"/>
              <a:buChar char="•"/>
            </a:pPr>
            <a:r>
              <a:rPr lang="en-US" sz="3000" dirty="0"/>
              <a:t>Sometimes you do not need all of the key/value pairs in a document returned. </a:t>
            </a:r>
          </a:p>
          <a:p>
            <a:pPr marL="428625" indent="-428625">
              <a:buFont typeface="Arial" panose="020B0604020202020204" pitchFamily="34" charset="0"/>
              <a:buChar char="•"/>
            </a:pPr>
            <a:r>
              <a:rPr lang="en-US" sz="3000" dirty="0"/>
              <a:t>If this is the case, you can pass a second “projection” argument to find (or </a:t>
            </a:r>
            <a:r>
              <a:rPr lang="en-US" sz="3000" dirty="0" err="1"/>
              <a:t>findOne</a:t>
            </a:r>
            <a:r>
              <a:rPr lang="en-US" sz="3000" dirty="0"/>
              <a:t>) specifying the keys you want. </a:t>
            </a:r>
          </a:p>
          <a:p>
            <a:pPr marL="428625" indent="-428625">
              <a:buFont typeface="Arial" panose="020B0604020202020204" pitchFamily="34" charset="0"/>
              <a:buChar char="•"/>
            </a:pPr>
            <a:r>
              <a:rPr lang="en-US" sz="3000" dirty="0"/>
              <a:t>This reduces both the amount of data sent over the wire and the time and memory used to decode documents on the client side.</a:t>
            </a:r>
          </a:p>
          <a:p>
            <a:pPr marL="428625" indent="-428625">
              <a:buFont typeface="Arial" panose="020B0604020202020204" pitchFamily="34" charset="0"/>
              <a:buChar char="•"/>
            </a:pPr>
            <a:r>
              <a:rPr lang="en-US" sz="3000" dirty="0"/>
              <a:t>For example, using the California population dataset:</a:t>
            </a:r>
          </a:p>
          <a:p>
            <a:pPr marL="428625" indent="-428625">
              <a:buFont typeface="Arial" panose="020B0604020202020204" pitchFamily="34" charset="0"/>
              <a:buChar char="•"/>
            </a:pPr>
            <a:r>
              <a:rPr lang="en-US" sz="3000" dirty="0" err="1">
                <a:solidFill>
                  <a:srgbClr val="FF0000"/>
                </a:solidFill>
              </a:rPr>
              <a:t>db.population.find</a:t>
            </a:r>
            <a:r>
              <a:rPr lang="en-US" sz="3000" dirty="0">
                <a:solidFill>
                  <a:srgbClr val="FF0000"/>
                </a:solidFill>
              </a:rPr>
              <a:t>({}, {"Year" : 1, "Age" : 1})</a:t>
            </a:r>
          </a:p>
          <a:p>
            <a:pPr marL="428625" indent="-428625">
              <a:buFont typeface="Arial" panose="020B0604020202020204" pitchFamily="34" charset="0"/>
              <a:buChar char="•"/>
            </a:pPr>
            <a:r>
              <a:rPr lang="en-US" sz="3000" dirty="0" err="1">
                <a:solidFill>
                  <a:srgbClr val="FF0000"/>
                </a:solidFill>
              </a:rPr>
              <a:t>db.population.find</a:t>
            </a:r>
            <a:r>
              <a:rPr lang="en-US" sz="3000" dirty="0">
                <a:solidFill>
                  <a:srgbClr val="FF0000"/>
                </a:solidFill>
              </a:rPr>
              <a:t>({"Age":{$gte:20}}, {"Year" : true, "Age" : true})</a:t>
            </a:r>
          </a:p>
          <a:p>
            <a:pPr marL="428625" indent="-428625">
              <a:buFont typeface="Arial" panose="020B0604020202020204" pitchFamily="34" charset="0"/>
              <a:buChar char="•"/>
            </a:pPr>
            <a:r>
              <a:rPr lang="en-US" sz="3000" dirty="0" err="1">
                <a:solidFill>
                  <a:srgbClr val="FF0000"/>
                </a:solidFill>
              </a:rPr>
              <a:t>db.population.findOne</a:t>
            </a:r>
            <a:r>
              <a:rPr lang="en-US" sz="3000" dirty="0">
                <a:solidFill>
                  <a:srgbClr val="FF0000"/>
                </a:solidFill>
              </a:rPr>
              <a:t>({"Age":{$lte:20}}, {"Year" : 1, "Age" : </a:t>
            </a:r>
            <a:r>
              <a:rPr lang="en-US" sz="3000">
                <a:solidFill>
                  <a:srgbClr val="FF0000"/>
                </a:solidFill>
              </a:rPr>
              <a:t>1})</a:t>
            </a:r>
            <a:endParaRPr lang="en-US" sz="3000" dirty="0">
              <a:solidFill>
                <a:srgbClr val="FF0000"/>
              </a:solidFill>
            </a:endParaRPr>
          </a:p>
        </p:txBody>
      </p:sp>
    </p:spTree>
    <p:extLst>
      <p:ext uri="{BB962C8B-B14F-4D97-AF65-F5344CB8AC3E}">
        <p14:creationId xmlns:p14="http://schemas.microsoft.com/office/powerpoint/2010/main" val="14784440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553998"/>
          </a:xfrm>
        </p:spPr>
        <p:txBody>
          <a:bodyPr>
            <a:normAutofit lnSpcReduction="10000"/>
          </a:bodyPr>
          <a:lstStyle/>
          <a:p>
            <a:pPr algn="ctr"/>
            <a:r>
              <a:rPr lang="en-US" sz="3600" dirty="0"/>
              <a:t>Schema Validation</a:t>
            </a:r>
          </a:p>
        </p:txBody>
      </p:sp>
      <p:sp>
        <p:nvSpPr>
          <p:cNvPr id="5" name="TextBox 4">
            <a:extLst>
              <a:ext uri="{FF2B5EF4-FFF2-40B4-BE49-F238E27FC236}">
                <a16:creationId xmlns:a16="http://schemas.microsoft.com/office/drawing/2014/main" id="{AFDDD9F9-D781-E76E-8C45-6611DC2EE638}"/>
              </a:ext>
            </a:extLst>
          </p:cNvPr>
          <p:cNvSpPr txBox="1"/>
          <p:nvPr/>
        </p:nvSpPr>
        <p:spPr>
          <a:xfrm>
            <a:off x="257968" y="1200150"/>
            <a:ext cx="11591132" cy="4939814"/>
          </a:xfrm>
          <a:prstGeom prst="rect">
            <a:avLst/>
          </a:prstGeom>
          <a:noFill/>
        </p:spPr>
        <p:txBody>
          <a:bodyPr wrap="square" rtlCol="0">
            <a:spAutoFit/>
          </a:bodyPr>
          <a:lstStyle/>
          <a:p>
            <a:pPr marL="428625" indent="-428625">
              <a:buFont typeface="Arial" panose="020B0604020202020204" pitchFamily="34" charset="0"/>
              <a:buChar char="•"/>
            </a:pPr>
            <a:r>
              <a:rPr lang="en-US" sz="3300" dirty="0">
                <a:solidFill>
                  <a:srgbClr val="001E2B"/>
                </a:solidFill>
                <a:latin typeface="Euclid Circular A"/>
              </a:rPr>
              <a:t>Schema validation lets you create validation rules for your fields, such as allowed data types and value ranges.</a:t>
            </a:r>
          </a:p>
          <a:p>
            <a:pPr marL="428625" indent="-428625">
              <a:buFont typeface="Arial" panose="020B0604020202020204" pitchFamily="34" charset="0"/>
              <a:buChar char="•"/>
            </a:pPr>
            <a:r>
              <a:rPr lang="en-US" sz="3300" dirty="0">
                <a:solidFill>
                  <a:srgbClr val="001E2B"/>
                </a:solidFill>
                <a:latin typeface="Euclid Circular A"/>
              </a:rPr>
              <a:t>You can use schema validation in the following scenarios:</a:t>
            </a:r>
          </a:p>
          <a:p>
            <a:pPr marL="771525" lvl="1" indent="-428625">
              <a:buFont typeface="Wingdings" panose="05000000000000000000" pitchFamily="2" charset="2"/>
              <a:buChar char="ü"/>
            </a:pPr>
            <a:r>
              <a:rPr lang="en-US" sz="2700" dirty="0">
                <a:solidFill>
                  <a:srgbClr val="001E2B"/>
                </a:solidFill>
                <a:latin typeface="Euclid Circular A"/>
              </a:rPr>
              <a:t>For a users collection, ensure that the password field is only stored as a string. This validation prevents users from saving their password as an unexpected data type, like an image.</a:t>
            </a:r>
          </a:p>
          <a:p>
            <a:pPr marL="771525" lvl="1" indent="-428625">
              <a:buFont typeface="Wingdings" panose="05000000000000000000" pitchFamily="2" charset="2"/>
              <a:buChar char="ü"/>
            </a:pPr>
            <a:r>
              <a:rPr lang="en-US" sz="2700" dirty="0">
                <a:solidFill>
                  <a:srgbClr val="001E2B"/>
                </a:solidFill>
                <a:latin typeface="Euclid Circular A"/>
              </a:rPr>
              <a:t>For a sales collection, ensure that the item field belongs to a list of items that your store sells. This validation prevents a user from accidentally misspelling an item name when entering sales data.</a:t>
            </a:r>
          </a:p>
          <a:p>
            <a:pPr marL="771525" lvl="1" indent="-428625">
              <a:buFont typeface="Wingdings" panose="05000000000000000000" pitchFamily="2" charset="2"/>
              <a:buChar char="ü"/>
            </a:pPr>
            <a:r>
              <a:rPr lang="en-US" sz="2700" dirty="0">
                <a:solidFill>
                  <a:srgbClr val="001E2B"/>
                </a:solidFill>
                <a:latin typeface="Euclid Circular A"/>
              </a:rPr>
              <a:t>For a students collection, ensure that the </a:t>
            </a:r>
            <a:r>
              <a:rPr lang="en-US" sz="2700" dirty="0" err="1">
                <a:solidFill>
                  <a:srgbClr val="001E2B"/>
                </a:solidFill>
                <a:latin typeface="Euclid Circular A"/>
              </a:rPr>
              <a:t>gpa</a:t>
            </a:r>
            <a:r>
              <a:rPr lang="en-US" sz="2700" dirty="0">
                <a:solidFill>
                  <a:srgbClr val="001E2B"/>
                </a:solidFill>
                <a:latin typeface="Euclid Circular A"/>
              </a:rPr>
              <a:t> field is always a positive number. This validation catches typos during data entry. </a:t>
            </a:r>
            <a:endParaRPr lang="en-US" sz="2700" dirty="0"/>
          </a:p>
        </p:txBody>
      </p:sp>
    </p:spTree>
    <p:extLst>
      <p:ext uri="{BB962C8B-B14F-4D97-AF65-F5344CB8AC3E}">
        <p14:creationId xmlns:p14="http://schemas.microsoft.com/office/powerpoint/2010/main" val="4346978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553998"/>
          </a:xfrm>
        </p:spPr>
        <p:txBody>
          <a:bodyPr>
            <a:normAutofit lnSpcReduction="10000"/>
          </a:bodyPr>
          <a:lstStyle/>
          <a:p>
            <a:pPr algn="ctr"/>
            <a:r>
              <a:rPr lang="en-US" sz="3600" dirty="0"/>
              <a:t>Schema Validation Demonstration (1/3)</a:t>
            </a:r>
          </a:p>
        </p:txBody>
      </p:sp>
      <p:sp>
        <p:nvSpPr>
          <p:cNvPr id="5" name="TextBox 4">
            <a:extLst>
              <a:ext uri="{FF2B5EF4-FFF2-40B4-BE49-F238E27FC236}">
                <a16:creationId xmlns:a16="http://schemas.microsoft.com/office/drawing/2014/main" id="{AFDDD9F9-D781-E76E-8C45-6611DC2EE638}"/>
              </a:ext>
            </a:extLst>
          </p:cNvPr>
          <p:cNvSpPr txBox="1"/>
          <p:nvPr/>
        </p:nvSpPr>
        <p:spPr>
          <a:xfrm>
            <a:off x="353218" y="971550"/>
            <a:ext cx="11591132" cy="2585323"/>
          </a:xfrm>
          <a:prstGeom prst="rect">
            <a:avLst/>
          </a:prstGeom>
          <a:noFill/>
        </p:spPr>
        <p:txBody>
          <a:bodyPr wrap="square" rtlCol="0">
            <a:spAutoFit/>
          </a:bodyPr>
          <a:lstStyle/>
          <a:p>
            <a:pPr marL="428625" indent="-428625">
              <a:buFont typeface="Arial" panose="020B0604020202020204" pitchFamily="34" charset="0"/>
              <a:buChar char="•"/>
            </a:pPr>
            <a:r>
              <a:rPr lang="en-US" sz="2700" dirty="0">
                <a:solidFill>
                  <a:srgbClr val="001E2B"/>
                </a:solidFill>
                <a:latin typeface="Euclid Circular A"/>
              </a:rPr>
              <a:t>We have a collection of users. A sample document is shown below</a:t>
            </a:r>
          </a:p>
          <a:p>
            <a:pPr marL="428625" indent="-428625">
              <a:buFont typeface="Arial" panose="020B0604020202020204" pitchFamily="34" charset="0"/>
              <a:buChar char="•"/>
            </a:pPr>
            <a:r>
              <a:rPr lang="en-US" sz="2700" dirty="0"/>
              <a:t>We want to check the following while adding new documents to users collection:</a:t>
            </a:r>
          </a:p>
          <a:p>
            <a:pPr marL="428625" indent="-428625">
              <a:buFont typeface="Arial" panose="020B0604020202020204" pitchFamily="34" charset="0"/>
              <a:buChar char="•"/>
            </a:pPr>
            <a:r>
              <a:rPr lang="en-US" sz="2700" dirty="0"/>
              <a:t>name, and email fields are mandatory, and string type</a:t>
            </a:r>
          </a:p>
          <a:p>
            <a:pPr marL="428625" indent="-428625">
              <a:buFont typeface="Arial" panose="020B0604020202020204" pitchFamily="34" charset="0"/>
              <a:buChar char="•"/>
            </a:pPr>
            <a:r>
              <a:rPr lang="en-US" sz="2700" dirty="0"/>
              <a:t>mobile numbers should follow a specific structure: xxx-xxx-</a:t>
            </a:r>
            <a:r>
              <a:rPr lang="en-US" sz="2700" dirty="0" err="1"/>
              <a:t>xxxx</a:t>
            </a:r>
            <a:endParaRPr lang="en-US" sz="2700" dirty="0"/>
          </a:p>
          <a:p>
            <a:pPr marL="428625" indent="-428625">
              <a:buFont typeface="Arial" panose="020B0604020202020204" pitchFamily="34" charset="0"/>
              <a:buChar char="•"/>
            </a:pPr>
            <a:r>
              <a:rPr lang="en-US" sz="2700" dirty="0"/>
              <a:t>age field should be numeric</a:t>
            </a:r>
          </a:p>
        </p:txBody>
      </p:sp>
      <p:sp>
        <p:nvSpPr>
          <p:cNvPr id="3" name="TextBox 2">
            <a:extLst>
              <a:ext uri="{FF2B5EF4-FFF2-40B4-BE49-F238E27FC236}">
                <a16:creationId xmlns:a16="http://schemas.microsoft.com/office/drawing/2014/main" id="{6BDCF5E1-4967-EC43-4A72-0143AE685710}"/>
              </a:ext>
            </a:extLst>
          </p:cNvPr>
          <p:cNvSpPr txBox="1"/>
          <p:nvPr/>
        </p:nvSpPr>
        <p:spPr>
          <a:xfrm>
            <a:off x="2781300" y="3600450"/>
            <a:ext cx="6000750" cy="2862322"/>
          </a:xfrm>
          <a:prstGeom prst="rect">
            <a:avLst/>
          </a:prstGeom>
          <a:noFill/>
        </p:spPr>
        <p:txBody>
          <a:bodyPr wrap="square" rtlCol="0">
            <a:spAutoFit/>
          </a:bodyPr>
          <a:lstStyle/>
          <a:p>
            <a:r>
              <a:rPr lang="en-US" sz="3000" dirty="0"/>
              <a:t>{</a:t>
            </a:r>
          </a:p>
          <a:p>
            <a:r>
              <a:rPr lang="en-US" sz="3000" dirty="0"/>
              <a:t>    "name": “John",</a:t>
            </a:r>
          </a:p>
          <a:p>
            <a:r>
              <a:rPr lang="en-US" sz="3000" dirty="0"/>
              <a:t>    "email": “john@gmail.com",</a:t>
            </a:r>
          </a:p>
          <a:p>
            <a:r>
              <a:rPr lang="en-US" sz="3000" dirty="0"/>
              <a:t>    "mobile": "123-456-7890“,</a:t>
            </a:r>
          </a:p>
          <a:p>
            <a:r>
              <a:rPr lang="en-US" sz="3000" dirty="0"/>
              <a:t>    “age": 25</a:t>
            </a:r>
          </a:p>
          <a:p>
            <a:r>
              <a:rPr lang="en-US" sz="3000" dirty="0"/>
              <a:t>}</a:t>
            </a:r>
          </a:p>
        </p:txBody>
      </p:sp>
    </p:spTree>
    <p:extLst>
      <p:ext uri="{BB962C8B-B14F-4D97-AF65-F5344CB8AC3E}">
        <p14:creationId xmlns:p14="http://schemas.microsoft.com/office/powerpoint/2010/main" val="4104481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553998"/>
          </a:xfrm>
        </p:spPr>
        <p:txBody>
          <a:bodyPr>
            <a:normAutofit lnSpcReduction="10000"/>
          </a:bodyPr>
          <a:lstStyle/>
          <a:p>
            <a:pPr algn="ctr"/>
            <a:r>
              <a:rPr lang="en-US" sz="3600" dirty="0"/>
              <a:t>Schema Validation Demonstration (2/3)</a:t>
            </a:r>
          </a:p>
        </p:txBody>
      </p:sp>
      <p:sp>
        <p:nvSpPr>
          <p:cNvPr id="5" name="TextBox 4">
            <a:extLst>
              <a:ext uri="{FF2B5EF4-FFF2-40B4-BE49-F238E27FC236}">
                <a16:creationId xmlns:a16="http://schemas.microsoft.com/office/drawing/2014/main" id="{AFDDD9F9-D781-E76E-8C45-6611DC2EE638}"/>
              </a:ext>
            </a:extLst>
          </p:cNvPr>
          <p:cNvSpPr txBox="1"/>
          <p:nvPr/>
        </p:nvSpPr>
        <p:spPr>
          <a:xfrm>
            <a:off x="342961" y="1820049"/>
            <a:ext cx="4199732" cy="3416320"/>
          </a:xfrm>
          <a:prstGeom prst="rect">
            <a:avLst/>
          </a:prstGeom>
          <a:noFill/>
        </p:spPr>
        <p:txBody>
          <a:bodyPr wrap="square" rtlCol="0">
            <a:spAutoFit/>
          </a:bodyPr>
          <a:lstStyle/>
          <a:p>
            <a:pPr marL="428625" indent="-428625">
              <a:buFont typeface="Arial" panose="020B0604020202020204" pitchFamily="34" charset="0"/>
              <a:buChar char="•"/>
            </a:pPr>
            <a:r>
              <a:rPr lang="en-US" sz="2700" dirty="0">
                <a:solidFill>
                  <a:srgbClr val="001E2B"/>
                </a:solidFill>
                <a:latin typeface="Euclid Circular A"/>
              </a:rPr>
              <a:t>To add this validation, we can use the “validator” construct while creating a new collection using </a:t>
            </a:r>
            <a:r>
              <a:rPr lang="en-US" sz="2700" dirty="0" err="1">
                <a:solidFill>
                  <a:srgbClr val="001E2B"/>
                </a:solidFill>
                <a:latin typeface="Euclid Circular A"/>
              </a:rPr>
              <a:t>createCollection</a:t>
            </a:r>
            <a:r>
              <a:rPr lang="en-US" sz="2700" dirty="0">
                <a:solidFill>
                  <a:srgbClr val="001E2B"/>
                </a:solidFill>
                <a:latin typeface="Euclid Circular A"/>
              </a:rPr>
              <a:t>() method. </a:t>
            </a:r>
          </a:p>
          <a:p>
            <a:pPr marL="428625" indent="-428625">
              <a:buFont typeface="Arial" panose="020B0604020202020204" pitchFamily="34" charset="0"/>
              <a:buChar char="•"/>
            </a:pPr>
            <a:r>
              <a:rPr lang="en-US" sz="2700" dirty="0">
                <a:solidFill>
                  <a:srgbClr val="001E2B"/>
                </a:solidFill>
                <a:latin typeface="Euclid Circular A"/>
              </a:rPr>
              <a:t>Run the following query in Mongo shell:</a:t>
            </a:r>
            <a:endParaRPr lang="en-US" sz="2700" dirty="0"/>
          </a:p>
        </p:txBody>
      </p:sp>
      <p:sp>
        <p:nvSpPr>
          <p:cNvPr id="3" name="TextBox 2">
            <a:extLst>
              <a:ext uri="{FF2B5EF4-FFF2-40B4-BE49-F238E27FC236}">
                <a16:creationId xmlns:a16="http://schemas.microsoft.com/office/drawing/2014/main" id="{6BDCF5E1-4967-EC43-4A72-0143AE685710}"/>
              </a:ext>
            </a:extLst>
          </p:cNvPr>
          <p:cNvSpPr txBox="1"/>
          <p:nvPr/>
        </p:nvSpPr>
        <p:spPr>
          <a:xfrm>
            <a:off x="5010150" y="1663132"/>
            <a:ext cx="6057900" cy="4247317"/>
          </a:xfrm>
          <a:prstGeom prst="rect">
            <a:avLst/>
          </a:prstGeom>
          <a:noFill/>
        </p:spPr>
        <p:txBody>
          <a:bodyPr wrap="square" rtlCol="0">
            <a:spAutoFit/>
          </a:bodyPr>
          <a:lstStyle/>
          <a:p>
            <a:r>
              <a:rPr lang="en-US" sz="1500" dirty="0" err="1"/>
              <a:t>db.createCollection</a:t>
            </a:r>
            <a:r>
              <a:rPr lang="en-US" sz="1500" dirty="0"/>
              <a:t>("users", {</a:t>
            </a:r>
          </a:p>
          <a:p>
            <a:r>
              <a:rPr lang="en-US" sz="1500" dirty="0"/>
              <a:t>  validator: {</a:t>
            </a:r>
          </a:p>
          <a:p>
            <a:r>
              <a:rPr lang="en-US" sz="1500" dirty="0"/>
              <a:t>        $and: [</a:t>
            </a:r>
          </a:p>
          <a:p>
            <a:r>
              <a:rPr lang="en-US" sz="1500" dirty="0"/>
              <a:t>            {</a:t>
            </a:r>
          </a:p>
          <a:p>
            <a:r>
              <a:rPr lang="en-US" sz="1500" dirty="0"/>
              <a:t>                "name": {$type: "string", $exists: true}</a:t>
            </a:r>
          </a:p>
          <a:p>
            <a:r>
              <a:rPr lang="en-US" sz="1500" dirty="0"/>
              <a:t>            },</a:t>
            </a:r>
          </a:p>
          <a:p>
            <a:r>
              <a:rPr lang="en-US" sz="1500" dirty="0"/>
              <a:t>            {</a:t>
            </a:r>
          </a:p>
          <a:p>
            <a:r>
              <a:rPr lang="en-US" sz="1500" dirty="0"/>
              <a:t>                "mobile": {$type: "string", $regex: /^[0-9]{3}-[0-9]{3}-[0-9]{4}$/}</a:t>
            </a:r>
          </a:p>
          <a:p>
            <a:r>
              <a:rPr lang="en-US" sz="1500" dirty="0"/>
              <a:t>            },</a:t>
            </a:r>
          </a:p>
          <a:p>
            <a:r>
              <a:rPr lang="en-US" sz="1500" dirty="0"/>
              <a:t>            {</a:t>
            </a:r>
          </a:p>
          <a:p>
            <a:r>
              <a:rPr lang="en-US" sz="1500" dirty="0"/>
              <a:t>                "email": {$type: "string", $exists: true}</a:t>
            </a:r>
          </a:p>
          <a:p>
            <a:r>
              <a:rPr lang="en-US" sz="1500" dirty="0"/>
              <a:t>            },</a:t>
            </a:r>
          </a:p>
          <a:p>
            <a:r>
              <a:rPr lang="en-US" sz="1500" dirty="0"/>
              <a:t>            {</a:t>
            </a:r>
          </a:p>
          <a:p>
            <a:r>
              <a:rPr lang="en-US" sz="1500" dirty="0"/>
              <a:t>                "age": {$type: "int", $exists: true}</a:t>
            </a:r>
          </a:p>
          <a:p>
            <a:r>
              <a:rPr lang="en-US" sz="1500" dirty="0"/>
              <a:t>            }</a:t>
            </a:r>
          </a:p>
          <a:p>
            <a:r>
              <a:rPr lang="en-US" sz="1500" dirty="0"/>
              <a:t>        ]</a:t>
            </a:r>
          </a:p>
          <a:p>
            <a:r>
              <a:rPr lang="en-US" sz="1500" dirty="0"/>
              <a:t>    }</a:t>
            </a:r>
          </a:p>
          <a:p>
            <a:r>
              <a:rPr lang="en-US" sz="1500" dirty="0"/>
              <a:t>})</a:t>
            </a:r>
          </a:p>
        </p:txBody>
      </p:sp>
    </p:spTree>
    <p:extLst>
      <p:ext uri="{BB962C8B-B14F-4D97-AF65-F5344CB8AC3E}">
        <p14:creationId xmlns:p14="http://schemas.microsoft.com/office/powerpoint/2010/main" val="3296343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553998"/>
          </a:xfrm>
        </p:spPr>
        <p:txBody>
          <a:bodyPr>
            <a:normAutofit lnSpcReduction="10000"/>
          </a:bodyPr>
          <a:lstStyle/>
          <a:p>
            <a:pPr algn="ctr"/>
            <a:r>
              <a:rPr lang="en-US" sz="3600" dirty="0"/>
              <a:t>Schema Validation Demonstration (3/3)</a:t>
            </a:r>
          </a:p>
        </p:txBody>
      </p:sp>
      <p:sp>
        <p:nvSpPr>
          <p:cNvPr id="5" name="TextBox 4">
            <a:extLst>
              <a:ext uri="{FF2B5EF4-FFF2-40B4-BE49-F238E27FC236}">
                <a16:creationId xmlns:a16="http://schemas.microsoft.com/office/drawing/2014/main" id="{AFDDD9F9-D781-E76E-8C45-6611DC2EE638}"/>
              </a:ext>
            </a:extLst>
          </p:cNvPr>
          <p:cNvSpPr txBox="1"/>
          <p:nvPr/>
        </p:nvSpPr>
        <p:spPr>
          <a:xfrm>
            <a:off x="723900" y="1085850"/>
            <a:ext cx="9639240" cy="923330"/>
          </a:xfrm>
          <a:prstGeom prst="rect">
            <a:avLst/>
          </a:prstGeom>
          <a:noFill/>
        </p:spPr>
        <p:txBody>
          <a:bodyPr wrap="square" rtlCol="0">
            <a:spAutoFit/>
          </a:bodyPr>
          <a:lstStyle/>
          <a:p>
            <a:pPr marL="428625" indent="-428625">
              <a:buFont typeface="Arial" panose="020B0604020202020204" pitchFamily="34" charset="0"/>
              <a:buChar char="•"/>
            </a:pPr>
            <a:r>
              <a:rPr lang="en-US" sz="2700" dirty="0">
                <a:solidFill>
                  <a:srgbClr val="001E2B"/>
                </a:solidFill>
                <a:latin typeface="Euclid Circular A"/>
              </a:rPr>
              <a:t>Let’s try to add two documents: one with the correct data types</a:t>
            </a:r>
          </a:p>
          <a:p>
            <a:pPr marL="428625" indent="-428625">
              <a:buFont typeface="Arial" panose="020B0604020202020204" pitchFamily="34" charset="0"/>
              <a:buChar char="•"/>
            </a:pPr>
            <a:r>
              <a:rPr lang="en-US" sz="2700" dirty="0">
                <a:solidFill>
                  <a:srgbClr val="001E2B"/>
                </a:solidFill>
                <a:latin typeface="Euclid Circular A"/>
              </a:rPr>
              <a:t>Another with wrong data types or format</a:t>
            </a:r>
            <a:endParaRPr lang="en-US" sz="2700" dirty="0"/>
          </a:p>
        </p:txBody>
      </p:sp>
      <p:sp>
        <p:nvSpPr>
          <p:cNvPr id="3" name="TextBox 2">
            <a:extLst>
              <a:ext uri="{FF2B5EF4-FFF2-40B4-BE49-F238E27FC236}">
                <a16:creationId xmlns:a16="http://schemas.microsoft.com/office/drawing/2014/main" id="{6BDCF5E1-4967-EC43-4A72-0143AE685710}"/>
              </a:ext>
            </a:extLst>
          </p:cNvPr>
          <p:cNvSpPr txBox="1"/>
          <p:nvPr/>
        </p:nvSpPr>
        <p:spPr>
          <a:xfrm>
            <a:off x="552450" y="3130212"/>
            <a:ext cx="3486150" cy="2862322"/>
          </a:xfrm>
          <a:prstGeom prst="rect">
            <a:avLst/>
          </a:prstGeom>
          <a:noFill/>
        </p:spPr>
        <p:txBody>
          <a:bodyPr wrap="square" rtlCol="0">
            <a:spAutoFit/>
          </a:bodyPr>
          <a:lstStyle/>
          <a:p>
            <a:r>
              <a:rPr lang="en-US" dirty="0" err="1"/>
              <a:t>db.users.insertOne</a:t>
            </a:r>
            <a:r>
              <a:rPr lang="en-US" dirty="0"/>
              <a:t>(</a:t>
            </a:r>
          </a:p>
          <a:p>
            <a:r>
              <a:rPr lang="en-US" dirty="0"/>
              <a:t>{</a:t>
            </a:r>
          </a:p>
          <a:p>
            <a:r>
              <a:rPr lang="en-US" dirty="0"/>
              <a:t>	"name": "Jack",</a:t>
            </a:r>
          </a:p>
          <a:p>
            <a:r>
              <a:rPr lang="en-US" dirty="0"/>
              <a:t>	"mobile":"236-232-5454",</a:t>
            </a:r>
          </a:p>
          <a:p>
            <a:r>
              <a:rPr lang="en-US" dirty="0"/>
              <a:t>	"email": "jack@gmail.com",</a:t>
            </a:r>
          </a:p>
          <a:p>
            <a:r>
              <a:rPr lang="en-US" dirty="0"/>
              <a:t>	"age": 36</a:t>
            </a:r>
          </a:p>
          <a:p>
            <a:r>
              <a:rPr lang="en-US" dirty="0"/>
              <a:t>}</a:t>
            </a:r>
          </a:p>
          <a:p>
            <a:r>
              <a:rPr lang="en-US" dirty="0"/>
              <a:t>)</a:t>
            </a:r>
          </a:p>
        </p:txBody>
      </p:sp>
      <p:sp>
        <p:nvSpPr>
          <p:cNvPr id="4" name="TextBox 3">
            <a:extLst>
              <a:ext uri="{FF2B5EF4-FFF2-40B4-BE49-F238E27FC236}">
                <a16:creationId xmlns:a16="http://schemas.microsoft.com/office/drawing/2014/main" id="{EAB72805-3065-9DAB-2555-EDF70E6622E6}"/>
              </a:ext>
            </a:extLst>
          </p:cNvPr>
          <p:cNvSpPr txBox="1"/>
          <p:nvPr/>
        </p:nvSpPr>
        <p:spPr>
          <a:xfrm>
            <a:off x="726831" y="2628900"/>
            <a:ext cx="1885950" cy="369332"/>
          </a:xfrm>
          <a:prstGeom prst="rect">
            <a:avLst/>
          </a:prstGeom>
          <a:noFill/>
        </p:spPr>
        <p:txBody>
          <a:bodyPr wrap="square" rtlCol="0">
            <a:spAutoFit/>
          </a:bodyPr>
          <a:lstStyle/>
          <a:p>
            <a:pPr algn="ctr"/>
            <a:r>
              <a:rPr lang="en-US" b="1" dirty="0"/>
              <a:t>Valid document</a:t>
            </a:r>
          </a:p>
        </p:txBody>
      </p:sp>
      <p:sp>
        <p:nvSpPr>
          <p:cNvPr id="6" name="TextBox 5">
            <a:extLst>
              <a:ext uri="{FF2B5EF4-FFF2-40B4-BE49-F238E27FC236}">
                <a16:creationId xmlns:a16="http://schemas.microsoft.com/office/drawing/2014/main" id="{B0397828-DFCA-29BA-192A-6FEEAD7E301C}"/>
              </a:ext>
            </a:extLst>
          </p:cNvPr>
          <p:cNvSpPr txBox="1"/>
          <p:nvPr/>
        </p:nvSpPr>
        <p:spPr>
          <a:xfrm>
            <a:off x="4371945" y="2000629"/>
            <a:ext cx="2343150" cy="369332"/>
          </a:xfrm>
          <a:prstGeom prst="rect">
            <a:avLst/>
          </a:prstGeom>
          <a:noFill/>
        </p:spPr>
        <p:txBody>
          <a:bodyPr wrap="square" rtlCol="0">
            <a:spAutoFit/>
          </a:bodyPr>
          <a:lstStyle/>
          <a:p>
            <a:pPr algn="ctr"/>
            <a:r>
              <a:rPr lang="en-US" b="1" dirty="0"/>
              <a:t>Invalid document 1</a:t>
            </a:r>
          </a:p>
        </p:txBody>
      </p:sp>
      <p:sp>
        <p:nvSpPr>
          <p:cNvPr id="7" name="TextBox 6">
            <a:extLst>
              <a:ext uri="{FF2B5EF4-FFF2-40B4-BE49-F238E27FC236}">
                <a16:creationId xmlns:a16="http://schemas.microsoft.com/office/drawing/2014/main" id="{2FCFCA0D-DA37-274B-8597-16520BB40FC1}"/>
              </a:ext>
            </a:extLst>
          </p:cNvPr>
          <p:cNvSpPr txBox="1"/>
          <p:nvPr/>
        </p:nvSpPr>
        <p:spPr>
          <a:xfrm>
            <a:off x="4272359" y="2326028"/>
            <a:ext cx="3657600" cy="2585323"/>
          </a:xfrm>
          <a:prstGeom prst="rect">
            <a:avLst/>
          </a:prstGeom>
          <a:noFill/>
        </p:spPr>
        <p:txBody>
          <a:bodyPr wrap="square" rtlCol="0">
            <a:spAutoFit/>
          </a:bodyPr>
          <a:lstStyle/>
          <a:p>
            <a:r>
              <a:rPr lang="en-US" dirty="0" err="1"/>
              <a:t>db.users.insertOne</a:t>
            </a:r>
            <a:r>
              <a:rPr lang="en-US" dirty="0"/>
              <a:t>(</a:t>
            </a:r>
          </a:p>
          <a:p>
            <a:r>
              <a:rPr lang="en-US" dirty="0"/>
              <a:t>{</a:t>
            </a:r>
          </a:p>
          <a:p>
            <a:r>
              <a:rPr lang="en-US" dirty="0"/>
              <a:t>	"name": “Larry",</a:t>
            </a:r>
          </a:p>
          <a:p>
            <a:r>
              <a:rPr lang="en-US" dirty="0"/>
              <a:t>	"mobile":"2362320036",</a:t>
            </a:r>
          </a:p>
          <a:p>
            <a:r>
              <a:rPr lang="en-US" dirty="0"/>
              <a:t>	"email": "larry@gmail.com",</a:t>
            </a:r>
          </a:p>
          <a:p>
            <a:r>
              <a:rPr lang="en-US" dirty="0"/>
              <a:t>	"age": 76</a:t>
            </a:r>
          </a:p>
          <a:p>
            <a:r>
              <a:rPr lang="en-US" dirty="0"/>
              <a:t>}</a:t>
            </a:r>
          </a:p>
          <a:p>
            <a:r>
              <a:rPr lang="en-US" dirty="0"/>
              <a:t>)</a:t>
            </a:r>
          </a:p>
        </p:txBody>
      </p:sp>
      <p:pic>
        <p:nvPicPr>
          <p:cNvPr id="9" name="Picture 8">
            <a:extLst>
              <a:ext uri="{FF2B5EF4-FFF2-40B4-BE49-F238E27FC236}">
                <a16:creationId xmlns:a16="http://schemas.microsoft.com/office/drawing/2014/main" id="{B359F8E9-7940-25C7-0FBE-EFD7CB98CD05}"/>
              </a:ext>
            </a:extLst>
          </p:cNvPr>
          <p:cNvPicPr>
            <a:picLocks noChangeAspect="1"/>
          </p:cNvPicPr>
          <p:nvPr/>
        </p:nvPicPr>
        <p:blipFill>
          <a:blip r:embed="rId3"/>
          <a:stretch>
            <a:fillRect/>
          </a:stretch>
        </p:blipFill>
        <p:spPr>
          <a:xfrm>
            <a:off x="4050323" y="4622007"/>
            <a:ext cx="3957638" cy="2064544"/>
          </a:xfrm>
          <a:prstGeom prst="rect">
            <a:avLst/>
          </a:prstGeom>
        </p:spPr>
      </p:pic>
      <p:sp>
        <p:nvSpPr>
          <p:cNvPr id="10" name="TextBox 9">
            <a:extLst>
              <a:ext uri="{FF2B5EF4-FFF2-40B4-BE49-F238E27FC236}">
                <a16:creationId xmlns:a16="http://schemas.microsoft.com/office/drawing/2014/main" id="{3CEDE124-9D9B-379B-A2FD-DBBA058E6979}"/>
              </a:ext>
            </a:extLst>
          </p:cNvPr>
          <p:cNvSpPr txBox="1"/>
          <p:nvPr/>
        </p:nvSpPr>
        <p:spPr>
          <a:xfrm>
            <a:off x="8032476" y="2286380"/>
            <a:ext cx="3657600" cy="2585323"/>
          </a:xfrm>
          <a:prstGeom prst="rect">
            <a:avLst/>
          </a:prstGeom>
          <a:noFill/>
        </p:spPr>
        <p:txBody>
          <a:bodyPr wrap="square" rtlCol="0">
            <a:spAutoFit/>
          </a:bodyPr>
          <a:lstStyle/>
          <a:p>
            <a:r>
              <a:rPr lang="en-US" dirty="0" err="1"/>
              <a:t>db.users.insertOne</a:t>
            </a:r>
            <a:r>
              <a:rPr lang="en-US" dirty="0"/>
              <a:t>(</a:t>
            </a:r>
          </a:p>
          <a:p>
            <a:r>
              <a:rPr lang="en-US" dirty="0"/>
              <a:t>{</a:t>
            </a:r>
          </a:p>
          <a:p>
            <a:r>
              <a:rPr lang="en-US" dirty="0"/>
              <a:t>	"name": “Larry",</a:t>
            </a:r>
          </a:p>
          <a:p>
            <a:r>
              <a:rPr lang="en-US" dirty="0"/>
              <a:t>	"mobile":"236-232-0036",</a:t>
            </a:r>
          </a:p>
          <a:p>
            <a:r>
              <a:rPr lang="en-US" dirty="0"/>
              <a:t>	"email": "larry@gmail.com",</a:t>
            </a:r>
          </a:p>
          <a:p>
            <a:r>
              <a:rPr lang="en-US" dirty="0"/>
              <a:t>	"age": “76”</a:t>
            </a:r>
          </a:p>
          <a:p>
            <a:r>
              <a:rPr lang="en-US" dirty="0"/>
              <a:t>}</a:t>
            </a:r>
          </a:p>
          <a:p>
            <a:r>
              <a:rPr lang="en-US" dirty="0"/>
              <a:t>)</a:t>
            </a:r>
          </a:p>
        </p:txBody>
      </p:sp>
      <p:sp>
        <p:nvSpPr>
          <p:cNvPr id="11" name="TextBox 10">
            <a:extLst>
              <a:ext uri="{FF2B5EF4-FFF2-40B4-BE49-F238E27FC236}">
                <a16:creationId xmlns:a16="http://schemas.microsoft.com/office/drawing/2014/main" id="{F8E9218C-0362-B0FF-DD0C-B6E6E4613F22}"/>
              </a:ext>
            </a:extLst>
          </p:cNvPr>
          <p:cNvSpPr txBox="1"/>
          <p:nvPr/>
        </p:nvSpPr>
        <p:spPr>
          <a:xfrm>
            <a:off x="7929959" y="1862762"/>
            <a:ext cx="2343150" cy="369332"/>
          </a:xfrm>
          <a:prstGeom prst="rect">
            <a:avLst/>
          </a:prstGeom>
          <a:noFill/>
        </p:spPr>
        <p:txBody>
          <a:bodyPr wrap="square" rtlCol="0">
            <a:spAutoFit/>
          </a:bodyPr>
          <a:lstStyle/>
          <a:p>
            <a:pPr algn="ctr"/>
            <a:r>
              <a:rPr lang="en-US" b="1" dirty="0"/>
              <a:t>Invalid document 2</a:t>
            </a:r>
          </a:p>
        </p:txBody>
      </p:sp>
      <p:pic>
        <p:nvPicPr>
          <p:cNvPr id="13" name="Picture 12">
            <a:extLst>
              <a:ext uri="{FF2B5EF4-FFF2-40B4-BE49-F238E27FC236}">
                <a16:creationId xmlns:a16="http://schemas.microsoft.com/office/drawing/2014/main" id="{035B837E-FFC5-A703-2CD5-5CCADACE4D5B}"/>
              </a:ext>
            </a:extLst>
          </p:cNvPr>
          <p:cNvPicPr>
            <a:picLocks noChangeAspect="1"/>
          </p:cNvPicPr>
          <p:nvPr/>
        </p:nvPicPr>
        <p:blipFill>
          <a:blip r:embed="rId4"/>
          <a:stretch>
            <a:fillRect/>
          </a:stretch>
        </p:blipFill>
        <p:spPr>
          <a:xfrm>
            <a:off x="8153400" y="4682631"/>
            <a:ext cx="3864769" cy="2043113"/>
          </a:xfrm>
          <a:prstGeom prst="rect">
            <a:avLst/>
          </a:prstGeom>
        </p:spPr>
      </p:pic>
    </p:spTree>
    <p:extLst>
      <p:ext uri="{BB962C8B-B14F-4D97-AF65-F5344CB8AC3E}">
        <p14:creationId xmlns:p14="http://schemas.microsoft.com/office/powerpoint/2010/main" val="948226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35D935B-A2EE-75A2-EA9C-91F4EED4635E}"/>
              </a:ext>
            </a:extLst>
          </p:cNvPr>
          <p:cNvSpPr>
            <a:spLocks noGrp="1"/>
          </p:cNvSpPr>
          <p:nvPr>
            <p:ph type="body" sz="quarter" idx="10"/>
          </p:nvPr>
        </p:nvSpPr>
        <p:spPr/>
        <p:txBody>
          <a:bodyPr/>
          <a:lstStyle/>
          <a:p>
            <a:r>
              <a:rPr lang="en-CA" dirty="0"/>
              <a:t>How to setup </a:t>
            </a:r>
            <a:r>
              <a:rPr lang="en-CA" dirty="0" err="1"/>
              <a:t>mongosh</a:t>
            </a:r>
            <a:endParaRPr lang="en-CA" dirty="0"/>
          </a:p>
        </p:txBody>
      </p:sp>
      <p:sp>
        <p:nvSpPr>
          <p:cNvPr id="3" name="Text Placeholder 2">
            <a:extLst>
              <a:ext uri="{FF2B5EF4-FFF2-40B4-BE49-F238E27FC236}">
                <a16:creationId xmlns:a16="http://schemas.microsoft.com/office/drawing/2014/main" id="{8D93E477-F63C-35CC-10C4-8E2E00D5D422}"/>
              </a:ext>
            </a:extLst>
          </p:cNvPr>
          <p:cNvSpPr>
            <a:spLocks noGrp="1"/>
          </p:cNvSpPr>
          <p:nvPr>
            <p:ph type="body" sz="quarter" idx="11"/>
          </p:nvPr>
        </p:nvSpPr>
        <p:spPr>
          <a:xfrm>
            <a:off x="1071645" y="1335937"/>
            <a:ext cx="9039918" cy="3395551"/>
          </a:xfrm>
        </p:spPr>
        <p:txBody>
          <a:bodyPr>
            <a:normAutofit fontScale="85000" lnSpcReduction="20000"/>
          </a:bodyPr>
          <a:lstStyle/>
          <a:p>
            <a:r>
              <a:rPr lang="en-CA" sz="2600" dirty="0">
                <a:effectLst/>
                <a:latin typeface="Calibri" panose="020F0502020204030204" pitchFamily="34" charset="0"/>
                <a:ea typeface="DengXian" panose="02010600030101010101" pitchFamily="2" charset="-122"/>
                <a:cs typeface="Times New Roman" panose="02020603050405020304" pitchFamily="18" charset="0"/>
              </a:rPr>
              <a:t>Download </a:t>
            </a:r>
            <a:r>
              <a:rPr lang="en-CA" sz="2600" b="1" dirty="0">
                <a:effectLst/>
                <a:latin typeface="Calibri" panose="020F0502020204030204" pitchFamily="34" charset="0"/>
                <a:ea typeface="DengXian" panose="02010600030101010101" pitchFamily="2" charset="-122"/>
                <a:cs typeface="Times New Roman" panose="02020603050405020304" pitchFamily="18" charset="0"/>
              </a:rPr>
              <a:t>Node.js</a:t>
            </a:r>
          </a:p>
          <a:p>
            <a:pPr lvl="1"/>
            <a:r>
              <a:rPr lang="en-CA" sz="2500" kern="1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Visit the official Node.js website at </a:t>
            </a:r>
            <a:r>
              <a:rPr lang="en-CA" sz="2500" kern="100" dirty="0">
                <a:solidFill>
                  <a:schemeClr val="tx1"/>
                </a:solidFill>
                <a:effectLst/>
                <a:highlight>
                  <a:srgbClr val="FFFF00"/>
                </a:highlight>
                <a:latin typeface="Calibri" panose="020F0502020204030204" pitchFamily="34" charset="0"/>
                <a:ea typeface="DengXian" panose="02010600030101010101" pitchFamily="2" charset="-122"/>
                <a:cs typeface="Times New Roman" panose="02020603050405020304" pitchFamily="18" charset="0"/>
              </a:rPr>
              <a:t>https://nodejs.org/.</a:t>
            </a:r>
            <a:r>
              <a:rPr lang="en-CA" sz="2500" kern="1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 On the homepage, you'll see two major versions to choose from: "LTS" (Long Term Support) and "Current." </a:t>
            </a:r>
          </a:p>
          <a:p>
            <a:pPr lvl="1"/>
            <a:r>
              <a:rPr lang="en-CA" sz="2500" kern="1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It's recommended to download the LTS version for most use cases, as it is more stable.</a:t>
            </a:r>
          </a:p>
          <a:p>
            <a:endParaRPr lang="en-CA" sz="3500" dirty="0"/>
          </a:p>
          <a:p>
            <a:r>
              <a:rPr lang="en-CA" sz="2600" dirty="0">
                <a:latin typeface="Calibri" panose="020F0502020204030204" pitchFamily="34" charset="0"/>
                <a:ea typeface="DengXian" panose="02010600030101010101" pitchFamily="2" charset="-122"/>
                <a:cs typeface="Times New Roman" panose="02020603050405020304" pitchFamily="18" charset="0"/>
              </a:rPr>
              <a:t>Install MongoDB Shell (</a:t>
            </a:r>
            <a:r>
              <a:rPr lang="en-CA" sz="2600" dirty="0" err="1">
                <a:latin typeface="Calibri" panose="020F0502020204030204" pitchFamily="34" charset="0"/>
                <a:ea typeface="DengXian" panose="02010600030101010101" pitchFamily="2" charset="-122"/>
                <a:cs typeface="Times New Roman" panose="02020603050405020304" pitchFamily="18" charset="0"/>
              </a:rPr>
              <a:t>mongosh</a:t>
            </a:r>
            <a:r>
              <a:rPr lang="en-CA" sz="2600" dirty="0">
                <a:latin typeface="Calibri" panose="020F0502020204030204" pitchFamily="34" charset="0"/>
                <a:ea typeface="DengXian" panose="02010600030101010101" pitchFamily="2" charset="-122"/>
                <a:cs typeface="Times New Roman" panose="02020603050405020304" pitchFamily="18" charset="0"/>
              </a:rPr>
              <a:t>): </a:t>
            </a:r>
          </a:p>
          <a:p>
            <a:pPr lvl="1"/>
            <a:r>
              <a:rPr lang="en-CA" sz="2500" dirty="0">
                <a:solidFill>
                  <a:schemeClr val="tx1"/>
                </a:solidFill>
                <a:latin typeface="Calibri" panose="020F0502020204030204" pitchFamily="34" charset="0"/>
                <a:ea typeface="DengXian" panose="02010600030101010101" pitchFamily="2" charset="-122"/>
                <a:cs typeface="Times New Roman" panose="02020603050405020304" pitchFamily="18" charset="0"/>
              </a:rPr>
              <a:t>Open ‘command prompt’ window</a:t>
            </a:r>
          </a:p>
          <a:p>
            <a:pPr lvl="1"/>
            <a:r>
              <a:rPr lang="en-CA" sz="2500" dirty="0">
                <a:solidFill>
                  <a:schemeClr val="tx1"/>
                </a:solidFill>
                <a:latin typeface="Calibri" panose="020F0502020204030204" pitchFamily="34" charset="0"/>
                <a:ea typeface="DengXian" panose="02010600030101010101" pitchFamily="2" charset="-122"/>
                <a:cs typeface="Times New Roman" panose="02020603050405020304" pitchFamily="18" charset="0"/>
              </a:rPr>
              <a:t>Run:</a:t>
            </a:r>
          </a:p>
          <a:p>
            <a:pPr lvl="2"/>
            <a:r>
              <a:rPr lang="en-CA" sz="2800" b="1" dirty="0" err="1">
                <a:solidFill>
                  <a:schemeClr val="tx1"/>
                </a:solidFill>
                <a:latin typeface="Calibri" panose="020F0502020204030204" pitchFamily="34" charset="0"/>
                <a:ea typeface="DengXian" panose="02010600030101010101" pitchFamily="2" charset="-122"/>
                <a:cs typeface="Times New Roman" panose="02020603050405020304" pitchFamily="18" charset="0"/>
              </a:rPr>
              <a:t>npm</a:t>
            </a:r>
            <a:r>
              <a:rPr lang="en-CA" sz="2800" b="1" dirty="0">
                <a:solidFill>
                  <a:schemeClr val="tx1"/>
                </a:solidFill>
                <a:latin typeface="Calibri" panose="020F0502020204030204" pitchFamily="34" charset="0"/>
                <a:ea typeface="DengXian" panose="02010600030101010101" pitchFamily="2" charset="-122"/>
                <a:cs typeface="Times New Roman" panose="02020603050405020304" pitchFamily="18" charset="0"/>
              </a:rPr>
              <a:t> install -g </a:t>
            </a:r>
            <a:r>
              <a:rPr lang="en-CA" sz="2800" b="1" dirty="0" err="1">
                <a:solidFill>
                  <a:schemeClr val="tx1"/>
                </a:solidFill>
                <a:latin typeface="Calibri" panose="020F0502020204030204" pitchFamily="34" charset="0"/>
                <a:ea typeface="DengXian" panose="02010600030101010101" pitchFamily="2" charset="-122"/>
                <a:cs typeface="Times New Roman" panose="02020603050405020304" pitchFamily="18" charset="0"/>
              </a:rPr>
              <a:t>mongosh</a:t>
            </a:r>
            <a:endParaRPr lang="en-CA" sz="2800" b="1" dirty="0">
              <a:solidFill>
                <a:schemeClr val="tx1"/>
              </a:solidFill>
              <a:latin typeface="Calibri" panose="020F0502020204030204" pitchFamily="34" charset="0"/>
              <a:ea typeface="DengXian" panose="02010600030101010101" pitchFamily="2" charset="-122"/>
              <a:cs typeface="Times New Roman" panose="02020603050405020304" pitchFamily="18" charset="0"/>
            </a:endParaRPr>
          </a:p>
          <a:p>
            <a:endParaRPr lang="en-CA" sz="800" dirty="0"/>
          </a:p>
        </p:txBody>
      </p:sp>
    </p:spTree>
    <p:extLst>
      <p:ext uri="{BB962C8B-B14F-4D97-AF65-F5344CB8AC3E}">
        <p14:creationId xmlns:p14="http://schemas.microsoft.com/office/powerpoint/2010/main" val="39845616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47C1F6-8836-6CEC-8E1E-D6641F02D09E}"/>
              </a:ext>
            </a:extLst>
          </p:cNvPr>
          <p:cNvSpPr>
            <a:spLocks noGrp="1"/>
          </p:cNvSpPr>
          <p:nvPr>
            <p:ph type="body" sz="quarter" idx="10"/>
          </p:nvPr>
        </p:nvSpPr>
        <p:spPr/>
        <p:txBody>
          <a:bodyPr/>
          <a:lstStyle/>
          <a:p>
            <a:pPr algn="ctr"/>
            <a:r>
              <a:rPr lang="en-US" dirty="0"/>
              <a:t>Connect to MongoDB from Shell</a:t>
            </a:r>
          </a:p>
        </p:txBody>
      </p:sp>
      <p:pic>
        <p:nvPicPr>
          <p:cNvPr id="7" name="Picture 6">
            <a:extLst>
              <a:ext uri="{FF2B5EF4-FFF2-40B4-BE49-F238E27FC236}">
                <a16:creationId xmlns:a16="http://schemas.microsoft.com/office/drawing/2014/main" id="{E17AA08F-5166-4DC8-E9E9-2A6B5A27E0A8}"/>
              </a:ext>
            </a:extLst>
          </p:cNvPr>
          <p:cNvPicPr>
            <a:picLocks noChangeAspect="1"/>
          </p:cNvPicPr>
          <p:nvPr/>
        </p:nvPicPr>
        <p:blipFill>
          <a:blip r:embed="rId3"/>
          <a:stretch>
            <a:fillRect/>
          </a:stretch>
        </p:blipFill>
        <p:spPr>
          <a:xfrm>
            <a:off x="5678906" y="1172180"/>
            <a:ext cx="5600599" cy="4513640"/>
          </a:xfrm>
          <a:prstGeom prst="rect">
            <a:avLst/>
          </a:prstGeom>
        </p:spPr>
      </p:pic>
      <p:sp>
        <p:nvSpPr>
          <p:cNvPr id="8" name="TextBox 7">
            <a:extLst>
              <a:ext uri="{FF2B5EF4-FFF2-40B4-BE49-F238E27FC236}">
                <a16:creationId xmlns:a16="http://schemas.microsoft.com/office/drawing/2014/main" id="{8BE8F37F-356F-F663-1768-0F6695130BF4}"/>
              </a:ext>
            </a:extLst>
          </p:cNvPr>
          <p:cNvSpPr txBox="1"/>
          <p:nvPr/>
        </p:nvSpPr>
        <p:spPr>
          <a:xfrm>
            <a:off x="473242" y="1459832"/>
            <a:ext cx="4315326" cy="1754326"/>
          </a:xfrm>
          <a:prstGeom prst="rect">
            <a:avLst/>
          </a:prstGeom>
          <a:noFill/>
        </p:spPr>
        <p:txBody>
          <a:bodyPr wrap="square" rtlCol="0">
            <a:spAutoFit/>
          </a:bodyPr>
          <a:lstStyle/>
          <a:p>
            <a:pPr marL="285750" indent="-285750">
              <a:buFont typeface="Arial" panose="020B0604020202020204" pitchFamily="34" charset="0"/>
              <a:buChar char="•"/>
            </a:pPr>
            <a:r>
              <a:rPr lang="en-US" dirty="0"/>
              <a:t>Open command prompt. I assume you have already installed MongoDB shell software</a:t>
            </a:r>
          </a:p>
          <a:p>
            <a:pPr marL="285750" indent="-285750">
              <a:buFont typeface="Arial" panose="020B0604020202020204" pitchFamily="34" charset="0"/>
              <a:buChar char="•"/>
            </a:pPr>
            <a:r>
              <a:rPr lang="en-US" dirty="0"/>
              <a:t>Run the command:</a:t>
            </a:r>
          </a:p>
          <a:p>
            <a:pPr marL="285750" indent="-285750">
              <a:buFont typeface="Arial" panose="020B0604020202020204" pitchFamily="34" charset="0"/>
              <a:buChar char="•"/>
            </a:pPr>
            <a:r>
              <a:rPr lang="en-US" dirty="0" err="1"/>
              <a:t>mongosh</a:t>
            </a:r>
            <a:r>
              <a:rPr lang="en-US" dirty="0"/>
              <a:t> URI(copy paste your URI from MongoDB Compass)</a:t>
            </a:r>
          </a:p>
        </p:txBody>
      </p:sp>
      <p:pic>
        <p:nvPicPr>
          <p:cNvPr id="10" name="Picture 9">
            <a:extLst>
              <a:ext uri="{FF2B5EF4-FFF2-40B4-BE49-F238E27FC236}">
                <a16:creationId xmlns:a16="http://schemas.microsoft.com/office/drawing/2014/main" id="{0F37CDC0-6EBE-D9D2-05F4-F8DC5D7BA34F}"/>
              </a:ext>
            </a:extLst>
          </p:cNvPr>
          <p:cNvPicPr>
            <a:picLocks noChangeAspect="1"/>
          </p:cNvPicPr>
          <p:nvPr/>
        </p:nvPicPr>
        <p:blipFill>
          <a:blip r:embed="rId4"/>
          <a:stretch>
            <a:fillRect/>
          </a:stretch>
        </p:blipFill>
        <p:spPr>
          <a:xfrm>
            <a:off x="525297" y="3489627"/>
            <a:ext cx="11141405" cy="3071126"/>
          </a:xfrm>
          <a:prstGeom prst="rect">
            <a:avLst/>
          </a:prstGeom>
        </p:spPr>
      </p:pic>
    </p:spTree>
    <p:extLst>
      <p:ext uri="{BB962C8B-B14F-4D97-AF65-F5344CB8AC3E}">
        <p14:creationId xmlns:p14="http://schemas.microsoft.com/office/powerpoint/2010/main" val="28932171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507831"/>
          </a:xfrm>
        </p:spPr>
        <p:txBody>
          <a:bodyPr>
            <a:normAutofit lnSpcReduction="10000"/>
          </a:bodyPr>
          <a:lstStyle/>
          <a:p>
            <a:pPr algn="ctr"/>
            <a:r>
              <a:rPr lang="en-US" sz="3300" dirty="0"/>
              <a:t>Create a database and Schema</a:t>
            </a:r>
          </a:p>
        </p:txBody>
      </p:sp>
      <p:sp>
        <p:nvSpPr>
          <p:cNvPr id="4" name="Text Placeholder 3">
            <a:extLst>
              <a:ext uri="{FF2B5EF4-FFF2-40B4-BE49-F238E27FC236}">
                <a16:creationId xmlns:a16="http://schemas.microsoft.com/office/drawing/2014/main" id="{181F5B31-6F6A-6882-D864-E96C4BF7DC87}"/>
              </a:ext>
            </a:extLst>
          </p:cNvPr>
          <p:cNvSpPr>
            <a:spLocks noGrp="1"/>
          </p:cNvSpPr>
          <p:nvPr>
            <p:ph type="body" sz="quarter" idx="12"/>
          </p:nvPr>
        </p:nvSpPr>
        <p:spPr>
          <a:xfrm>
            <a:off x="353218" y="1085850"/>
            <a:ext cx="4443371" cy="5010149"/>
          </a:xfrm>
        </p:spPr>
        <p:txBody>
          <a:bodyPr>
            <a:normAutofit/>
          </a:bodyPr>
          <a:lstStyle/>
          <a:p>
            <a:pPr marL="428625" indent="-428625">
              <a:buFont typeface="Arial" panose="020B0604020202020204" pitchFamily="34" charset="0"/>
              <a:buChar char="•"/>
            </a:pPr>
            <a:r>
              <a:rPr lang="en-US" sz="2700" dirty="0"/>
              <a:t>Run the following commands</a:t>
            </a:r>
          </a:p>
          <a:p>
            <a:pPr marL="428625" indent="-428625">
              <a:buFont typeface="Arial" panose="020B0604020202020204" pitchFamily="34" charset="0"/>
              <a:buChar char="•"/>
            </a:pPr>
            <a:r>
              <a:rPr lang="en-US" sz="2700" dirty="0"/>
              <a:t>use edaw9</a:t>
            </a:r>
          </a:p>
          <a:p>
            <a:pPr marL="1114425" lvl="1" indent="-428625"/>
            <a:r>
              <a:rPr lang="en-US" sz="2400" dirty="0">
                <a:solidFill>
                  <a:schemeClr val="tx1"/>
                </a:solidFill>
              </a:rPr>
              <a:t>This will create a database, but not shown via show </a:t>
            </a:r>
            <a:r>
              <a:rPr lang="en-US" sz="2400" dirty="0" err="1">
                <a:solidFill>
                  <a:schemeClr val="tx1"/>
                </a:solidFill>
              </a:rPr>
              <a:t>dbs</a:t>
            </a:r>
            <a:r>
              <a:rPr lang="en-US" sz="2400" dirty="0">
                <a:solidFill>
                  <a:schemeClr val="tx1"/>
                </a:solidFill>
              </a:rPr>
              <a:t> command </a:t>
            </a:r>
          </a:p>
          <a:p>
            <a:pPr marL="428625" indent="-428625">
              <a:buFont typeface="Arial" panose="020B0604020202020204" pitchFamily="34" charset="0"/>
              <a:buChar char="•"/>
            </a:pPr>
            <a:endParaRPr lang="en-US" sz="2700" dirty="0"/>
          </a:p>
          <a:p>
            <a:pPr marL="428625" indent="-428625">
              <a:buFont typeface="Arial" panose="020B0604020202020204" pitchFamily="34" charset="0"/>
              <a:buChar char="•"/>
            </a:pPr>
            <a:r>
              <a:rPr lang="en-US" sz="2700" dirty="0"/>
              <a:t>Create a collection with the desired schema</a:t>
            </a:r>
          </a:p>
          <a:p>
            <a:pPr marL="428625" indent="-428625">
              <a:buFont typeface="Arial" panose="020B0604020202020204" pitchFamily="34" charset="0"/>
              <a:buChar char="•"/>
            </a:pPr>
            <a:endParaRPr lang="en-US" sz="2700" dirty="0"/>
          </a:p>
          <a:p>
            <a:pPr marL="428625" indent="-428625">
              <a:buFont typeface="Arial" panose="020B0604020202020204" pitchFamily="34" charset="0"/>
              <a:buChar char="•"/>
            </a:pPr>
            <a:endParaRPr lang="en-US" sz="2700" dirty="0"/>
          </a:p>
          <a:p>
            <a:pPr marL="428625" indent="-428625">
              <a:buFont typeface="Arial" panose="020B0604020202020204" pitchFamily="34" charset="0"/>
              <a:buChar char="•"/>
            </a:pPr>
            <a:endParaRPr lang="en-US" sz="2700" dirty="0"/>
          </a:p>
        </p:txBody>
      </p:sp>
      <p:pic>
        <p:nvPicPr>
          <p:cNvPr id="5" name="Picture 4">
            <a:extLst>
              <a:ext uri="{FF2B5EF4-FFF2-40B4-BE49-F238E27FC236}">
                <a16:creationId xmlns:a16="http://schemas.microsoft.com/office/drawing/2014/main" id="{F9A8726B-DC34-0AB9-4BF9-72C04F185189}"/>
              </a:ext>
            </a:extLst>
          </p:cNvPr>
          <p:cNvPicPr>
            <a:picLocks noChangeAspect="1"/>
          </p:cNvPicPr>
          <p:nvPr/>
        </p:nvPicPr>
        <p:blipFill>
          <a:blip r:embed="rId3"/>
          <a:stretch>
            <a:fillRect/>
          </a:stretch>
        </p:blipFill>
        <p:spPr>
          <a:xfrm>
            <a:off x="5662863" y="876844"/>
            <a:ext cx="5777037" cy="5908965"/>
          </a:xfrm>
          <a:prstGeom prst="rect">
            <a:avLst/>
          </a:prstGeom>
        </p:spPr>
      </p:pic>
    </p:spTree>
    <p:extLst>
      <p:ext uri="{BB962C8B-B14F-4D97-AF65-F5344CB8AC3E}">
        <p14:creationId xmlns:p14="http://schemas.microsoft.com/office/powerpoint/2010/main" val="2437867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50E90D-04D9-B2A6-CA97-0B846F58DB8E}"/>
              </a:ext>
            </a:extLst>
          </p:cNvPr>
          <p:cNvSpPr>
            <a:spLocks noGrp="1"/>
          </p:cNvSpPr>
          <p:nvPr>
            <p:ph type="body" sz="quarter" idx="10"/>
          </p:nvPr>
        </p:nvSpPr>
        <p:spPr/>
        <p:txBody>
          <a:bodyPr/>
          <a:lstStyle/>
          <a:p>
            <a:r>
              <a:rPr lang="en-CA" sz="2800" dirty="0">
                <a:latin typeface="+mn-lt"/>
              </a:rPr>
              <a:t>How to Use the </a:t>
            </a:r>
            <a:r>
              <a:rPr lang="en-CA" sz="2800" dirty="0" err="1">
                <a:latin typeface="+mn-lt"/>
              </a:rPr>
              <a:t>mongoimport</a:t>
            </a:r>
            <a:r>
              <a:rPr lang="en-CA" sz="2800" dirty="0">
                <a:latin typeface="+mn-lt"/>
              </a:rPr>
              <a:t> to Import a JSON file into a MongoDB Server</a:t>
            </a:r>
          </a:p>
        </p:txBody>
      </p:sp>
      <p:sp>
        <p:nvSpPr>
          <p:cNvPr id="3" name="Text Placeholder 2">
            <a:extLst>
              <a:ext uri="{FF2B5EF4-FFF2-40B4-BE49-F238E27FC236}">
                <a16:creationId xmlns:a16="http://schemas.microsoft.com/office/drawing/2014/main" id="{E0CFB758-5B0F-4D13-A247-8336A269FD44}"/>
              </a:ext>
            </a:extLst>
          </p:cNvPr>
          <p:cNvSpPr>
            <a:spLocks noGrp="1"/>
          </p:cNvSpPr>
          <p:nvPr>
            <p:ph type="body" sz="quarter" idx="11"/>
          </p:nvPr>
        </p:nvSpPr>
        <p:spPr/>
        <p:txBody>
          <a:bodyPr/>
          <a:lstStyle/>
          <a:p>
            <a:endParaRPr lang="en-CA" dirty="0"/>
          </a:p>
        </p:txBody>
      </p:sp>
      <p:sp>
        <p:nvSpPr>
          <p:cNvPr id="5" name="Picture Placeholder 4">
            <a:extLst>
              <a:ext uri="{FF2B5EF4-FFF2-40B4-BE49-F238E27FC236}">
                <a16:creationId xmlns:a16="http://schemas.microsoft.com/office/drawing/2014/main" id="{DFD0FDBB-2D1D-B68B-BD70-9E76E34CFB20}"/>
              </a:ext>
            </a:extLst>
          </p:cNvPr>
          <p:cNvSpPr>
            <a:spLocks noGrp="1"/>
          </p:cNvSpPr>
          <p:nvPr>
            <p:ph type="pic" sz="quarter" idx="13"/>
          </p:nvPr>
        </p:nvSpPr>
        <p:spPr/>
        <p:txBody>
          <a:bodyPr/>
          <a:lstStyle/>
          <a:p>
            <a:endParaRPr lang="en-CA"/>
          </a:p>
        </p:txBody>
      </p:sp>
      <p:sp>
        <p:nvSpPr>
          <p:cNvPr id="6" name="Rectangle 1">
            <a:extLst>
              <a:ext uri="{FF2B5EF4-FFF2-40B4-BE49-F238E27FC236}">
                <a16:creationId xmlns:a16="http://schemas.microsoft.com/office/drawing/2014/main" id="{FF0D2E89-C9A3-70F6-50C3-ED3E6DAA30EE}"/>
              </a:ext>
            </a:extLst>
          </p:cNvPr>
          <p:cNvSpPr>
            <a:spLocks noGrp="1" noChangeArrowheads="1"/>
          </p:cNvSpPr>
          <p:nvPr>
            <p:ph type="body" sz="quarter" idx="12"/>
          </p:nvPr>
        </p:nvSpPr>
        <p:spPr bwMode="auto">
          <a:xfrm>
            <a:off x="581892" y="1261744"/>
            <a:ext cx="10652165" cy="433451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5392"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CA" altLang="en-US" sz="3200" i="0" u="none" strike="noStrike" cap="none" normalizeH="0" baseline="0" dirty="0">
                <a:ln>
                  <a:noFill/>
                </a:ln>
                <a:solidFill>
                  <a:srgbClr val="2F5496"/>
                </a:solidFill>
                <a:effectLst/>
                <a:latin typeface="Segoe UI" panose="020B0502040204020203" pitchFamily="34" charset="0"/>
                <a:ea typeface="DengXian Light" panose="02010600030101010101" pitchFamily="2" charset="-122"/>
                <a:cs typeface="Segoe UI" panose="020B0502040204020203" pitchFamily="34" charset="0"/>
              </a:rPr>
              <a:t>Download &amp; install the </a:t>
            </a:r>
            <a:r>
              <a:rPr kumimoji="0" lang="en-CA" altLang="en-US" sz="3200" i="0" u="none" strike="noStrike" cap="none" normalizeH="0" baseline="0" dirty="0" err="1">
                <a:ln>
                  <a:noFill/>
                </a:ln>
                <a:solidFill>
                  <a:srgbClr val="2F5496"/>
                </a:solidFill>
                <a:effectLst/>
                <a:latin typeface="Segoe UI" panose="020B0502040204020203" pitchFamily="34" charset="0"/>
                <a:ea typeface="DengXian Light" panose="02010600030101010101" pitchFamily="2" charset="-122"/>
                <a:cs typeface="Segoe UI" panose="020B0502040204020203" pitchFamily="34" charset="0"/>
              </a:rPr>
              <a:t>mongoimport</a:t>
            </a:r>
            <a:r>
              <a:rPr kumimoji="0" lang="en-CA" altLang="en-US" sz="3200" i="0" u="none" strike="noStrike" cap="none" normalizeH="0" baseline="0" dirty="0">
                <a:ln>
                  <a:noFill/>
                </a:ln>
                <a:solidFill>
                  <a:srgbClr val="2F5496"/>
                </a:solidFill>
                <a:effectLst/>
                <a:latin typeface="Segoe UI" panose="020B0502040204020203" pitchFamily="34" charset="0"/>
                <a:ea typeface="DengXian Light" panose="02010600030101010101" pitchFamily="2" charset="-122"/>
                <a:cs typeface="Segoe UI" panose="020B0502040204020203" pitchFamily="34" charset="0"/>
              </a:rPr>
              <a:t> tool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3200" i="0" u="none" strike="noStrike" cap="none" normalizeH="0" baseline="0" dirty="0">
              <a:ln>
                <a:noFill/>
              </a:ln>
              <a:solidFill>
                <a:srgbClr val="2F5496"/>
              </a:solidFill>
              <a:effectLst/>
              <a:latin typeface="Calibri Light" panose="020F0302020204030204" pitchFamily="34" charset="0"/>
              <a:ea typeface="DengXian Light" panose="02010600030101010101" pitchFamily="2" charset="-122"/>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CA"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To import JSON files into the MongoDB server, you use the </a:t>
            </a:r>
            <a:r>
              <a:rPr kumimoji="0" lang="en-CA" altLang="en-US" sz="1600" b="0" i="0" u="none" strike="noStrike" cap="none" normalizeH="0" baseline="0" dirty="0" err="1">
                <a:ln>
                  <a:noFill/>
                </a:ln>
                <a:solidFill>
                  <a:srgbClr val="212529"/>
                </a:solidFill>
                <a:effectLst/>
                <a:latin typeface="Arial Unicode MS"/>
                <a:ea typeface="var(--font-family-code)"/>
                <a:cs typeface="Courier New" panose="02070309020205020404" pitchFamily="49" charset="0"/>
              </a:rPr>
              <a:t>mongoimport</a:t>
            </a:r>
            <a:r>
              <a:rPr kumimoji="0" lang="en-CA"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tool. Starting from MongoDB 4.4, the </a:t>
            </a:r>
            <a:r>
              <a:rPr kumimoji="0" lang="en-CA" altLang="en-US" sz="1600" b="0" i="0" u="none" strike="noStrike" cap="none" normalizeH="0" baseline="0" dirty="0" err="1">
                <a:ln>
                  <a:noFill/>
                </a:ln>
                <a:solidFill>
                  <a:srgbClr val="212529"/>
                </a:solidFill>
                <a:effectLst/>
                <a:latin typeface="Arial Unicode MS"/>
                <a:ea typeface="var(--font-family-code)"/>
                <a:cs typeface="Courier New" panose="02070309020205020404" pitchFamily="49" charset="0"/>
              </a:rPr>
              <a:t>mongoimport</a:t>
            </a:r>
            <a:r>
              <a:rPr kumimoji="0" lang="en-CA"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 tool is released separately from the MongoDB server. </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endParaRPr lang="en-CA" altLang="en-US" sz="2400" dirty="0">
              <a:solidFill>
                <a:srgbClr val="212529"/>
              </a:solidFill>
              <a:latin typeface="Segoe UI" panose="020B0502040204020203" pitchFamily="34" charset="0"/>
              <a:ea typeface="Times New Roman" panose="02020603050405020304" pitchFamily="18" charset="0"/>
              <a:cs typeface="Segoe UI" panose="020B0502040204020203"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CA" altLang="en-US" sz="2400" b="0" i="0" u="none" strike="noStrike" cap="none" normalizeH="0" baseline="0" dirty="0">
                <a:ln>
                  <a:noFill/>
                </a:ln>
                <a:solidFill>
                  <a:srgbClr val="212529"/>
                </a:solidFill>
                <a:effectLst/>
                <a:latin typeface="Segoe UI" panose="020B0502040204020203" pitchFamily="34" charset="0"/>
                <a:ea typeface="Times New Roman" panose="02020603050405020304" pitchFamily="18" charset="0"/>
                <a:cs typeface="Segoe UI" panose="020B0502040204020203" pitchFamily="34" charset="0"/>
              </a:rPr>
              <a:t>Therefore, you need to download and install it:</a:t>
            </a:r>
            <a:endParaRPr kumimoji="0" lang="en-CA" altLang="en-US" sz="1200" b="0" i="0" u="none" strike="noStrike" cap="none" normalizeH="0" baseline="0" dirty="0">
              <a:ln>
                <a:noFill/>
              </a:ln>
              <a:solidFill>
                <a:schemeClr val="tx1"/>
              </a:solidFill>
              <a:effectLst/>
            </a:endParaRPr>
          </a:p>
          <a:p>
            <a:pPr marL="1143000" lvl="1" indent="-457200" eaLnBrk="0" fontAlgn="base" hangingPunct="0">
              <a:lnSpc>
                <a:spcPct val="100000"/>
              </a:lnSpc>
              <a:spcBef>
                <a:spcPct val="0"/>
              </a:spcBef>
              <a:spcAft>
                <a:spcPct val="0"/>
              </a:spcAft>
              <a:buFont typeface="+mj-lt"/>
              <a:buAutoNum type="arabicPeriod"/>
            </a:pPr>
            <a:r>
              <a:rPr kumimoji="0" lang="en-CA" altLang="en-US" sz="2400" b="0" i="0" u="none" strike="noStrike" cap="none" normalizeH="0" baseline="0" dirty="0">
                <a:ln>
                  <a:noFill/>
                </a:ln>
                <a:solidFill>
                  <a:srgbClr val="212529"/>
                </a:solidFill>
                <a:effectLst/>
                <a:latin typeface="Segoe UI" panose="020B0502040204020203" pitchFamily="34" charset="0"/>
                <a:ea typeface="DengXian" panose="02010600030101010101" pitchFamily="2" charset="-122"/>
                <a:cs typeface="Segoe UI" panose="020B0502040204020203" pitchFamily="34" charset="0"/>
              </a:rPr>
              <a:t>First, download the </a:t>
            </a:r>
            <a:r>
              <a:rPr kumimoji="0" lang="en-CA" altLang="en-US" sz="2400" b="0" i="0" u="none" strike="noStrike" cap="none" normalizeH="0" baseline="0" dirty="0" err="1">
                <a:ln>
                  <a:noFill/>
                </a:ln>
                <a:solidFill>
                  <a:srgbClr val="212529"/>
                </a:solidFill>
                <a:effectLst/>
                <a:latin typeface="Segoe UI" panose="020B0502040204020203" pitchFamily="34" charset="0"/>
                <a:ea typeface="DengXian" panose="02010600030101010101" pitchFamily="2" charset="-122"/>
                <a:cs typeface="Segoe UI" panose="020B0502040204020203" pitchFamily="34" charset="0"/>
              </a:rPr>
              <a:t>mongoimport</a:t>
            </a:r>
            <a:r>
              <a:rPr kumimoji="0" lang="en-CA" altLang="en-US" sz="2400" b="0" i="0" u="none" strike="noStrike" cap="none" normalizeH="0" baseline="0" dirty="0">
                <a:ln>
                  <a:noFill/>
                </a:ln>
                <a:solidFill>
                  <a:srgbClr val="212529"/>
                </a:solidFill>
                <a:effectLst/>
                <a:latin typeface="Segoe UI" panose="020B0502040204020203" pitchFamily="34" charset="0"/>
                <a:ea typeface="DengXian" panose="02010600030101010101" pitchFamily="2" charset="-122"/>
                <a:cs typeface="Segoe UI" panose="020B0502040204020203" pitchFamily="34" charset="0"/>
              </a:rPr>
              <a:t> tool</a:t>
            </a:r>
            <a:r>
              <a:rPr kumimoji="0" lang="en-CA" altLang="en-US" sz="2400" b="0" i="0" u="none" strike="noStrike" cap="none" normalizeH="0" baseline="0" dirty="0">
                <a:ln>
                  <a:noFill/>
                </a:ln>
                <a:solidFill>
                  <a:srgbClr val="212529"/>
                </a:solidFill>
                <a:effectLst/>
                <a:latin typeface="Calibri" panose="020F0502020204030204" pitchFamily="34" charset="0"/>
                <a:ea typeface="DengXian" panose="02010600030101010101" pitchFamily="2" charset="-122"/>
                <a:cs typeface="Segoe UI" panose="020B0502040204020203" pitchFamily="34" charset="0"/>
              </a:rPr>
              <a:t> </a:t>
            </a:r>
            <a:r>
              <a:rPr kumimoji="0" lang="en-CA" altLang="en-US" sz="2400" b="0" i="0" u="none" strike="noStrike" cap="none" normalizeH="0" baseline="0" dirty="0">
                <a:ln>
                  <a:noFill/>
                </a:ln>
                <a:solidFill>
                  <a:srgbClr val="212529"/>
                </a:solidFill>
                <a:effectLst/>
                <a:latin typeface="Segoe UI" panose="020B0502040204020203" pitchFamily="34" charset="0"/>
                <a:ea typeface="DengXian" panose="02010600030101010101" pitchFamily="2" charset="-122"/>
                <a:cs typeface="Segoe UI" panose="020B0502040204020203" pitchFamily="34" charset="0"/>
                <a:hlinkClick r:id="rId2"/>
              </a:rPr>
              <a:t>on this page</a:t>
            </a:r>
            <a:r>
              <a:rPr kumimoji="0" lang="en-CA" altLang="en-US" sz="2400" b="0" i="0" u="none" strike="noStrike" cap="none" normalizeH="0" baseline="0" dirty="0">
                <a:ln>
                  <a:noFill/>
                </a:ln>
                <a:solidFill>
                  <a:srgbClr val="212529"/>
                </a:solidFill>
                <a:effectLst/>
                <a:latin typeface="Segoe UI" panose="020B0502040204020203" pitchFamily="34" charset="0"/>
                <a:ea typeface="DengXian" panose="02010600030101010101" pitchFamily="2" charset="-122"/>
                <a:cs typeface="Segoe UI" panose="020B0502040204020203" pitchFamily="34" charset="0"/>
              </a:rPr>
              <a:t>.</a:t>
            </a:r>
            <a:endParaRPr kumimoji="0" lang="en-CA" altLang="en-US" sz="2400" b="0" i="0" u="none" strike="noStrike" cap="none" normalizeH="0" baseline="0" dirty="0">
              <a:ln>
                <a:noFill/>
              </a:ln>
              <a:solidFill>
                <a:srgbClr val="212529"/>
              </a:solidFill>
              <a:effectLst/>
              <a:latin typeface="Calibri" panose="020F0502020204030204" pitchFamily="34" charset="0"/>
              <a:ea typeface="DengXian" panose="02010600030101010101" pitchFamily="2" charset="-122"/>
              <a:cs typeface="Times New Roman" panose="02020603050405020304" pitchFamily="18" charset="0"/>
            </a:endParaRPr>
          </a:p>
          <a:p>
            <a:pPr marL="1143000" lvl="1" indent="-457200" eaLnBrk="0" fontAlgn="base" hangingPunct="0">
              <a:lnSpc>
                <a:spcPct val="100000"/>
              </a:lnSpc>
              <a:spcBef>
                <a:spcPct val="0"/>
              </a:spcBef>
              <a:spcAft>
                <a:spcPct val="0"/>
              </a:spcAft>
              <a:buFont typeface="+mj-lt"/>
              <a:buAutoNum type="arabicPeriod"/>
            </a:pPr>
            <a:r>
              <a:rPr kumimoji="0" lang="en-CA" altLang="en-US" sz="2400" b="0" i="0" u="none" strike="noStrike" cap="none" normalizeH="0" baseline="0" dirty="0">
                <a:ln>
                  <a:noFill/>
                </a:ln>
                <a:solidFill>
                  <a:srgbClr val="212529"/>
                </a:solidFill>
                <a:effectLst/>
                <a:latin typeface="Segoe UI" panose="020B0502040204020203" pitchFamily="34" charset="0"/>
                <a:ea typeface="DengXian" panose="02010600030101010101" pitchFamily="2" charset="-122"/>
                <a:cs typeface="Segoe UI" panose="020B0502040204020203" pitchFamily="34" charset="0"/>
              </a:rPr>
              <a:t>Second,</a:t>
            </a:r>
            <a:r>
              <a:rPr kumimoji="0" lang="en-CA" altLang="en-US" sz="2400" b="0" i="0" u="none" strike="noStrike" cap="none" normalizeH="0" baseline="0" dirty="0">
                <a:ln>
                  <a:noFill/>
                </a:ln>
                <a:solidFill>
                  <a:srgbClr val="212529"/>
                </a:solidFill>
                <a:effectLst/>
                <a:latin typeface="Calibri" panose="020F0502020204030204" pitchFamily="34" charset="0"/>
                <a:ea typeface="DengXian" panose="02010600030101010101" pitchFamily="2" charset="-122"/>
                <a:cs typeface="Segoe UI" panose="020B0502040204020203" pitchFamily="34" charset="0"/>
              </a:rPr>
              <a:t> </a:t>
            </a:r>
            <a:r>
              <a:rPr kumimoji="0" lang="en-CA" altLang="en-US" sz="2400" b="0" i="0" u="none" strike="noStrike" cap="none" normalizeH="0" baseline="0" dirty="0">
                <a:ln>
                  <a:noFill/>
                </a:ln>
                <a:solidFill>
                  <a:srgbClr val="212529"/>
                </a:solidFill>
                <a:effectLst/>
                <a:latin typeface="Segoe UI" panose="020B0502040204020203" pitchFamily="34" charset="0"/>
                <a:ea typeface="DengXian" panose="02010600030101010101" pitchFamily="2" charset="-122"/>
                <a:cs typeface="Segoe UI" panose="020B0502040204020203" pitchFamily="34" charset="0"/>
                <a:hlinkClick r:id="rId3"/>
              </a:rPr>
              <a:t>follow this instruction</a:t>
            </a:r>
            <a:r>
              <a:rPr kumimoji="0" lang="en-CA" altLang="en-US" sz="2400" b="0" i="0" u="none" strike="noStrike" cap="none" normalizeH="0" baseline="0" dirty="0">
                <a:ln>
                  <a:noFill/>
                </a:ln>
                <a:solidFill>
                  <a:srgbClr val="212529"/>
                </a:solidFill>
                <a:effectLst/>
                <a:latin typeface="Calibri" panose="020F0502020204030204" pitchFamily="34" charset="0"/>
                <a:ea typeface="DengXian" panose="02010600030101010101" pitchFamily="2" charset="-122"/>
                <a:cs typeface="Segoe UI" panose="020B0502040204020203" pitchFamily="34" charset="0"/>
              </a:rPr>
              <a:t> </a:t>
            </a:r>
            <a:r>
              <a:rPr kumimoji="0" lang="en-CA" altLang="en-US" sz="2400" b="0" i="0" u="none" strike="noStrike" cap="none" normalizeH="0" baseline="0" dirty="0">
                <a:ln>
                  <a:noFill/>
                </a:ln>
                <a:solidFill>
                  <a:srgbClr val="212529"/>
                </a:solidFill>
                <a:effectLst/>
                <a:latin typeface="Segoe UI" panose="020B0502040204020203" pitchFamily="34" charset="0"/>
                <a:ea typeface="DengXian" panose="02010600030101010101" pitchFamily="2" charset="-122"/>
                <a:cs typeface="Segoe UI" panose="020B0502040204020203" pitchFamily="34" charset="0"/>
              </a:rPr>
              <a:t>to install the </a:t>
            </a:r>
            <a:r>
              <a:rPr kumimoji="0" lang="en-CA" altLang="en-US" sz="2400" b="0" i="0" u="none" strike="noStrike" cap="none" normalizeH="0" baseline="0" dirty="0" err="1">
                <a:ln>
                  <a:noFill/>
                </a:ln>
                <a:solidFill>
                  <a:srgbClr val="212529"/>
                </a:solidFill>
                <a:effectLst/>
                <a:latin typeface="Segoe UI" panose="020B0502040204020203" pitchFamily="34" charset="0"/>
                <a:ea typeface="DengXian" panose="02010600030101010101" pitchFamily="2" charset="-122"/>
                <a:cs typeface="Segoe UI" panose="020B0502040204020203" pitchFamily="34" charset="0"/>
              </a:rPr>
              <a:t>mongoimport</a:t>
            </a:r>
            <a:r>
              <a:rPr kumimoji="0" lang="en-CA" altLang="en-US" sz="2400" b="0" i="0" u="none" strike="noStrike" cap="none" normalizeH="0" baseline="0" dirty="0">
                <a:ln>
                  <a:noFill/>
                </a:ln>
                <a:solidFill>
                  <a:srgbClr val="212529"/>
                </a:solidFill>
                <a:effectLst/>
                <a:latin typeface="Segoe UI" panose="020B0502040204020203" pitchFamily="34" charset="0"/>
                <a:ea typeface="DengXian" panose="02010600030101010101" pitchFamily="2" charset="-122"/>
                <a:cs typeface="Segoe UI" panose="020B0502040204020203" pitchFamily="34" charset="0"/>
              </a:rPr>
              <a:t> tool.</a:t>
            </a:r>
            <a:endParaRPr kumimoji="0" lang="en-CA"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4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421690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507831"/>
          </a:xfrm>
        </p:spPr>
        <p:txBody>
          <a:bodyPr>
            <a:normAutofit lnSpcReduction="10000"/>
          </a:bodyPr>
          <a:lstStyle/>
          <a:p>
            <a:pPr algn="ctr"/>
            <a:r>
              <a:rPr lang="en-US" sz="3300" dirty="0"/>
              <a:t>Import the Employee_Data.CSV file in MongoDB</a:t>
            </a:r>
          </a:p>
        </p:txBody>
      </p:sp>
      <p:sp>
        <p:nvSpPr>
          <p:cNvPr id="4" name="Text Placeholder 3">
            <a:extLst>
              <a:ext uri="{FF2B5EF4-FFF2-40B4-BE49-F238E27FC236}">
                <a16:creationId xmlns:a16="http://schemas.microsoft.com/office/drawing/2014/main" id="{181F5B31-6F6A-6882-D864-E96C4BF7DC87}"/>
              </a:ext>
            </a:extLst>
          </p:cNvPr>
          <p:cNvSpPr>
            <a:spLocks noGrp="1"/>
          </p:cNvSpPr>
          <p:nvPr>
            <p:ph type="body" sz="quarter" idx="12"/>
          </p:nvPr>
        </p:nvSpPr>
        <p:spPr>
          <a:xfrm>
            <a:off x="216859" y="1077830"/>
            <a:ext cx="11862845" cy="1200149"/>
          </a:xfrm>
        </p:spPr>
        <p:txBody>
          <a:bodyPr>
            <a:normAutofit fontScale="92500"/>
          </a:bodyPr>
          <a:lstStyle/>
          <a:p>
            <a:r>
              <a:rPr lang="en-US" sz="2700" dirty="0" err="1">
                <a:solidFill>
                  <a:schemeClr val="accent2"/>
                </a:solidFill>
              </a:rPr>
              <a:t>mongoimport</a:t>
            </a:r>
            <a:r>
              <a:rPr lang="en-US" sz="2700" dirty="0"/>
              <a:t> </a:t>
            </a:r>
            <a:r>
              <a:rPr lang="en-US" sz="2700" dirty="0">
                <a:solidFill>
                  <a:schemeClr val="accent6">
                    <a:lumMod val="75000"/>
                  </a:schemeClr>
                </a:solidFill>
              </a:rPr>
              <a:t>--</a:t>
            </a:r>
            <a:r>
              <a:rPr lang="en-US" sz="2700" dirty="0" err="1">
                <a:solidFill>
                  <a:schemeClr val="accent6">
                    <a:lumMod val="75000"/>
                  </a:schemeClr>
                </a:solidFill>
              </a:rPr>
              <a:t>uri</a:t>
            </a:r>
            <a:r>
              <a:rPr lang="en-US" sz="2700" dirty="0">
                <a:solidFill>
                  <a:schemeClr val="accent6">
                    <a:lumMod val="75000"/>
                  </a:schemeClr>
                </a:solidFill>
              </a:rPr>
              <a:t> "</a:t>
            </a:r>
            <a:r>
              <a:rPr lang="en-US" sz="2700" dirty="0" err="1">
                <a:solidFill>
                  <a:schemeClr val="accent6">
                    <a:lumMod val="75000"/>
                  </a:schemeClr>
                </a:solidFill>
              </a:rPr>
              <a:t>mongodb</a:t>
            </a:r>
            <a:r>
              <a:rPr lang="en-US" sz="2700" dirty="0">
                <a:solidFill>
                  <a:schemeClr val="accent6">
                    <a:lumMod val="75000"/>
                  </a:schemeClr>
                </a:solidFill>
              </a:rPr>
              <a:t>://abu:pass123@localhost:27017/?</a:t>
            </a:r>
            <a:r>
              <a:rPr lang="en-US" sz="2700" dirty="0" err="1">
                <a:solidFill>
                  <a:schemeClr val="accent6">
                    <a:lumMod val="75000"/>
                  </a:schemeClr>
                </a:solidFill>
              </a:rPr>
              <a:t>authMechanism</a:t>
            </a:r>
            <a:r>
              <a:rPr lang="en-US" sz="2700" dirty="0">
                <a:solidFill>
                  <a:schemeClr val="accent6">
                    <a:lumMod val="75000"/>
                  </a:schemeClr>
                </a:solidFill>
              </a:rPr>
              <a:t>=SCRAM-SHA-256&amp;authSource=admin"</a:t>
            </a:r>
            <a:r>
              <a:rPr lang="en-US" sz="2700" dirty="0"/>
              <a:t> </a:t>
            </a:r>
            <a:r>
              <a:rPr lang="en-US" sz="2700" dirty="0">
                <a:solidFill>
                  <a:srgbClr val="FF0000"/>
                </a:solidFill>
              </a:rPr>
              <a:t>--</a:t>
            </a:r>
            <a:r>
              <a:rPr lang="en-US" sz="2700" dirty="0" err="1">
                <a:solidFill>
                  <a:srgbClr val="FF0000"/>
                </a:solidFill>
              </a:rPr>
              <a:t>db</a:t>
            </a:r>
            <a:r>
              <a:rPr lang="en-US" sz="2700" dirty="0">
                <a:solidFill>
                  <a:srgbClr val="FF0000"/>
                </a:solidFill>
              </a:rPr>
              <a:t>=</a:t>
            </a:r>
            <a:r>
              <a:rPr lang="en-US" sz="2700" dirty="0" err="1">
                <a:solidFill>
                  <a:srgbClr val="FF0000"/>
                </a:solidFill>
              </a:rPr>
              <a:t>mydatabase</a:t>
            </a:r>
            <a:r>
              <a:rPr lang="en-US" sz="2700" dirty="0">
                <a:solidFill>
                  <a:srgbClr val="FF0000"/>
                </a:solidFill>
              </a:rPr>
              <a:t> --collection=employees</a:t>
            </a:r>
            <a:r>
              <a:rPr lang="en-US" sz="2700" dirty="0"/>
              <a:t> --</a:t>
            </a:r>
            <a:r>
              <a:rPr lang="en-US" sz="2700" dirty="0">
                <a:solidFill>
                  <a:srgbClr val="002060"/>
                </a:solidFill>
              </a:rPr>
              <a:t>file=Employee_DATA.csv --type=csv</a:t>
            </a:r>
            <a:r>
              <a:rPr lang="en-US" sz="2700" dirty="0"/>
              <a:t> </a:t>
            </a:r>
            <a:r>
              <a:rPr lang="en-US" sz="2700" dirty="0">
                <a:solidFill>
                  <a:srgbClr val="00B0F0"/>
                </a:solidFill>
              </a:rPr>
              <a:t>--</a:t>
            </a:r>
            <a:r>
              <a:rPr lang="en-US" sz="2700" dirty="0" err="1">
                <a:solidFill>
                  <a:srgbClr val="00B0F0"/>
                </a:solidFill>
              </a:rPr>
              <a:t>headerline</a:t>
            </a:r>
            <a:endParaRPr lang="en-US" sz="2700" dirty="0">
              <a:solidFill>
                <a:srgbClr val="00B0F0"/>
              </a:solidFill>
            </a:endParaRPr>
          </a:p>
        </p:txBody>
      </p:sp>
      <p:pic>
        <p:nvPicPr>
          <p:cNvPr id="5" name="Picture 4">
            <a:extLst>
              <a:ext uri="{FF2B5EF4-FFF2-40B4-BE49-F238E27FC236}">
                <a16:creationId xmlns:a16="http://schemas.microsoft.com/office/drawing/2014/main" id="{507409F5-0434-351B-C8CC-7AAF4FD58A45}"/>
              </a:ext>
            </a:extLst>
          </p:cNvPr>
          <p:cNvPicPr>
            <a:picLocks noChangeAspect="1"/>
          </p:cNvPicPr>
          <p:nvPr/>
        </p:nvPicPr>
        <p:blipFill>
          <a:blip r:embed="rId3"/>
          <a:stretch>
            <a:fillRect/>
          </a:stretch>
        </p:blipFill>
        <p:spPr>
          <a:xfrm>
            <a:off x="442163" y="2277979"/>
            <a:ext cx="8100259" cy="4325593"/>
          </a:xfrm>
          <a:prstGeom prst="rect">
            <a:avLst/>
          </a:prstGeom>
        </p:spPr>
      </p:pic>
      <p:sp>
        <p:nvSpPr>
          <p:cNvPr id="6" name="TextBox 5">
            <a:extLst>
              <a:ext uri="{FF2B5EF4-FFF2-40B4-BE49-F238E27FC236}">
                <a16:creationId xmlns:a16="http://schemas.microsoft.com/office/drawing/2014/main" id="{9D92E09B-E198-1627-699A-35B7E63FE66F}"/>
              </a:ext>
            </a:extLst>
          </p:cNvPr>
          <p:cNvSpPr txBox="1"/>
          <p:nvPr/>
        </p:nvSpPr>
        <p:spPr>
          <a:xfrm>
            <a:off x="8696827" y="2366210"/>
            <a:ext cx="3152273" cy="3170099"/>
          </a:xfrm>
          <a:prstGeom prst="rect">
            <a:avLst/>
          </a:prstGeom>
          <a:noFill/>
        </p:spPr>
        <p:txBody>
          <a:bodyPr wrap="square" rtlCol="0">
            <a:spAutoFit/>
          </a:bodyPr>
          <a:lstStyle/>
          <a:p>
            <a:r>
              <a:rPr lang="en-US" sz="4000" b="1" dirty="0">
                <a:solidFill>
                  <a:srgbClr val="FF0000"/>
                </a:solidFill>
              </a:rPr>
              <a:t>Open a different CMD prompt and Run this command</a:t>
            </a:r>
          </a:p>
        </p:txBody>
      </p:sp>
    </p:spTree>
    <p:extLst>
      <p:ext uri="{BB962C8B-B14F-4D97-AF65-F5344CB8AC3E}">
        <p14:creationId xmlns:p14="http://schemas.microsoft.com/office/powerpoint/2010/main" val="35063645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507831"/>
          </a:xfrm>
        </p:spPr>
        <p:txBody>
          <a:bodyPr>
            <a:normAutofit lnSpcReduction="10000"/>
          </a:bodyPr>
          <a:lstStyle/>
          <a:p>
            <a:pPr algn="ctr"/>
            <a:r>
              <a:rPr lang="en-US" sz="3300" dirty="0"/>
              <a:t>Insert a valid and invalid document</a:t>
            </a:r>
          </a:p>
        </p:txBody>
      </p:sp>
      <p:pic>
        <p:nvPicPr>
          <p:cNvPr id="7" name="Picture 6">
            <a:extLst>
              <a:ext uri="{FF2B5EF4-FFF2-40B4-BE49-F238E27FC236}">
                <a16:creationId xmlns:a16="http://schemas.microsoft.com/office/drawing/2014/main" id="{8FD83FFB-BFDD-35B9-4570-4FF51282CEE7}"/>
              </a:ext>
            </a:extLst>
          </p:cNvPr>
          <p:cNvPicPr>
            <a:picLocks noChangeAspect="1"/>
          </p:cNvPicPr>
          <p:nvPr/>
        </p:nvPicPr>
        <p:blipFill>
          <a:blip r:embed="rId3"/>
          <a:stretch>
            <a:fillRect/>
          </a:stretch>
        </p:blipFill>
        <p:spPr>
          <a:xfrm>
            <a:off x="1416307" y="1641673"/>
            <a:ext cx="9487722" cy="5044877"/>
          </a:xfrm>
          <a:prstGeom prst="rect">
            <a:avLst/>
          </a:prstGeom>
        </p:spPr>
      </p:pic>
      <p:sp>
        <p:nvSpPr>
          <p:cNvPr id="8" name="TextBox 7">
            <a:extLst>
              <a:ext uri="{FF2B5EF4-FFF2-40B4-BE49-F238E27FC236}">
                <a16:creationId xmlns:a16="http://schemas.microsoft.com/office/drawing/2014/main" id="{7F24250E-A47D-D088-CD90-F7AEFAB9C589}"/>
              </a:ext>
            </a:extLst>
          </p:cNvPr>
          <p:cNvSpPr txBox="1"/>
          <p:nvPr/>
        </p:nvSpPr>
        <p:spPr>
          <a:xfrm>
            <a:off x="553453" y="922421"/>
            <a:ext cx="10780294" cy="646331"/>
          </a:xfrm>
          <a:prstGeom prst="rect">
            <a:avLst/>
          </a:prstGeom>
          <a:noFill/>
        </p:spPr>
        <p:txBody>
          <a:bodyPr wrap="square" rtlCol="0">
            <a:spAutoFit/>
          </a:bodyPr>
          <a:lstStyle/>
          <a:p>
            <a:r>
              <a:rPr lang="en-US" dirty="0" err="1"/>
              <a:t>db.employees.insertOne</a:t>
            </a:r>
            <a:r>
              <a:rPr lang="en-US" dirty="0"/>
              <a:t>({first_name:'Abu',last_name:'Muktadir',email:'abu@sask.ca',gender:'Male',salary:500000,age:50,position:'Instructor'})</a:t>
            </a:r>
          </a:p>
        </p:txBody>
      </p:sp>
    </p:spTree>
    <p:extLst>
      <p:ext uri="{BB962C8B-B14F-4D97-AF65-F5344CB8AC3E}">
        <p14:creationId xmlns:p14="http://schemas.microsoft.com/office/powerpoint/2010/main" val="15345545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A40C07-EEB4-B605-81EC-6120ACC85387}"/>
              </a:ext>
            </a:extLst>
          </p:cNvPr>
          <p:cNvSpPr>
            <a:spLocks noGrp="1"/>
          </p:cNvSpPr>
          <p:nvPr>
            <p:ph type="body" sz="quarter" idx="10"/>
          </p:nvPr>
        </p:nvSpPr>
        <p:spPr>
          <a:xfrm>
            <a:off x="353218" y="171450"/>
            <a:ext cx="11495882" cy="507831"/>
          </a:xfrm>
        </p:spPr>
        <p:txBody>
          <a:bodyPr>
            <a:normAutofit lnSpcReduction="10000"/>
          </a:bodyPr>
          <a:lstStyle/>
          <a:p>
            <a:pPr algn="ctr"/>
            <a:r>
              <a:rPr lang="en-US" sz="3300" dirty="0"/>
              <a:t>Which is faster: shell or GUI import</a:t>
            </a:r>
          </a:p>
        </p:txBody>
      </p:sp>
      <p:sp>
        <p:nvSpPr>
          <p:cNvPr id="4" name="Text Placeholder 3">
            <a:extLst>
              <a:ext uri="{FF2B5EF4-FFF2-40B4-BE49-F238E27FC236}">
                <a16:creationId xmlns:a16="http://schemas.microsoft.com/office/drawing/2014/main" id="{181F5B31-6F6A-6882-D864-E96C4BF7DC87}"/>
              </a:ext>
            </a:extLst>
          </p:cNvPr>
          <p:cNvSpPr>
            <a:spLocks noGrp="1"/>
          </p:cNvSpPr>
          <p:nvPr>
            <p:ph type="body" sz="quarter" idx="12"/>
          </p:nvPr>
        </p:nvSpPr>
        <p:spPr>
          <a:xfrm>
            <a:off x="353218" y="1085851"/>
            <a:ext cx="11501486" cy="3323987"/>
          </a:xfrm>
        </p:spPr>
        <p:txBody>
          <a:bodyPr>
            <a:normAutofit/>
          </a:bodyPr>
          <a:lstStyle/>
          <a:p>
            <a:pPr marL="428625" indent="-428625">
              <a:buFont typeface="Arial" panose="020B0604020202020204" pitchFamily="34" charset="0"/>
              <a:buChar char="•"/>
            </a:pPr>
            <a:r>
              <a:rPr lang="en-US" sz="2700" dirty="0"/>
              <a:t>Import the CA_DRU_proj_2010-2060.csv file using MongoDB shell and also using the GUI.</a:t>
            </a:r>
          </a:p>
          <a:p>
            <a:pPr marL="428625" indent="-428625">
              <a:buFont typeface="Arial" panose="020B0604020202020204" pitchFamily="34" charset="0"/>
              <a:buChar char="•"/>
            </a:pPr>
            <a:endParaRPr lang="en-US" sz="2700" dirty="0"/>
          </a:p>
          <a:p>
            <a:pPr marL="428625" indent="-428625">
              <a:buFont typeface="Arial" panose="020B0604020202020204" pitchFamily="34" charset="0"/>
              <a:buChar char="•"/>
            </a:pPr>
            <a:r>
              <a:rPr lang="en-US" sz="2700" dirty="0"/>
              <a:t>Find out which one is faster.</a:t>
            </a:r>
          </a:p>
        </p:txBody>
      </p:sp>
    </p:spTree>
    <p:extLst>
      <p:ext uri="{BB962C8B-B14F-4D97-AF65-F5344CB8AC3E}">
        <p14:creationId xmlns:p14="http://schemas.microsoft.com/office/powerpoint/2010/main" val="42557323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E13DA90-0F4D-CB41-86BF-F81D8D3B1163}"/>
              </a:ext>
            </a:extLst>
          </p:cNvPr>
          <p:cNvSpPr>
            <a:spLocks noGrp="1"/>
          </p:cNvSpPr>
          <p:nvPr>
            <p:ph type="body" sz="quarter" idx="10"/>
          </p:nvPr>
        </p:nvSpPr>
        <p:spPr>
          <a:xfrm>
            <a:off x="353218" y="171450"/>
            <a:ext cx="11495882" cy="623248"/>
          </a:xfrm>
        </p:spPr>
        <p:txBody>
          <a:bodyPr>
            <a:normAutofit lnSpcReduction="10000"/>
          </a:bodyPr>
          <a:lstStyle/>
          <a:p>
            <a:pPr marL="0" indent="0" algn="ctr">
              <a:buNone/>
            </a:pPr>
            <a:r>
              <a:rPr lang="en-US" dirty="0"/>
              <a:t>References</a:t>
            </a:r>
          </a:p>
        </p:txBody>
      </p:sp>
      <p:sp>
        <p:nvSpPr>
          <p:cNvPr id="8" name="Text Placeholder 7">
            <a:extLst>
              <a:ext uri="{FF2B5EF4-FFF2-40B4-BE49-F238E27FC236}">
                <a16:creationId xmlns:a16="http://schemas.microsoft.com/office/drawing/2014/main" id="{20B1B14A-2887-9641-A05C-93AC63DCB4F5}"/>
              </a:ext>
            </a:extLst>
          </p:cNvPr>
          <p:cNvSpPr>
            <a:spLocks noGrp="1"/>
          </p:cNvSpPr>
          <p:nvPr>
            <p:ph type="body" sz="quarter" idx="12"/>
          </p:nvPr>
        </p:nvSpPr>
        <p:spPr>
          <a:xfrm>
            <a:off x="358823" y="1200150"/>
            <a:ext cx="11495882" cy="4154984"/>
          </a:xfrm>
        </p:spPr>
        <p:txBody>
          <a:bodyPr>
            <a:normAutofit fontScale="92500" lnSpcReduction="10000"/>
          </a:bodyPr>
          <a:lstStyle/>
          <a:p>
            <a:pPr marL="557213" indent="-557213">
              <a:buFont typeface="+mj-lt"/>
              <a:buAutoNum type="arabicPeriod"/>
            </a:pPr>
            <a:r>
              <a:rPr lang="en-US" sz="2700" dirty="0"/>
              <a:t>MongoDB book, chapters 2, 3, 4</a:t>
            </a:r>
            <a:endParaRPr lang="en-US" sz="2700" dirty="0">
              <a:hlinkClick r:id="" action="ppaction://noaction"/>
            </a:endParaRPr>
          </a:p>
          <a:p>
            <a:pPr marL="557213" indent="-557213">
              <a:buFont typeface="+mj-lt"/>
              <a:buAutoNum type="arabicPeriod"/>
            </a:pPr>
            <a:r>
              <a:rPr lang="en-US" sz="2700" dirty="0">
                <a:hlinkClick r:id="rId2"/>
              </a:rPr>
              <a:t>https://www.mongodb.com/docs/manual/reference/operator/query/type/#std-label-document-type-available-types</a:t>
            </a:r>
            <a:endParaRPr lang="en-US" sz="2700" dirty="0"/>
          </a:p>
          <a:p>
            <a:pPr marL="557213" indent="-557213">
              <a:buFont typeface="+mj-lt"/>
              <a:buAutoNum type="arabicPeriod"/>
            </a:pPr>
            <a:r>
              <a:rPr lang="en-US" sz="2700" dirty="0">
                <a:hlinkClick r:id="rId3"/>
              </a:rPr>
              <a:t>https://www.mongodb.com/docs/mongodb-shell/reference/data-types/</a:t>
            </a:r>
            <a:endParaRPr lang="en-US" sz="2700" dirty="0">
              <a:hlinkClick r:id="" action="ppaction://noaction"/>
            </a:endParaRPr>
          </a:p>
          <a:p>
            <a:pPr marL="557213" indent="-557213">
              <a:buFont typeface="+mj-lt"/>
              <a:buAutoNum type="arabicPeriod"/>
            </a:pPr>
            <a:r>
              <a:rPr lang="en-US" sz="2700" dirty="0">
                <a:hlinkClick r:id="" action="ppaction://noaction"/>
              </a:rPr>
              <a:t>https://www.mongodb.com/docs/manual/reference/method/db.collection.insertOne/#mongodb-method-db.collection.insertOne</a:t>
            </a:r>
          </a:p>
          <a:p>
            <a:pPr marL="557213" indent="-557213">
              <a:buFont typeface="+mj-lt"/>
              <a:buAutoNum type="arabicPeriod"/>
            </a:pPr>
            <a:r>
              <a:rPr lang="en-US" sz="2700" dirty="0">
                <a:hlinkClick r:id="rId4"/>
              </a:rPr>
              <a:t>https://www.mongodb.com/docs/manual/reference/method/db.collection.insertMany/</a:t>
            </a:r>
            <a:endParaRPr lang="en-US" sz="2700" dirty="0"/>
          </a:p>
          <a:p>
            <a:pPr marL="557213" indent="-557213">
              <a:buFont typeface="+mj-lt"/>
              <a:buAutoNum type="arabicPeriod"/>
            </a:pPr>
            <a:r>
              <a:rPr lang="en-US" sz="2700" dirty="0">
                <a:hlinkClick r:id="rId5"/>
              </a:rPr>
              <a:t>https://www.mongodb.com/docs/manual/reference/method/db.collection.find/</a:t>
            </a:r>
            <a:endParaRPr lang="en-US" sz="2700" dirty="0"/>
          </a:p>
          <a:p>
            <a:pPr marL="557213" indent="-557213">
              <a:buFont typeface="+mj-lt"/>
              <a:buAutoNum type="arabicPeriod"/>
            </a:pPr>
            <a:r>
              <a:rPr lang="en-US" sz="2800" dirty="0">
                <a:hlinkClick r:id="rId6"/>
              </a:rPr>
              <a:t>https://www.mongodb.com/docs/manual/core/schema-validation/</a:t>
            </a:r>
            <a:endParaRPr lang="en-US" sz="2800" dirty="0"/>
          </a:p>
          <a:p>
            <a:pPr marL="557213" indent="-557213">
              <a:buFont typeface="+mj-lt"/>
              <a:buAutoNum type="arabicPeriod"/>
            </a:pPr>
            <a:endParaRPr lang="en-US" sz="2700" dirty="0"/>
          </a:p>
        </p:txBody>
      </p:sp>
    </p:spTree>
    <p:extLst>
      <p:ext uri="{BB962C8B-B14F-4D97-AF65-F5344CB8AC3E}">
        <p14:creationId xmlns:p14="http://schemas.microsoft.com/office/powerpoint/2010/main" val="29362912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537A55-3B0D-AD39-CF3D-8CEE9ED2605A}"/>
              </a:ext>
            </a:extLst>
          </p:cNvPr>
          <p:cNvSpPr>
            <a:spLocks noGrp="1"/>
          </p:cNvSpPr>
          <p:nvPr>
            <p:ph type="body" sz="quarter" idx="10"/>
          </p:nvPr>
        </p:nvSpPr>
        <p:spPr/>
        <p:txBody>
          <a:bodyPr/>
          <a:lstStyle/>
          <a:p>
            <a:endParaRPr lang="en-CA"/>
          </a:p>
        </p:txBody>
      </p:sp>
      <p:sp>
        <p:nvSpPr>
          <p:cNvPr id="3" name="Text Placeholder 2">
            <a:extLst>
              <a:ext uri="{FF2B5EF4-FFF2-40B4-BE49-F238E27FC236}">
                <a16:creationId xmlns:a16="http://schemas.microsoft.com/office/drawing/2014/main" id="{1C75F5FA-4CA7-2EC0-D4EA-3EB456A3FD7B}"/>
              </a:ext>
            </a:extLst>
          </p:cNvPr>
          <p:cNvSpPr>
            <a:spLocks noGrp="1"/>
          </p:cNvSpPr>
          <p:nvPr>
            <p:ph type="body" sz="quarter" idx="11"/>
          </p:nvPr>
        </p:nvSpPr>
        <p:spPr/>
        <p:txBody>
          <a:bodyPr/>
          <a:lstStyle/>
          <a:p>
            <a:endParaRPr lang="en-CA"/>
          </a:p>
        </p:txBody>
      </p:sp>
      <p:sp>
        <p:nvSpPr>
          <p:cNvPr id="4" name="Text Placeholder 3">
            <a:extLst>
              <a:ext uri="{FF2B5EF4-FFF2-40B4-BE49-F238E27FC236}">
                <a16:creationId xmlns:a16="http://schemas.microsoft.com/office/drawing/2014/main" id="{49F8C670-69ED-D630-7F6E-3A46EA967042}"/>
              </a:ext>
            </a:extLst>
          </p:cNvPr>
          <p:cNvSpPr>
            <a:spLocks noGrp="1"/>
          </p:cNvSpPr>
          <p:nvPr>
            <p:ph type="body" sz="quarter" idx="12"/>
          </p:nvPr>
        </p:nvSpPr>
        <p:spPr/>
        <p:txBody>
          <a:bodyPr/>
          <a:lstStyle/>
          <a:p>
            <a:endParaRPr lang="en-CA"/>
          </a:p>
        </p:txBody>
      </p:sp>
      <p:sp>
        <p:nvSpPr>
          <p:cNvPr id="5" name="Picture Placeholder 4">
            <a:extLst>
              <a:ext uri="{FF2B5EF4-FFF2-40B4-BE49-F238E27FC236}">
                <a16:creationId xmlns:a16="http://schemas.microsoft.com/office/drawing/2014/main" id="{47BD9D45-0F50-6DC9-9AF2-CC774E7E6F15}"/>
              </a:ext>
            </a:extLst>
          </p:cNvPr>
          <p:cNvSpPr>
            <a:spLocks noGrp="1"/>
          </p:cNvSpPr>
          <p:nvPr>
            <p:ph type="pic" sz="quarter" idx="13"/>
          </p:nvPr>
        </p:nvSpPr>
        <p:spPr/>
        <p:txBody>
          <a:bodyPr/>
          <a:lstStyle/>
          <a:p>
            <a:endParaRPr lang="en-CA"/>
          </a:p>
        </p:txBody>
      </p:sp>
    </p:spTree>
    <p:extLst>
      <p:ext uri="{BB962C8B-B14F-4D97-AF65-F5344CB8AC3E}">
        <p14:creationId xmlns:p14="http://schemas.microsoft.com/office/powerpoint/2010/main" val="21555986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2075</TotalTime>
  <Words>3137</Words>
  <Application>Microsoft Office PowerPoint</Application>
  <PresentationFormat>Widescreen</PresentationFormat>
  <Paragraphs>330</Paragraphs>
  <Slides>32</Slides>
  <Notes>20</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32</vt:i4>
      </vt:variant>
    </vt:vector>
  </HeadingPairs>
  <TitlesOfParts>
    <vt:vector size="50" baseType="lpstr">
      <vt:lpstr>Akzidenz Grotesk BQ Light</vt:lpstr>
      <vt:lpstr>Arial Unicode MS</vt:lpstr>
      <vt:lpstr>erdana</vt:lpstr>
      <vt:lpstr>Euclid Circular A</vt:lpstr>
      <vt:lpstr>inter-bold</vt:lpstr>
      <vt:lpstr>inter-regular</vt:lpstr>
      <vt:lpstr>Menlo</vt:lpstr>
      <vt:lpstr>Söhne</vt:lpstr>
      <vt:lpstr>var(--font-family-code)</vt:lpstr>
      <vt:lpstr>Arial</vt:lpstr>
      <vt:lpstr>Calibri</vt:lpstr>
      <vt:lpstr>Calibri Light</vt:lpstr>
      <vt:lpstr>Cambria</vt:lpstr>
      <vt:lpstr>Consolas</vt:lpstr>
      <vt:lpstr>Segoe UI</vt:lpstr>
      <vt:lpstr>Verdana</vt:lpstr>
      <vt:lpstr>Wingdings</vt:lpstr>
      <vt:lpstr>Office Theme</vt:lpstr>
      <vt:lpstr>CDBM603 - Enterprise Data Architecture</vt:lpstr>
      <vt:lpstr>Todays 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CDBM603 - Enterprise Data Architecture</dc:title>
  <dc:creator>Muktadir, Abu Hena Al</dc:creator>
  <cp:lastModifiedBy>Guo, Hongyu</cp:lastModifiedBy>
  <cp:revision>23</cp:revision>
  <dcterms:created xsi:type="dcterms:W3CDTF">2023-02-28T16:32:18Z</dcterms:created>
  <dcterms:modified xsi:type="dcterms:W3CDTF">2023-10-24T21:07:00Z</dcterms:modified>
</cp:coreProperties>
</file>